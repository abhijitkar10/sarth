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auditable ensemble of three pretrained model families for the RSNA 2026 knee MRI challenge on Kaggle, plus our own experiment layer (ABG), a simulation study and a verification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structure: introduction, problem, method, experiments, results,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abstract in one breath: ensemble of pretrained components, our ABG experiment layer, the two graded scores (parent 0.940, ABG 0.922), and the simulation study that probes why the additions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from the RSNA announcement: MRI gives a whole-joint view, readers disagree and specialists are scarce, and this is the first musculoskeletal challenge that pairs images with multilingual reports. Training set: more than 5,000 exams from 16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findings in five groups. The leaderboard metric is the unweighted mean of the 12 per-finding AUCs, so only ranking quality matters. Kaggle constraints: two Tesla T4 GPUs, no internet, an 8-hour hard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split. The pretrained models and their inference code are public releases by other authors, credited on the references slide. Our contribution is the ABG experiment layer, the experiment protocol fixed in advance, and the verification checks and hashed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input study, preprocessing into six slots, three encoder families (DINO transformers, RadImageNet CNN, CoAtNet hybrid), fusion, twelve scores. The next slides zoom into each part. Note that stage 4 is a schematic: in the implementation the final combination is rank blending and no new network is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is driven by DICOM headers. Each series is placed into one of six slots (three planes, fat-suppressed or structural). Right knees are flipped so every knee has the same orientation, then the knee is cropped, resized and a window of slices is selected. Missing slots are masked rather than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 released ensemble members use DINOv2-small backbones; the five A5 folds use DINOv3 ViT-S/16. Slices become patches, self-attention finds the informative regions, and a slot head lets each of the 12 findings attend over the six view slots. The A5 folds are blended in at a fixed 0.45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RadImageNet ResNet-50 pretrained on radiology images feeds several head families and a frozen calibrator. Right: the CoAtNet hybrid combines convolution blocks with self-attention over four views; a residual CoAtNet and brightness averaging (the intensity gain views 0.9, 1.0, 1.1 highlighted in the figure) refine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branches are fused by percentile rank, so no single model's scale dominates. Highlight 1: the five A5 folds enter the DINO blend at weight 0.45. Highlight 2: CoAtNet carries 60 percent of each final score, and 100 percent for the lateral meniscus. Stage 4 of the figure is schematic: we blend ranks and train no new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and B add small rank residuals after the frozen calibrator: A from five native E11 heads, B from an alternate RadImageNet head family. G averages each CoAtNet arm over three brightness gains with weights 1/6, 4/6 and 1/6. None of them trains anything new, the scales are inherited rather than fitted, and the experiment was fixed before any score was seen. The formulas are in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run is a full Kaggle notebook execution: two T4 GPUs, no internet, graded on a hidden test set. The checks below come from the notebook run on the three visible test studies: GPU preflight, DINO weight fingerprints, shape and ID checks at every stage, the four Raptor arms, the exact gain reconstruction, and a hashed final file. They validate the run, not the 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on synthetic data, not RSNA data. Each model score is a signal plus Gaussian noise with a chosen correlation between models. Left: macro AUC against ensemble size; going from 10 to 20 members adds only 0.002. Right: blending three families gains most when their errors are weakly correlated and can lose when they are strongly correlated. All parameters are assumed; the script is in the project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on synthetic data: a toy replica of our fusion graph with the DINO ensemble, the A5 folds, the Rad head, the Raptor arm and the residual CoAtNet. Each configuration is compared with the parent on the same simulated data. Bars show the case where the added heads are as good as the ones they are compared with; whiskers show heads 0.03 AUC worse or 0.02 AUC better. Every combination moves the score by thousandths. The real ABG result on Kaggle, minus 0.018, lies far outside this range; in the toy model it would take added heads about 0.15 AUC worse to lose that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evaluated on frozen evaluation packages and retired because they failed gates that were set in advance. OrthoDiffusion gave positive point gains for ACL but its bootstrap confidence was 0.677 against a required 0.80, and it was negative for MCL and the menisci. Anchor-bilinear gave a gain worth about 0.00008 on the macro score. The LCSE residual was negative and failed all six gates, so no submission was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parent submission (the V17 recipe) scored 0.940 and our ABG submission scored 0.922 on the public leaderboard, a difference of minus 0.018. For context, a Kaggle forum thread from mid-August quoted about 0.92 for shared public notebooks and about 0.951 for the top public score; those two figures are old and the leaderboard has moved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result: ABG scored below our parent, so as a whole it did not help. The three additions were graded together, so the cause is not isolated. The simulation says design noise alone should cost thousandths; losing 0.018 would need the added heads to be far worse than the ones they replace. The limits on the right are standard: nothing was trained, there is no held-out validation, and the outputs are rank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and four directions for future work. The competition closes on 22 October 2026 according to RSNA; winners are announced in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every component. Our contribution is the ABG layer, the experiment protocol, the simulation study and the verification receipts; the pretrained components and the parent recipe come from the authors listed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Keep the pipeline overview (slide 7) and the ablation slides (14 and 15) handy for follow-ups; the appendix has the exact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the exact additions. Ranks are percentile ranks; T is the DINO/A5/Rad branch after the frozen calibrator and H is the CoAtNet hybrid.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resolution and slice windows per model family, taken from the notebook configuration and run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Supplementary simulation: left, how the change in macro AUC depends on the residual scale for added heads that are worse, equal or better; right, gain averaging with 1:4:1 versus equal weights when off-centre views are as good or 5 percent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rtlCol="0"/>
          <a:lstStyle>
            <a:lvl1pPr algn="l" indent="0" marL="0">
              <a:buNone/>
              <a:defRPr lang="en-US" sz="3400" b="1" dirty="0">
                <a:solidFill>
                  <a:srgbClr val="0F2740"/>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RSNA Knee Abnormality Detection  ·  Mid-Semester Evaluation</a:t>
            </a:r>
            <a:endParaRPr lang="en-US" sz="10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566928"/>
          </a:xfrm>
          <a:prstGeom prst="rect">
            <a:avLst/>
          </a:prstGeom>
          <a:noFill/>
          <a:ln/>
        </p:spPr>
        <p:txBody>
          <a:bodyPr wrap="square" rtlCol="0"/>
          <a:lstStyle>
            <a:lvl1pPr algn="l" indent="0" marL="0">
              <a:buNone/>
              <a:defRPr lang="en-US" sz="3000" b="1" dirty="0">
                <a:solidFill>
                  <a:srgbClr val="0F2740"/>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72800" y="6510528"/>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F274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rtlCol="0"/>
          <a:lstStyle>
            <a:lvl1pPr algn="l" indent="0" marL="0">
              <a:buNone/>
              <a:defRPr lang="en-US" sz="3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rgbClr val="9FB3C6"/>
                </a:solidFill>
                <a:latin typeface="Calibri" pitchFamily="34" charset="0"/>
                <a:ea typeface="Calibri" pitchFamily="34" charset="-122"/>
                <a:cs typeface="Calibri" pitchFamily="34" charset="-120"/>
              </a:rPr>
              <a:t>RSNA Knee Abnormality Detection  ·  Mid-Semester Evaluation</a:t>
            </a:r>
            <a:endParaRPr lang="en-US" sz="10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FB3C6"/>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bg>
      <p:bgPr>
        <a:solidFill>
          <a:srgbClr val="0F274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675120" cy="2240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4389120"/>
            <a:ext cx="6675120" cy="1005840"/>
          </a:xfrm>
          <a:prstGeom prst="rect">
            <a:avLst/>
          </a:prstGeom>
          <a:noFill/>
          <a:ln/>
        </p:spPr>
        <p:txBody>
          <a:bodyPr wrap="square" rtlCol="0"/>
          <a:lstStyle>
            <a:lvl1pPr algn="l" indent="0" marL="0">
              <a:buNone/>
              <a:defRPr lang="en-US" sz="2200" dirty="0">
                <a:solidFill>
                  <a:srgbClr val="D5E3F0"/>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E">
    <p:bg>
      <p:bgPr>
        <a:solidFill>
          <a:srgbClr val="0F274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675120" cy="1005840"/>
          </a:xfrm>
          <a:prstGeom prst="rect">
            <a:avLst/>
          </a:prstGeom>
          <a:noFill/>
          <a:ln/>
        </p:spPr>
        <p:txBody>
          <a:bodyPr wrap="square" rtlCol="0"/>
          <a:lstStyle>
            <a:lvl1pPr algn="l" indent="0" marL="0">
              <a:buNone/>
              <a:defRPr lang="en-US" sz="5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731520" y="3291840"/>
            <a:ext cx="6675120" cy="1097280"/>
          </a:xfrm>
          <a:prstGeom prst="rect">
            <a:avLst/>
          </a:prstGeom>
          <a:noFill/>
          <a:ln/>
        </p:spPr>
        <p:txBody>
          <a:bodyPr wrap="square" rtlCol="0"/>
          <a:lstStyle>
            <a:lvl1pPr algn="l" indent="0" marL="0">
              <a:buNone/>
              <a:defRPr lang="en-US" sz="2200" dirty="0">
                <a:solidFill>
                  <a:srgbClr val="D5E3F0"/>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2.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6.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hev-1"/>
          <p:cNvSpPr/>
          <p:nvPr/>
        </p:nvSpPr>
        <p:spPr>
          <a:xfrm>
            <a:off x="731520" y="1536192"/>
            <a:ext cx="155448" cy="228600"/>
          </a:xfrm>
          <a:prstGeom prst="chevron">
            <a:avLst/>
          </a:prstGeom>
          <a:solidFill>
            <a:srgbClr val="E0690C"/>
          </a:solidFill>
          <a:ln/>
        </p:spPr>
      </p:sp>
      <p:sp>
        <p:nvSpPr>
          <p:cNvPr id="3" name="text-2"/>
          <p:cNvSpPr txBox="1"/>
          <p:nvPr/>
        </p:nvSpPr>
        <p:spPr>
          <a:xfrm>
            <a:off x="1005840" y="1517904"/>
            <a:ext cx="6400800" cy="274320"/>
          </a:xfrm>
          <a:prstGeom prst="rect">
            <a:avLst/>
          </a:prstGeom>
          <a:noFill/>
          <a:ln/>
        </p:spPr>
        <p:txBody>
          <a:bodyPr wrap="square" lIns="0" tIns="0" rIns="0" bIns="0" rtlCol="0" anchor="t"/>
          <a:lstStyle/>
          <a:p>
            <a:pPr algn="l" indent="0" marL="0">
              <a:buNone/>
            </a:pPr>
            <a:r>
              <a:rPr lang="en-US" sz="1300" b="1" spc="300" kern="0" dirty="0">
                <a:solidFill>
                  <a:srgbClr val="A9C4DD"/>
                </a:solidFill>
                <a:latin typeface="Calibri" pitchFamily="34" charset="0"/>
                <a:ea typeface="Calibri" pitchFamily="34" charset="-122"/>
                <a:cs typeface="Calibri" pitchFamily="34" charset="-120"/>
              </a:rPr>
              <a:t>MAJOR PROJECT  ·  MID-SEMESTER EVALUATION</a:t>
            </a:r>
            <a:endParaRPr lang="en-US" sz="1300" dirty="0"/>
          </a:p>
        </p:txBody>
      </p:sp>
      <p:sp>
        <p:nvSpPr>
          <p:cNvPr id="4" name="Text 0"/>
          <p:cNvSpPr/>
          <p:nvPr>
            <p:ph idx="100" type="title" hasCustomPrompt="1"/>
          </p:nvPr>
        </p:nvSpPr>
        <p:spPr>
          <a:xfrm>
            <a:off x="731520" y="1920240"/>
            <a:ext cx="6675120" cy="224028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Auditable Multi-Model Ensemble for Knee MRI Abnormality Detection</a:t>
            </a:r>
            <a:endParaRPr lang="en-US" sz="4000" dirty="0"/>
          </a:p>
        </p:txBody>
      </p:sp>
      <p:sp>
        <p:nvSpPr>
          <p:cNvPr id="5" name="Text 0"/>
          <p:cNvSpPr/>
          <p:nvPr>
            <p:ph idx="101" type="body" hasCustomPrompt="1"/>
          </p:nvPr>
        </p:nvSpPr>
        <p:spPr>
          <a:xfrm>
            <a:off x="731520" y="4389120"/>
            <a:ext cx="6675120" cy="1005840"/>
          </a:xfrm>
          <a:prstGeom prst="rect">
            <a:avLst/>
          </a:prstGeom>
          <a:noFill/>
          <a:ln/>
        </p:spPr>
        <p:txBody>
          <a:bodyPr wrap="square" lIns="0" tIns="0" rIns="0" bIns="0" rtlCol="0" anchor="t"/>
          <a:lstStyle/>
          <a:p>
            <a:pPr algn="l" indent="0" marL="0">
              <a:buNone/>
            </a:pPr>
            <a:r>
              <a:rPr lang="en-US" sz="2200" dirty="0">
                <a:solidFill>
                  <a:srgbClr val="D5E3F0"/>
                </a:solidFill>
                <a:latin typeface="Calibri" pitchFamily="34" charset="0"/>
                <a:ea typeface="Calibri" pitchFamily="34" charset="-122"/>
                <a:cs typeface="Calibri" pitchFamily="34" charset="-120"/>
              </a:rPr>
              <a:t>RSNA 2026 Knee Abnormality Detection AI Challenge</a:t>
            </a:r>
            <a:endParaRPr lang="en-US" sz="2200" dirty="0"/>
          </a:p>
          <a:p>
            <a:pPr algn="l" indent="0" marL="0">
              <a:buNone/>
            </a:pPr>
            <a:r>
              <a:rPr lang="en-US" sz="1600" dirty="0">
                <a:solidFill>
                  <a:srgbClr val="A9C4DD"/>
                </a:solidFill>
                <a:latin typeface="Calibri" pitchFamily="34" charset="0"/>
                <a:ea typeface="Calibri" pitchFamily="34" charset="-122"/>
                <a:cs typeface="Calibri" pitchFamily="34" charset="-120"/>
              </a:rPr>
              <a:t>October 2026</a:t>
            </a:r>
            <a:endParaRPr lang="en-US" sz="2200" dirty="0"/>
          </a:p>
        </p:txBody>
      </p:sp>
      <p:pic>
        <p:nvPicPr>
          <p:cNvPr id="6" name="img-3" descr="Sagittal knee MRI slice">    </p:cNvPr>
          <p:cNvPicPr>
            <a:picLocks noChangeAspect="1"/>
          </p:cNvPicPr>
          <p:nvPr/>
        </p:nvPicPr>
        <p:blipFill>
          <a:blip r:embed="rId1"/>
          <a:stretch>
            <a:fillRect/>
          </a:stretch>
        </p:blipFill>
        <p:spPr>
          <a:xfrm>
            <a:off x="7909560" y="1371600"/>
            <a:ext cx="3611880" cy="3787458"/>
          </a:xfrm>
          <a:prstGeom prst="rect">
            <a:avLst/>
          </a:prstGeom>
        </p:spPr>
      </p:pic>
      <p:sp>
        <p:nvSpPr>
          <p:cNvPr id="7" name="pill-4"/>
          <p:cNvSpPr/>
          <p:nvPr/>
        </p:nvSpPr>
        <p:spPr>
          <a:xfrm>
            <a:off x="7818120" y="5285232"/>
            <a:ext cx="1188720" cy="384048"/>
          </a:xfrm>
          <a:prstGeom prst="roundRect">
            <a:avLst>
              <a:gd name="adj" fmla="val 47619"/>
            </a:avLst>
          </a:prstGeom>
          <a:solidFill>
            <a:srgbClr val="2B7BC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DINO</a:t>
            </a:r>
            <a:endParaRPr lang="en-US" sz="1400" dirty="0"/>
          </a:p>
        </p:txBody>
      </p:sp>
      <p:sp>
        <p:nvSpPr>
          <p:cNvPr id="8" name="pill-5"/>
          <p:cNvSpPr/>
          <p:nvPr/>
        </p:nvSpPr>
        <p:spPr>
          <a:xfrm>
            <a:off x="9079992" y="5285232"/>
            <a:ext cx="1188720" cy="384048"/>
          </a:xfrm>
          <a:prstGeom prst="roundRect">
            <a:avLst>
              <a:gd name="adj" fmla="val 47619"/>
            </a:avLst>
          </a:prstGeom>
          <a:solidFill>
            <a:srgbClr val="2E9E6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RadImageNet</a:t>
            </a:r>
            <a:endParaRPr lang="en-US" sz="1400" dirty="0"/>
          </a:p>
        </p:txBody>
      </p:sp>
      <p:sp>
        <p:nvSpPr>
          <p:cNvPr id="9" name="pill-6"/>
          <p:cNvSpPr/>
          <p:nvPr/>
        </p:nvSpPr>
        <p:spPr>
          <a:xfrm>
            <a:off x="10341864" y="5285232"/>
            <a:ext cx="1188720" cy="384048"/>
          </a:xfrm>
          <a:prstGeom prst="roundRect">
            <a:avLst>
              <a:gd name="adj" fmla="val 47619"/>
            </a:avLst>
          </a:prstGeom>
          <a:solidFill>
            <a:srgbClr val="A24B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CoAtNet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Outline</a:t>
            </a:r>
            <a:endParaRPr lang="en-US" sz="3400" dirty="0"/>
          </a:p>
        </p:txBody>
      </p:sp>
      <p:sp>
        <p:nvSpPr>
          <p:cNvPr id="3" name="chev-7"/>
          <p:cNvSpPr/>
          <p:nvPr/>
        </p:nvSpPr>
        <p:spPr>
          <a:xfrm>
            <a:off x="548640" y="246888"/>
            <a:ext cx="137160" cy="201168"/>
          </a:xfrm>
          <a:prstGeom prst="chevron">
            <a:avLst/>
          </a:prstGeom>
          <a:solidFill>
            <a:srgbClr val="E0690C"/>
          </a:solidFill>
          <a:ln/>
        </p:spPr>
      </p:sp>
      <p:sp>
        <p:nvSpPr>
          <p:cNvPr id="4" name="text-8"/>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OVERVIEW</a:t>
            </a:r>
            <a:endParaRPr lang="en-US" sz="1200" dirty="0"/>
          </a:p>
        </p:txBody>
      </p:sp>
      <p:sp>
        <p:nvSpPr>
          <p:cNvPr id="6" name="chev-9"/>
          <p:cNvSpPr/>
          <p:nvPr/>
        </p:nvSpPr>
        <p:spPr>
          <a:xfrm>
            <a:off x="548640" y="2148840"/>
            <a:ext cx="1965960" cy="1005840"/>
          </a:xfrm>
          <a:prstGeom prst="chevron">
            <a:avLst/>
          </a:prstGeom>
          <a:solidFill>
            <a:srgbClr val="0F2740"/>
          </a:solid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01</a:t>
            </a:r>
            <a:endParaRPr lang="en-US" sz="2800" dirty="0"/>
          </a:p>
        </p:txBody>
      </p:sp>
      <p:sp>
        <p:nvSpPr>
          <p:cNvPr id="7" name="text-10"/>
          <p:cNvSpPr txBox="1"/>
          <p:nvPr/>
        </p:nvSpPr>
        <p:spPr>
          <a:xfrm>
            <a:off x="621792" y="3429000"/>
            <a:ext cx="173736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Introduction</a:t>
            </a:r>
            <a:endParaRPr lang="en-US" sz="2000" dirty="0"/>
          </a:p>
        </p:txBody>
      </p:sp>
      <p:sp>
        <p:nvSpPr>
          <p:cNvPr id="8" name="text-11"/>
          <p:cNvSpPr txBox="1"/>
          <p:nvPr/>
        </p:nvSpPr>
        <p:spPr>
          <a:xfrm>
            <a:off x="621792" y="3840480"/>
            <a:ext cx="1645920" cy="8229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Why knee MRI, why this challenge</a:t>
            </a:r>
            <a:endParaRPr lang="en-US" sz="1500" dirty="0"/>
          </a:p>
        </p:txBody>
      </p:sp>
      <p:sp>
        <p:nvSpPr>
          <p:cNvPr id="9" name="chev-12"/>
          <p:cNvSpPr/>
          <p:nvPr/>
        </p:nvSpPr>
        <p:spPr>
          <a:xfrm>
            <a:off x="2377440" y="2148840"/>
            <a:ext cx="1965960" cy="1005840"/>
          </a:xfrm>
          <a:prstGeom prst="chevron">
            <a:avLst/>
          </a:prstGeom>
          <a:solidFill>
            <a:srgbClr val="15395A"/>
          </a:solid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02</a:t>
            </a:r>
            <a:endParaRPr lang="en-US" sz="2800" dirty="0"/>
          </a:p>
        </p:txBody>
      </p:sp>
      <p:sp>
        <p:nvSpPr>
          <p:cNvPr id="10" name="text-13"/>
          <p:cNvSpPr txBox="1"/>
          <p:nvPr/>
        </p:nvSpPr>
        <p:spPr>
          <a:xfrm>
            <a:off x="2450592" y="3429000"/>
            <a:ext cx="173736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Problem</a:t>
            </a:r>
            <a:endParaRPr lang="en-US" sz="2000" dirty="0"/>
          </a:p>
        </p:txBody>
      </p:sp>
      <p:sp>
        <p:nvSpPr>
          <p:cNvPr id="11" name="text-14"/>
          <p:cNvSpPr txBox="1"/>
          <p:nvPr/>
        </p:nvSpPr>
        <p:spPr>
          <a:xfrm>
            <a:off x="2450592" y="3840480"/>
            <a:ext cx="1645920" cy="8229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12 findings, one score, tight limits</a:t>
            </a:r>
            <a:endParaRPr lang="en-US" sz="1500" dirty="0"/>
          </a:p>
        </p:txBody>
      </p:sp>
      <p:sp>
        <p:nvSpPr>
          <p:cNvPr id="12" name="chev-15"/>
          <p:cNvSpPr/>
          <p:nvPr/>
        </p:nvSpPr>
        <p:spPr>
          <a:xfrm>
            <a:off x="4206240" y="2148840"/>
            <a:ext cx="1965960" cy="1005840"/>
          </a:xfrm>
          <a:prstGeom prst="chevron">
            <a:avLst/>
          </a:prstGeom>
          <a:solidFill>
            <a:srgbClr val="1B4C75"/>
          </a:solid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03</a:t>
            </a:r>
            <a:endParaRPr lang="en-US" sz="2800" dirty="0"/>
          </a:p>
        </p:txBody>
      </p:sp>
      <p:sp>
        <p:nvSpPr>
          <p:cNvPr id="13" name="text-16"/>
          <p:cNvSpPr txBox="1"/>
          <p:nvPr/>
        </p:nvSpPr>
        <p:spPr>
          <a:xfrm>
            <a:off x="4279392" y="3429000"/>
            <a:ext cx="173736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Method</a:t>
            </a:r>
            <a:endParaRPr lang="en-US" sz="2000" dirty="0"/>
          </a:p>
        </p:txBody>
      </p:sp>
      <p:sp>
        <p:nvSpPr>
          <p:cNvPr id="14" name="text-17"/>
          <p:cNvSpPr txBox="1"/>
          <p:nvPr/>
        </p:nvSpPr>
        <p:spPr>
          <a:xfrm>
            <a:off x="4279392" y="3840480"/>
            <a:ext cx="1645920" cy="8229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Architecture, branches, fusion</a:t>
            </a:r>
            <a:endParaRPr lang="en-US" sz="1500" dirty="0"/>
          </a:p>
        </p:txBody>
      </p:sp>
      <p:sp>
        <p:nvSpPr>
          <p:cNvPr id="15" name="chev-18"/>
          <p:cNvSpPr/>
          <p:nvPr/>
        </p:nvSpPr>
        <p:spPr>
          <a:xfrm>
            <a:off x="6035040" y="2148840"/>
            <a:ext cx="1965960" cy="1005840"/>
          </a:xfrm>
          <a:prstGeom prst="chevron">
            <a:avLst/>
          </a:prstGeom>
          <a:solidFill>
            <a:srgbClr val="22608F"/>
          </a:solid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04</a:t>
            </a:r>
            <a:endParaRPr lang="en-US" sz="2800" dirty="0"/>
          </a:p>
        </p:txBody>
      </p:sp>
      <p:sp>
        <p:nvSpPr>
          <p:cNvPr id="16" name="text-19"/>
          <p:cNvSpPr txBox="1"/>
          <p:nvPr/>
        </p:nvSpPr>
        <p:spPr>
          <a:xfrm>
            <a:off x="6108192" y="3429000"/>
            <a:ext cx="173736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Experiments</a:t>
            </a:r>
            <a:endParaRPr lang="en-US" sz="2000" dirty="0"/>
          </a:p>
        </p:txBody>
      </p:sp>
      <p:sp>
        <p:nvSpPr>
          <p:cNvPr id="17" name="text-20"/>
          <p:cNvSpPr txBox="1"/>
          <p:nvPr/>
        </p:nvSpPr>
        <p:spPr>
          <a:xfrm>
            <a:off x="6108192" y="3840480"/>
            <a:ext cx="1645920" cy="8229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ABG layer, ablations, dropped ideas</a:t>
            </a:r>
            <a:endParaRPr lang="en-US" sz="1500" dirty="0"/>
          </a:p>
        </p:txBody>
      </p:sp>
      <p:sp>
        <p:nvSpPr>
          <p:cNvPr id="18" name="chev-21"/>
          <p:cNvSpPr/>
          <p:nvPr/>
        </p:nvSpPr>
        <p:spPr>
          <a:xfrm>
            <a:off x="7863840" y="2148840"/>
            <a:ext cx="1965960" cy="1005840"/>
          </a:xfrm>
          <a:prstGeom prst="chevron">
            <a:avLst/>
          </a:prstGeom>
          <a:solidFill>
            <a:srgbClr val="2B7BC4"/>
          </a:solid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05</a:t>
            </a:r>
            <a:endParaRPr lang="en-US" sz="2800" dirty="0"/>
          </a:p>
        </p:txBody>
      </p:sp>
      <p:sp>
        <p:nvSpPr>
          <p:cNvPr id="19" name="text-22"/>
          <p:cNvSpPr txBox="1"/>
          <p:nvPr/>
        </p:nvSpPr>
        <p:spPr>
          <a:xfrm>
            <a:off x="7936992" y="3429000"/>
            <a:ext cx="173736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Results</a:t>
            </a:r>
            <a:endParaRPr lang="en-US" sz="2000" dirty="0"/>
          </a:p>
        </p:txBody>
      </p:sp>
      <p:sp>
        <p:nvSpPr>
          <p:cNvPr id="20" name="text-23"/>
          <p:cNvSpPr txBox="1"/>
          <p:nvPr/>
        </p:nvSpPr>
        <p:spPr>
          <a:xfrm>
            <a:off x="7936992" y="3840480"/>
            <a:ext cx="1645920" cy="8229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Leaderboard and lessons</a:t>
            </a:r>
            <a:endParaRPr lang="en-US" sz="1500" dirty="0"/>
          </a:p>
        </p:txBody>
      </p:sp>
      <p:sp>
        <p:nvSpPr>
          <p:cNvPr id="21" name="chev-24"/>
          <p:cNvSpPr/>
          <p:nvPr/>
        </p:nvSpPr>
        <p:spPr>
          <a:xfrm>
            <a:off x="9692640" y="2148840"/>
            <a:ext cx="1965960" cy="1005840"/>
          </a:xfrm>
          <a:prstGeom prst="chevron">
            <a:avLst/>
          </a:prstGeom>
          <a:solidFill>
            <a:srgbClr val="3F90D6"/>
          </a:solid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06</a:t>
            </a:r>
            <a:endParaRPr lang="en-US" sz="2800" dirty="0"/>
          </a:p>
        </p:txBody>
      </p:sp>
      <p:sp>
        <p:nvSpPr>
          <p:cNvPr id="22" name="text-25"/>
          <p:cNvSpPr txBox="1"/>
          <p:nvPr/>
        </p:nvSpPr>
        <p:spPr>
          <a:xfrm>
            <a:off x="9765792" y="3429000"/>
            <a:ext cx="173736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Conclusion</a:t>
            </a:r>
            <a:endParaRPr lang="en-US" sz="2000" dirty="0"/>
          </a:p>
        </p:txBody>
      </p:sp>
      <p:sp>
        <p:nvSpPr>
          <p:cNvPr id="23" name="text-26"/>
          <p:cNvSpPr txBox="1"/>
          <p:nvPr/>
        </p:nvSpPr>
        <p:spPr>
          <a:xfrm>
            <a:off x="9765792" y="3840480"/>
            <a:ext cx="1645920" cy="8229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Takeaways and next steps</a:t>
            </a:r>
            <a:endParaRPr lang="en-US" sz="1500" dirty="0"/>
          </a:p>
        </p:txBody>
      </p:sp>
      <p:sp>
        <p:nvSpPr>
          <p:cNvPr id="24" name="text-27"/>
          <p:cNvSpPr txBox="1"/>
          <p:nvPr/>
        </p:nvSpPr>
        <p:spPr>
          <a:xfrm>
            <a:off x="548640" y="5669280"/>
            <a:ext cx="11094415" cy="36576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RSNA Knee Abnormality Detection AI Challenge 2026  ·  Kaggle code competition</a:t>
            </a:r>
            <a:endParaRPr lang="en-US" sz="16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Abstract</a:t>
            </a:r>
            <a:endParaRPr lang="en-US" sz="3400" dirty="0"/>
          </a:p>
        </p:txBody>
      </p:sp>
      <p:sp>
        <p:nvSpPr>
          <p:cNvPr id="3" name="chev-28"/>
          <p:cNvSpPr/>
          <p:nvPr/>
        </p:nvSpPr>
        <p:spPr>
          <a:xfrm>
            <a:off x="548640" y="246888"/>
            <a:ext cx="137160" cy="201168"/>
          </a:xfrm>
          <a:prstGeom prst="chevron">
            <a:avLst/>
          </a:prstGeom>
          <a:solidFill>
            <a:srgbClr val="E0690C"/>
          </a:solidFill>
          <a:ln/>
        </p:spPr>
      </p:sp>
      <p:sp>
        <p:nvSpPr>
          <p:cNvPr id="4" name="text-29"/>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INTRODUCTION</a:t>
            </a:r>
            <a:endParaRPr lang="en-US" sz="1200" dirty="0"/>
          </a:p>
        </p:txBody>
      </p:sp>
      <p:sp>
        <p:nvSpPr>
          <p:cNvPr id="6" name="text-30"/>
          <p:cNvSpPr txBox="1"/>
          <p:nvPr/>
        </p:nvSpPr>
        <p:spPr>
          <a:xfrm>
            <a:off x="548640" y="1554480"/>
            <a:ext cx="7086600" cy="4480560"/>
          </a:xfrm>
          <a:prstGeom prst="rect">
            <a:avLst/>
          </a:prstGeom>
          <a:noFill/>
          <a:ln/>
        </p:spPr>
        <p:txBody>
          <a:bodyPr wrap="square" lIns="0" tIns="0" rIns="0" bIns="0" rtlCol="0" anchor="t"/>
          <a:lstStyle/>
          <a:p>
            <a:pPr algn="l" indent="0" marL="0">
              <a:lnSpc>
                <a:spcPct val="112000"/>
              </a:lnSpc>
              <a:buNone/>
            </a:pPr>
            <a:r>
              <a:rPr lang="en-US" sz="2200" dirty="0">
                <a:solidFill>
                  <a:srgbClr val="14253A"/>
                </a:solidFill>
                <a:latin typeface="Calibri" pitchFamily="34" charset="0"/>
                <a:ea typeface="Calibri" pitchFamily="34" charset="-122"/>
                <a:cs typeface="Calibri" pitchFamily="34" charset="-120"/>
              </a:rPr>
              <a:t>Knee MRI interpretation varies between readers, and expert radiologists are scarce. The RSNA 2026 challenge asks for models that flag 12 abnormalities per exam, ranked by mean AUC. We assembled an ensemble of three pretrained model families (DINO transformers, a RadImageNet CNN and CoAtNet hybrids), fused by rank blending, and added ABG, a small experiment layer. Our parent pipeline scored 0.940 and ABG 0.922 on the public leaderboard; a simulation study probes why the additions did not help.</a:t>
            </a:r>
            <a:endParaRPr lang="en-US" sz="2200" dirty="0"/>
          </a:p>
        </p:txBody>
      </p:sp>
      <p:sp>
        <p:nvSpPr>
          <p:cNvPr id="7" name="card-31"/>
          <p:cNvSpPr/>
          <p:nvPr/>
        </p:nvSpPr>
        <p:spPr>
          <a:xfrm>
            <a:off x="8183880" y="1554480"/>
            <a:ext cx="3456432" cy="1371600"/>
          </a:xfrm>
          <a:prstGeom prst="roundRect">
            <a:avLst>
              <a:gd name="adj" fmla="val 9333"/>
            </a:avLst>
          </a:prstGeom>
          <a:solidFill>
            <a:srgbClr val="F2F6FA"/>
          </a:solidFill>
          <a:ln/>
        </p:spPr>
      </p:sp>
      <p:sp>
        <p:nvSpPr>
          <p:cNvPr id="8" name="text-32"/>
          <p:cNvSpPr txBox="1"/>
          <p:nvPr/>
        </p:nvSpPr>
        <p:spPr>
          <a:xfrm>
            <a:off x="8458200" y="1719072"/>
            <a:ext cx="3017520" cy="685800"/>
          </a:xfrm>
          <a:prstGeom prst="rect">
            <a:avLst/>
          </a:prstGeom>
          <a:noFill/>
          <a:ln/>
        </p:spPr>
        <p:txBody>
          <a:bodyPr wrap="square" lIns="0" tIns="0" rIns="0" bIns="0" rtlCol="0" anchor="t"/>
          <a:lstStyle/>
          <a:p>
            <a:pPr algn="l" indent="0" marL="0">
              <a:buNone/>
            </a:pPr>
            <a:r>
              <a:rPr lang="en-US" sz="4800" b="1" dirty="0">
                <a:solidFill>
                  <a:srgbClr val="0F2740"/>
                </a:solidFill>
                <a:latin typeface="Cambria" pitchFamily="34" charset="0"/>
                <a:ea typeface="Cambria" pitchFamily="34" charset="-122"/>
                <a:cs typeface="Cambria" pitchFamily="34" charset="-120"/>
              </a:rPr>
              <a:t>12</a:t>
            </a:r>
            <a:endParaRPr lang="en-US" sz="4800" dirty="0"/>
          </a:p>
        </p:txBody>
      </p:sp>
      <p:sp>
        <p:nvSpPr>
          <p:cNvPr id="9" name="text-33"/>
          <p:cNvSpPr txBox="1"/>
          <p:nvPr/>
        </p:nvSpPr>
        <p:spPr>
          <a:xfrm>
            <a:off x="8458200" y="2450592"/>
            <a:ext cx="3017520" cy="3657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findings scored per exam</a:t>
            </a:r>
            <a:endParaRPr lang="en-US" sz="1500" dirty="0"/>
          </a:p>
        </p:txBody>
      </p:sp>
      <p:sp>
        <p:nvSpPr>
          <p:cNvPr id="10" name="card-34"/>
          <p:cNvSpPr/>
          <p:nvPr/>
        </p:nvSpPr>
        <p:spPr>
          <a:xfrm>
            <a:off x="8183880" y="3108960"/>
            <a:ext cx="3456432" cy="1371600"/>
          </a:xfrm>
          <a:prstGeom prst="roundRect">
            <a:avLst>
              <a:gd name="adj" fmla="val 9333"/>
            </a:avLst>
          </a:prstGeom>
          <a:solidFill>
            <a:srgbClr val="F2F6FA"/>
          </a:solidFill>
          <a:ln/>
        </p:spPr>
      </p:sp>
      <p:sp>
        <p:nvSpPr>
          <p:cNvPr id="11" name="text-35"/>
          <p:cNvSpPr txBox="1"/>
          <p:nvPr/>
        </p:nvSpPr>
        <p:spPr>
          <a:xfrm>
            <a:off x="8458200" y="3273552"/>
            <a:ext cx="3017520" cy="685800"/>
          </a:xfrm>
          <a:prstGeom prst="rect">
            <a:avLst/>
          </a:prstGeom>
          <a:noFill/>
          <a:ln/>
        </p:spPr>
        <p:txBody>
          <a:bodyPr wrap="square" lIns="0" tIns="0" rIns="0" bIns="0" rtlCol="0" anchor="t"/>
          <a:lstStyle/>
          <a:p>
            <a:pPr algn="l" indent="0" marL="0">
              <a:buNone/>
            </a:pPr>
            <a:r>
              <a:rPr lang="en-US" sz="4800" b="1" dirty="0">
                <a:solidFill>
                  <a:srgbClr val="0F2740"/>
                </a:solidFill>
                <a:latin typeface="Cambria" pitchFamily="34" charset="0"/>
                <a:ea typeface="Cambria" pitchFamily="34" charset="-122"/>
                <a:cs typeface="Cambria" pitchFamily="34" charset="-120"/>
              </a:rPr>
              <a:t>3</a:t>
            </a:r>
            <a:endParaRPr lang="en-US" sz="4800" dirty="0"/>
          </a:p>
        </p:txBody>
      </p:sp>
      <p:sp>
        <p:nvSpPr>
          <p:cNvPr id="12" name="text-36"/>
          <p:cNvSpPr txBox="1"/>
          <p:nvPr/>
        </p:nvSpPr>
        <p:spPr>
          <a:xfrm>
            <a:off x="8458200" y="4005072"/>
            <a:ext cx="3017520" cy="3657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model families fused by rank blending</a:t>
            </a:r>
            <a:endParaRPr lang="en-US" sz="1500" dirty="0"/>
          </a:p>
        </p:txBody>
      </p:sp>
      <p:sp>
        <p:nvSpPr>
          <p:cNvPr id="13" name="card-37"/>
          <p:cNvSpPr/>
          <p:nvPr/>
        </p:nvSpPr>
        <p:spPr>
          <a:xfrm>
            <a:off x="8183880" y="4663440"/>
            <a:ext cx="3456432" cy="1371600"/>
          </a:xfrm>
          <a:prstGeom prst="roundRect">
            <a:avLst>
              <a:gd name="adj" fmla="val 9333"/>
            </a:avLst>
          </a:prstGeom>
          <a:solidFill>
            <a:srgbClr val="F2F6FA"/>
          </a:solidFill>
          <a:ln/>
        </p:spPr>
      </p:sp>
      <p:sp>
        <p:nvSpPr>
          <p:cNvPr id="14" name="text-38"/>
          <p:cNvSpPr txBox="1"/>
          <p:nvPr/>
        </p:nvSpPr>
        <p:spPr>
          <a:xfrm>
            <a:off x="8458200" y="4828032"/>
            <a:ext cx="3017520" cy="685800"/>
          </a:xfrm>
          <a:prstGeom prst="rect">
            <a:avLst/>
          </a:prstGeom>
          <a:noFill/>
          <a:ln/>
        </p:spPr>
        <p:txBody>
          <a:bodyPr wrap="square" lIns="0" tIns="0" rIns="0" bIns="0" rtlCol="0" anchor="t"/>
          <a:lstStyle/>
          <a:p>
            <a:pPr algn="l" indent="0" marL="0">
              <a:buNone/>
            </a:pPr>
            <a:r>
              <a:rPr lang="en-US" sz="3400" b="1" dirty="0">
                <a:solidFill>
                  <a:srgbClr val="E0690C"/>
                </a:solidFill>
                <a:latin typeface="Cambria" pitchFamily="34" charset="0"/>
                <a:ea typeface="Cambria" pitchFamily="34" charset="-122"/>
                <a:cs typeface="Cambria" pitchFamily="34" charset="-120"/>
              </a:rPr>
              <a:t>0.940 → 0.922</a:t>
            </a:r>
            <a:endParaRPr lang="en-US" sz="3400" dirty="0"/>
          </a:p>
        </p:txBody>
      </p:sp>
      <p:sp>
        <p:nvSpPr>
          <p:cNvPr id="15" name="text-39"/>
          <p:cNvSpPr txBox="1"/>
          <p:nvPr/>
        </p:nvSpPr>
        <p:spPr>
          <a:xfrm>
            <a:off x="8458200" y="5559552"/>
            <a:ext cx="3017520" cy="3657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public score: parent → ABG</a:t>
            </a:r>
            <a:endParaRPr lang="en-US" sz="15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Why knee MRI needs help from AI</a:t>
            </a:r>
            <a:endParaRPr lang="en-US" sz="3400" dirty="0"/>
          </a:p>
        </p:txBody>
      </p:sp>
      <p:sp>
        <p:nvSpPr>
          <p:cNvPr id="3" name="chev-40"/>
          <p:cNvSpPr/>
          <p:nvPr/>
        </p:nvSpPr>
        <p:spPr>
          <a:xfrm>
            <a:off x="548640" y="246888"/>
            <a:ext cx="137160" cy="201168"/>
          </a:xfrm>
          <a:prstGeom prst="chevron">
            <a:avLst/>
          </a:prstGeom>
          <a:solidFill>
            <a:srgbClr val="E0690C"/>
          </a:solidFill>
          <a:ln/>
        </p:spPr>
      </p:sp>
      <p:sp>
        <p:nvSpPr>
          <p:cNvPr id="4" name="text-41"/>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INTRODUCTION</a:t>
            </a:r>
            <a:endParaRPr lang="en-US" sz="1200" dirty="0"/>
          </a:p>
        </p:txBody>
      </p:sp>
      <p:pic>
        <p:nvPicPr>
          <p:cNvPr id="6" name="img-42" descr="Sagittal knee MRI slice">    </p:cNvPr>
          <p:cNvPicPr>
            <a:picLocks noChangeAspect="1"/>
          </p:cNvPicPr>
          <p:nvPr/>
        </p:nvPicPr>
        <p:blipFill>
          <a:blip r:embed="rId1"/>
          <a:stretch>
            <a:fillRect/>
          </a:stretch>
        </p:blipFill>
        <p:spPr>
          <a:xfrm>
            <a:off x="548640" y="1463040"/>
            <a:ext cx="3566160" cy="3739515"/>
          </a:xfrm>
          <a:prstGeom prst="rect">
            <a:avLst/>
          </a:prstGeom>
        </p:spPr>
      </p:pic>
      <p:sp>
        <p:nvSpPr>
          <p:cNvPr id="7" name="dot-43"/>
          <p:cNvSpPr/>
          <p:nvPr/>
        </p:nvSpPr>
        <p:spPr>
          <a:xfrm>
            <a:off x="4572000" y="1508760"/>
            <a:ext cx="713232" cy="713232"/>
          </a:xfrm>
          <a:prstGeom prst="ellipse">
            <a:avLst/>
          </a:prstGeom>
          <a:solidFill>
            <a:srgbClr val="2B7BC4"/>
          </a:solidFill>
          <a:ln/>
        </p:spPr>
      </p:sp>
      <p:pic>
        <p:nvPicPr>
          <p:cNvPr id="8" name="icon-44" descr="icon">    </p:cNvPr>
          <p:cNvPicPr>
            <a:picLocks noChangeAspect="1"/>
          </p:cNvPicPr>
          <p:nvPr/>
        </p:nvPicPr>
        <p:blipFill>
          <a:blip r:embed="rId2"/>
          <a:stretch>
            <a:fillRect/>
          </a:stretch>
        </p:blipFill>
        <p:spPr>
          <a:xfrm>
            <a:off x="4764573" y="1701333"/>
            <a:ext cx="328087" cy="328087"/>
          </a:xfrm>
          <a:prstGeom prst="rect">
            <a:avLst/>
          </a:prstGeom>
        </p:spPr>
      </p:pic>
      <p:sp>
        <p:nvSpPr>
          <p:cNvPr id="9" name="text-45"/>
          <p:cNvSpPr txBox="1"/>
          <p:nvPr/>
        </p:nvSpPr>
        <p:spPr>
          <a:xfrm>
            <a:off x="5486400" y="1527048"/>
            <a:ext cx="6126480" cy="411480"/>
          </a:xfrm>
          <a:prstGeom prst="rect">
            <a:avLst/>
          </a:prstGeom>
          <a:noFill/>
          <a:ln/>
        </p:spPr>
        <p:txBody>
          <a:bodyPr wrap="square" lIns="0" tIns="0" rIns="0" bIns="0" rtlCol="0" anchor="t"/>
          <a:lstStyle/>
          <a:p>
            <a:pPr algn="l" indent="0" marL="0">
              <a:buNone/>
            </a:pPr>
            <a:r>
              <a:rPr lang="en-US" sz="2400" b="1" dirty="0">
                <a:solidFill>
                  <a:srgbClr val="0F2740"/>
                </a:solidFill>
                <a:latin typeface="Calibri" pitchFamily="34" charset="0"/>
                <a:ea typeface="Calibri" pitchFamily="34" charset="-122"/>
                <a:cs typeface="Calibri" pitchFamily="34" charset="-120"/>
              </a:rPr>
              <a:t>A complete view of the joint</a:t>
            </a:r>
            <a:endParaRPr lang="en-US" sz="2400" dirty="0"/>
          </a:p>
        </p:txBody>
      </p:sp>
      <p:sp>
        <p:nvSpPr>
          <p:cNvPr id="10" name="text-46"/>
          <p:cNvSpPr txBox="1"/>
          <p:nvPr/>
        </p:nvSpPr>
        <p:spPr>
          <a:xfrm>
            <a:off x="5486400" y="1984248"/>
            <a:ext cx="6126480" cy="640080"/>
          </a:xfrm>
          <a:prstGeom prst="rect">
            <a:avLst/>
          </a:prstGeom>
          <a:noFill/>
          <a:ln/>
        </p:spPr>
        <p:txBody>
          <a:bodyPr wrap="square" lIns="0" tIns="0" rIns="0" bIns="0" rtlCol="0" anchor="t"/>
          <a:lstStyle/>
          <a:p>
            <a:pPr algn="l" indent="0" marL="0">
              <a:buNone/>
            </a:pPr>
            <a:r>
              <a:rPr lang="en-US" sz="1800" dirty="0">
                <a:solidFill>
                  <a:srgbClr val="5C6B7A"/>
                </a:solidFill>
                <a:latin typeface="Calibri" pitchFamily="34" charset="0"/>
                <a:ea typeface="Calibri" pitchFamily="34" charset="-122"/>
                <a:cs typeface="Calibri" pitchFamily="34" charset="-120"/>
              </a:rPr>
              <a:t>Ligaments, menisci, cartilage, fluid and bone in one scan</a:t>
            </a:r>
            <a:endParaRPr lang="en-US" sz="1800" dirty="0"/>
          </a:p>
        </p:txBody>
      </p:sp>
      <p:sp>
        <p:nvSpPr>
          <p:cNvPr id="11" name="dot-47"/>
          <p:cNvSpPr/>
          <p:nvPr/>
        </p:nvSpPr>
        <p:spPr>
          <a:xfrm>
            <a:off x="4572000" y="2880360"/>
            <a:ext cx="713232" cy="713232"/>
          </a:xfrm>
          <a:prstGeom prst="ellipse">
            <a:avLst/>
          </a:prstGeom>
          <a:solidFill>
            <a:srgbClr val="2B7BC4"/>
          </a:solidFill>
          <a:ln/>
        </p:spPr>
      </p:sp>
      <p:pic>
        <p:nvPicPr>
          <p:cNvPr id="12" name="icon-48" descr="icon">    </p:cNvPr>
          <p:cNvPicPr>
            <a:picLocks noChangeAspect="1"/>
          </p:cNvPicPr>
          <p:nvPr/>
        </p:nvPicPr>
        <p:blipFill>
          <a:blip r:embed="rId3"/>
          <a:stretch>
            <a:fillRect/>
          </a:stretch>
        </p:blipFill>
        <p:spPr>
          <a:xfrm>
            <a:off x="4764573" y="3072933"/>
            <a:ext cx="328087" cy="328087"/>
          </a:xfrm>
          <a:prstGeom prst="rect">
            <a:avLst/>
          </a:prstGeom>
        </p:spPr>
      </p:pic>
      <p:sp>
        <p:nvSpPr>
          <p:cNvPr id="13" name="text-49"/>
          <p:cNvSpPr txBox="1"/>
          <p:nvPr/>
        </p:nvSpPr>
        <p:spPr>
          <a:xfrm>
            <a:off x="5486400" y="2898648"/>
            <a:ext cx="6126480" cy="411480"/>
          </a:xfrm>
          <a:prstGeom prst="rect">
            <a:avLst/>
          </a:prstGeom>
          <a:noFill/>
          <a:ln/>
        </p:spPr>
        <p:txBody>
          <a:bodyPr wrap="square" lIns="0" tIns="0" rIns="0" bIns="0" rtlCol="0" anchor="t"/>
          <a:lstStyle/>
          <a:p>
            <a:pPr algn="l" indent="0" marL="0">
              <a:buNone/>
            </a:pPr>
            <a:r>
              <a:rPr lang="en-US" sz="2400" b="1" dirty="0">
                <a:solidFill>
                  <a:srgbClr val="0F2740"/>
                </a:solidFill>
                <a:latin typeface="Calibri" pitchFamily="34" charset="0"/>
                <a:ea typeface="Calibri" pitchFamily="34" charset="-122"/>
                <a:cs typeface="Calibri" pitchFamily="34" charset="-120"/>
              </a:rPr>
              <a:t>Readers disagree, experts are scarce</a:t>
            </a:r>
            <a:endParaRPr lang="en-US" sz="2400" dirty="0"/>
          </a:p>
        </p:txBody>
      </p:sp>
      <p:sp>
        <p:nvSpPr>
          <p:cNvPr id="14" name="text-50"/>
          <p:cNvSpPr txBox="1"/>
          <p:nvPr/>
        </p:nvSpPr>
        <p:spPr>
          <a:xfrm>
            <a:off x="5486400" y="3355848"/>
            <a:ext cx="6126480" cy="640080"/>
          </a:xfrm>
          <a:prstGeom prst="rect">
            <a:avLst/>
          </a:prstGeom>
          <a:noFill/>
          <a:ln/>
        </p:spPr>
        <p:txBody>
          <a:bodyPr wrap="square" lIns="0" tIns="0" rIns="0" bIns="0" rtlCol="0" anchor="t"/>
          <a:lstStyle/>
          <a:p>
            <a:pPr algn="l" indent="0" marL="0">
              <a:buNone/>
            </a:pPr>
            <a:r>
              <a:rPr lang="en-US" sz="1800" dirty="0">
                <a:solidFill>
                  <a:srgbClr val="5C6B7A"/>
                </a:solidFill>
                <a:latin typeface="Calibri" pitchFamily="34" charset="0"/>
                <a:ea typeface="Calibri" pitchFamily="34" charset="-122"/>
                <a:cs typeface="Calibri" pitchFamily="34" charset="-120"/>
              </a:rPr>
              <a:t>Interpretation varies by reader and by site</a:t>
            </a:r>
            <a:endParaRPr lang="en-US" sz="1800" dirty="0"/>
          </a:p>
        </p:txBody>
      </p:sp>
      <p:sp>
        <p:nvSpPr>
          <p:cNvPr id="15" name="dot-51"/>
          <p:cNvSpPr/>
          <p:nvPr/>
        </p:nvSpPr>
        <p:spPr>
          <a:xfrm>
            <a:off x="4572000" y="4251960"/>
            <a:ext cx="713232" cy="713232"/>
          </a:xfrm>
          <a:prstGeom prst="ellipse">
            <a:avLst/>
          </a:prstGeom>
          <a:solidFill>
            <a:srgbClr val="2B7BC4"/>
          </a:solidFill>
          <a:ln/>
        </p:spPr>
      </p:sp>
      <p:pic>
        <p:nvPicPr>
          <p:cNvPr id="16" name="icon-52" descr="icon">    </p:cNvPr>
          <p:cNvPicPr>
            <a:picLocks noChangeAspect="1"/>
          </p:cNvPicPr>
          <p:nvPr/>
        </p:nvPicPr>
        <p:blipFill>
          <a:blip r:embed="rId4"/>
          <a:stretch>
            <a:fillRect/>
          </a:stretch>
        </p:blipFill>
        <p:spPr>
          <a:xfrm>
            <a:off x="4764573" y="4444533"/>
            <a:ext cx="328087" cy="328087"/>
          </a:xfrm>
          <a:prstGeom prst="rect">
            <a:avLst/>
          </a:prstGeom>
        </p:spPr>
      </p:pic>
      <p:sp>
        <p:nvSpPr>
          <p:cNvPr id="17" name="text-53"/>
          <p:cNvSpPr txBox="1"/>
          <p:nvPr/>
        </p:nvSpPr>
        <p:spPr>
          <a:xfrm>
            <a:off x="5486400" y="4270248"/>
            <a:ext cx="6126480" cy="411480"/>
          </a:xfrm>
          <a:prstGeom prst="rect">
            <a:avLst/>
          </a:prstGeom>
          <a:noFill/>
          <a:ln/>
        </p:spPr>
        <p:txBody>
          <a:bodyPr wrap="square" lIns="0" tIns="0" rIns="0" bIns="0" rtlCol="0" anchor="t"/>
          <a:lstStyle/>
          <a:p>
            <a:pPr algn="l" indent="0" marL="0">
              <a:buNone/>
            </a:pPr>
            <a:r>
              <a:rPr lang="en-US" sz="2400" b="1" dirty="0">
                <a:solidFill>
                  <a:srgbClr val="0F2740"/>
                </a:solidFill>
                <a:latin typeface="Calibri" pitchFamily="34" charset="0"/>
                <a:ea typeface="Calibri" pitchFamily="34" charset="-122"/>
                <a:cs typeface="Calibri" pitchFamily="34" charset="-120"/>
              </a:rPr>
              <a:t>A first for RSNA</a:t>
            </a:r>
            <a:endParaRPr lang="en-US" sz="2400" dirty="0"/>
          </a:p>
        </p:txBody>
      </p:sp>
      <p:sp>
        <p:nvSpPr>
          <p:cNvPr id="18" name="text-54"/>
          <p:cNvSpPr txBox="1"/>
          <p:nvPr/>
        </p:nvSpPr>
        <p:spPr>
          <a:xfrm>
            <a:off x="5486400" y="4727448"/>
            <a:ext cx="6126480" cy="640080"/>
          </a:xfrm>
          <a:prstGeom prst="rect">
            <a:avLst/>
          </a:prstGeom>
          <a:noFill/>
          <a:ln/>
        </p:spPr>
        <p:txBody>
          <a:bodyPr wrap="square" lIns="0" tIns="0" rIns="0" bIns="0" rtlCol="0" anchor="t"/>
          <a:lstStyle/>
          <a:p>
            <a:pPr algn="l" indent="0" marL="0">
              <a:buNone/>
            </a:pPr>
            <a:r>
              <a:rPr lang="en-US" sz="1800" dirty="0">
                <a:solidFill>
                  <a:srgbClr val="5C6B7A"/>
                </a:solidFill>
                <a:latin typeface="Calibri" pitchFamily="34" charset="0"/>
                <a:ea typeface="Calibri" pitchFamily="34" charset="-122"/>
                <a:cs typeface="Calibri" pitchFamily="34" charset="-120"/>
              </a:rPr>
              <a:t>Musculoskeletal MRI paired with multilingual radiology reports</a:t>
            </a:r>
            <a:endParaRPr lang="en-US" sz="1800" dirty="0"/>
          </a:p>
        </p:txBody>
      </p:sp>
      <p:sp>
        <p:nvSpPr>
          <p:cNvPr id="19" name="Shape 12"/>
          <p:cNvSpPr/>
          <p:nvPr/>
        </p:nvSpPr>
        <p:spPr>
          <a:xfrm>
            <a:off x="548640" y="5440680"/>
            <a:ext cx="11094415" cy="868680"/>
          </a:xfrm>
          <a:prstGeom prst="roundRect">
            <a:avLst>
              <a:gd name="adj" fmla="val 14737"/>
            </a:avLst>
          </a:prstGeom>
          <a:solidFill>
            <a:srgbClr val="0F2740"/>
          </a:solidFill>
          <a:ln/>
        </p:spPr>
      </p:sp>
      <p:sp>
        <p:nvSpPr>
          <p:cNvPr id="20" name="stat-55"/>
          <p:cNvSpPr txBox="1"/>
          <p:nvPr/>
        </p:nvSpPr>
        <p:spPr>
          <a:xfrm>
            <a:off x="822960" y="5605272"/>
            <a:ext cx="265176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5,000+</a:t>
            </a:r>
            <a:pPr algn="l" indent="0" marL="0">
              <a:buNone/>
            </a:pPr>
            <a:r>
              <a:rPr lang="en-US" sz="1600" dirty="0">
                <a:solidFill>
                  <a:srgbClr val="D5E3F0"/>
                </a:solidFill>
                <a:latin typeface="Calibri" pitchFamily="34" charset="0"/>
                <a:ea typeface="Calibri" pitchFamily="34" charset="-122"/>
                <a:cs typeface="Calibri" pitchFamily="34" charset="-120"/>
              </a:rPr>
              <a:t>  training exams</a:t>
            </a:r>
            <a:endParaRPr lang="en-US" sz="3000" dirty="0"/>
          </a:p>
        </p:txBody>
      </p:sp>
      <p:sp>
        <p:nvSpPr>
          <p:cNvPr id="21" name="stat-56"/>
          <p:cNvSpPr txBox="1"/>
          <p:nvPr/>
        </p:nvSpPr>
        <p:spPr>
          <a:xfrm>
            <a:off x="3566160" y="5605272"/>
            <a:ext cx="265176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12</a:t>
            </a:r>
            <a:pPr algn="l" indent="0" marL="0">
              <a:buNone/>
            </a:pPr>
            <a:r>
              <a:rPr lang="en-US" sz="1600" dirty="0">
                <a:solidFill>
                  <a:srgbClr val="D5E3F0"/>
                </a:solidFill>
                <a:latin typeface="Calibri" pitchFamily="34" charset="0"/>
                <a:ea typeface="Calibri" pitchFamily="34" charset="-122"/>
                <a:cs typeface="Calibri" pitchFamily="34" charset="-120"/>
              </a:rPr>
              <a:t>  report languages</a:t>
            </a:r>
            <a:endParaRPr lang="en-US" sz="3000" dirty="0"/>
          </a:p>
        </p:txBody>
      </p:sp>
      <p:sp>
        <p:nvSpPr>
          <p:cNvPr id="22" name="stat-57"/>
          <p:cNvSpPr txBox="1"/>
          <p:nvPr/>
        </p:nvSpPr>
        <p:spPr>
          <a:xfrm>
            <a:off x="6309360" y="5605272"/>
            <a:ext cx="265176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16</a:t>
            </a:r>
            <a:pPr algn="l" indent="0" marL="0">
              <a:buNone/>
            </a:pPr>
            <a:r>
              <a:rPr lang="en-US" sz="1600" dirty="0">
                <a:solidFill>
                  <a:srgbClr val="D5E3F0"/>
                </a:solidFill>
                <a:latin typeface="Calibri" pitchFamily="34" charset="0"/>
                <a:ea typeface="Calibri" pitchFamily="34" charset="-122"/>
                <a:cs typeface="Calibri" pitchFamily="34" charset="-120"/>
              </a:rPr>
              <a:t>  training sites</a:t>
            </a:r>
            <a:endParaRPr lang="en-US" sz="3000" dirty="0"/>
          </a:p>
        </p:txBody>
      </p:sp>
      <p:sp>
        <p:nvSpPr>
          <p:cNvPr id="23" name="stat-58"/>
          <p:cNvSpPr txBox="1"/>
          <p:nvPr/>
        </p:nvSpPr>
        <p:spPr>
          <a:xfrm>
            <a:off x="9052560" y="5605272"/>
            <a:ext cx="265176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12</a:t>
            </a:r>
            <a:pPr algn="l" indent="0" marL="0">
              <a:buNone/>
            </a:pPr>
            <a:r>
              <a:rPr lang="en-US" sz="1600" dirty="0">
                <a:solidFill>
                  <a:srgbClr val="D5E3F0"/>
                </a:solidFill>
                <a:latin typeface="Calibri" pitchFamily="34" charset="0"/>
                <a:ea typeface="Calibri" pitchFamily="34" charset="-122"/>
                <a:cs typeface="Calibri" pitchFamily="34" charset="-120"/>
              </a:rPr>
              <a:t>  findings scored</a:t>
            </a:r>
            <a:endParaRPr lang="en-US" sz="30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The task: 12 findings, one score</a:t>
            </a:r>
            <a:endParaRPr lang="en-US" sz="3400" dirty="0"/>
          </a:p>
        </p:txBody>
      </p:sp>
      <p:sp>
        <p:nvSpPr>
          <p:cNvPr id="3" name="chev-59"/>
          <p:cNvSpPr/>
          <p:nvPr/>
        </p:nvSpPr>
        <p:spPr>
          <a:xfrm>
            <a:off x="548640" y="246888"/>
            <a:ext cx="137160" cy="201168"/>
          </a:xfrm>
          <a:prstGeom prst="chevron">
            <a:avLst/>
          </a:prstGeom>
          <a:solidFill>
            <a:srgbClr val="E0690C"/>
          </a:solidFill>
          <a:ln/>
        </p:spPr>
      </p:sp>
      <p:sp>
        <p:nvSpPr>
          <p:cNvPr id="4" name="text-60"/>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PROBLEM</a:t>
            </a:r>
            <a:endParaRPr lang="en-US" sz="1200" dirty="0"/>
          </a:p>
        </p:txBody>
      </p:sp>
      <p:sp>
        <p:nvSpPr>
          <p:cNvPr id="6" name="text-61"/>
          <p:cNvSpPr txBox="1"/>
          <p:nvPr/>
        </p:nvSpPr>
        <p:spPr>
          <a:xfrm>
            <a:off x="548640" y="1481328"/>
            <a:ext cx="2103120" cy="274320"/>
          </a:xfrm>
          <a:prstGeom prst="rect">
            <a:avLst/>
          </a:prstGeom>
          <a:noFill/>
          <a:ln/>
        </p:spPr>
        <p:txBody>
          <a:bodyPr wrap="square" lIns="0" tIns="0" rIns="0" bIns="0" rtlCol="0" anchor="t"/>
          <a:lstStyle/>
          <a:p>
            <a:pPr algn="l" indent="0" marL="0">
              <a:buNone/>
            </a:pPr>
            <a:r>
              <a:rPr lang="en-US" sz="1200" b="1" spc="100" kern="0" dirty="0">
                <a:solidFill>
                  <a:srgbClr val="5C6B7A"/>
                </a:solidFill>
                <a:latin typeface="Calibri" pitchFamily="34" charset="0"/>
                <a:ea typeface="Calibri" pitchFamily="34" charset="-122"/>
                <a:cs typeface="Calibri" pitchFamily="34" charset="-120"/>
              </a:rPr>
              <a:t>LIGAMENTS</a:t>
            </a:r>
            <a:endParaRPr lang="en-US" sz="1200" dirty="0"/>
          </a:p>
        </p:txBody>
      </p:sp>
      <p:sp>
        <p:nvSpPr>
          <p:cNvPr id="7" name="chip-62"/>
          <p:cNvSpPr/>
          <p:nvPr/>
        </p:nvSpPr>
        <p:spPr>
          <a:xfrm>
            <a:off x="548640" y="1828800"/>
            <a:ext cx="2103120" cy="548640"/>
          </a:xfrm>
          <a:prstGeom prst="roundRect">
            <a:avLst>
              <a:gd name="adj" fmla="val 20000"/>
            </a:avLst>
          </a:prstGeom>
          <a:solidFill>
            <a:srgbClr val="DCEBFA"/>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ACL</a:t>
            </a:r>
            <a:endParaRPr lang="en-US" sz="1600" dirty="0"/>
          </a:p>
        </p:txBody>
      </p:sp>
      <p:sp>
        <p:nvSpPr>
          <p:cNvPr id="8" name="chip-63"/>
          <p:cNvSpPr/>
          <p:nvPr/>
        </p:nvSpPr>
        <p:spPr>
          <a:xfrm>
            <a:off x="548640" y="2487168"/>
            <a:ext cx="2103120" cy="548640"/>
          </a:xfrm>
          <a:prstGeom prst="roundRect">
            <a:avLst>
              <a:gd name="adj" fmla="val 20000"/>
            </a:avLst>
          </a:prstGeom>
          <a:solidFill>
            <a:srgbClr val="DCEBFA"/>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MCL</a:t>
            </a:r>
            <a:endParaRPr lang="en-US" sz="1600" dirty="0"/>
          </a:p>
        </p:txBody>
      </p:sp>
      <p:sp>
        <p:nvSpPr>
          <p:cNvPr id="9" name="text-64"/>
          <p:cNvSpPr txBox="1"/>
          <p:nvPr/>
        </p:nvSpPr>
        <p:spPr>
          <a:xfrm>
            <a:off x="2798064" y="1481328"/>
            <a:ext cx="2103120" cy="274320"/>
          </a:xfrm>
          <a:prstGeom prst="rect">
            <a:avLst/>
          </a:prstGeom>
          <a:noFill/>
          <a:ln/>
        </p:spPr>
        <p:txBody>
          <a:bodyPr wrap="square" lIns="0" tIns="0" rIns="0" bIns="0" rtlCol="0" anchor="t"/>
          <a:lstStyle/>
          <a:p>
            <a:pPr algn="l" indent="0" marL="0">
              <a:buNone/>
            </a:pPr>
            <a:r>
              <a:rPr lang="en-US" sz="1200" b="1" spc="100" kern="0" dirty="0">
                <a:solidFill>
                  <a:srgbClr val="5C6B7A"/>
                </a:solidFill>
                <a:latin typeface="Calibri" pitchFamily="34" charset="0"/>
                <a:ea typeface="Calibri" pitchFamily="34" charset="-122"/>
                <a:cs typeface="Calibri" pitchFamily="34" charset="-120"/>
              </a:rPr>
              <a:t>MENISCI</a:t>
            </a:r>
            <a:endParaRPr lang="en-US" sz="1200" dirty="0"/>
          </a:p>
        </p:txBody>
      </p:sp>
      <p:sp>
        <p:nvSpPr>
          <p:cNvPr id="10" name="chip-65"/>
          <p:cNvSpPr/>
          <p:nvPr/>
        </p:nvSpPr>
        <p:spPr>
          <a:xfrm>
            <a:off x="2798064" y="1828800"/>
            <a:ext cx="2103120" cy="548640"/>
          </a:xfrm>
          <a:prstGeom prst="roundRect">
            <a:avLst>
              <a:gd name="adj" fmla="val 20000"/>
            </a:avLst>
          </a:prstGeom>
          <a:solidFill>
            <a:srgbClr val="DDF3E7"/>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Medial</a:t>
            </a:r>
            <a:endParaRPr lang="en-US" sz="1600" dirty="0"/>
          </a:p>
        </p:txBody>
      </p:sp>
      <p:sp>
        <p:nvSpPr>
          <p:cNvPr id="11" name="chip-66"/>
          <p:cNvSpPr/>
          <p:nvPr/>
        </p:nvSpPr>
        <p:spPr>
          <a:xfrm>
            <a:off x="2798064" y="2487168"/>
            <a:ext cx="2103120" cy="548640"/>
          </a:xfrm>
          <a:prstGeom prst="roundRect">
            <a:avLst>
              <a:gd name="adj" fmla="val 20000"/>
            </a:avLst>
          </a:prstGeom>
          <a:solidFill>
            <a:srgbClr val="DDF3E7"/>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Lateral</a:t>
            </a:r>
            <a:endParaRPr lang="en-US" sz="1600" dirty="0"/>
          </a:p>
        </p:txBody>
      </p:sp>
      <p:sp>
        <p:nvSpPr>
          <p:cNvPr id="12" name="text-67"/>
          <p:cNvSpPr txBox="1"/>
          <p:nvPr/>
        </p:nvSpPr>
        <p:spPr>
          <a:xfrm>
            <a:off x="5047488" y="1481328"/>
            <a:ext cx="2103120" cy="274320"/>
          </a:xfrm>
          <a:prstGeom prst="rect">
            <a:avLst/>
          </a:prstGeom>
          <a:noFill/>
          <a:ln/>
        </p:spPr>
        <p:txBody>
          <a:bodyPr wrap="square" lIns="0" tIns="0" rIns="0" bIns="0" rtlCol="0" anchor="t"/>
          <a:lstStyle/>
          <a:p>
            <a:pPr algn="l" indent="0" marL="0">
              <a:buNone/>
            </a:pPr>
            <a:r>
              <a:rPr lang="en-US" sz="1200" b="1" spc="100" kern="0" dirty="0">
                <a:solidFill>
                  <a:srgbClr val="5C6B7A"/>
                </a:solidFill>
                <a:latin typeface="Calibri" pitchFamily="34" charset="0"/>
                <a:ea typeface="Calibri" pitchFamily="34" charset="-122"/>
                <a:cs typeface="Calibri" pitchFamily="34" charset="-120"/>
              </a:rPr>
              <a:t>CARTILAGE / OA</a:t>
            </a:r>
            <a:endParaRPr lang="en-US" sz="1200" dirty="0"/>
          </a:p>
        </p:txBody>
      </p:sp>
      <p:sp>
        <p:nvSpPr>
          <p:cNvPr id="13" name="chip-68"/>
          <p:cNvSpPr/>
          <p:nvPr/>
        </p:nvSpPr>
        <p:spPr>
          <a:xfrm>
            <a:off x="5047488" y="1828800"/>
            <a:ext cx="2103120" cy="548640"/>
          </a:xfrm>
          <a:prstGeom prst="roundRect">
            <a:avLst>
              <a:gd name="adj" fmla="val 20000"/>
            </a:avLst>
          </a:prstGeom>
          <a:solidFill>
            <a:srgbClr val="F3E3F2"/>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Medial OA</a:t>
            </a:r>
            <a:endParaRPr lang="en-US" sz="1600" dirty="0"/>
          </a:p>
        </p:txBody>
      </p:sp>
      <p:sp>
        <p:nvSpPr>
          <p:cNvPr id="14" name="chip-69"/>
          <p:cNvSpPr/>
          <p:nvPr/>
        </p:nvSpPr>
        <p:spPr>
          <a:xfrm>
            <a:off x="5047488" y="2487168"/>
            <a:ext cx="2103120" cy="548640"/>
          </a:xfrm>
          <a:prstGeom prst="roundRect">
            <a:avLst>
              <a:gd name="adj" fmla="val 20000"/>
            </a:avLst>
          </a:prstGeom>
          <a:solidFill>
            <a:srgbClr val="F3E3F2"/>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Lateral OA</a:t>
            </a:r>
            <a:endParaRPr lang="en-US" sz="1600" dirty="0"/>
          </a:p>
        </p:txBody>
      </p:sp>
      <p:sp>
        <p:nvSpPr>
          <p:cNvPr id="15" name="chip-70"/>
          <p:cNvSpPr/>
          <p:nvPr/>
        </p:nvSpPr>
        <p:spPr>
          <a:xfrm>
            <a:off x="5047488" y="3145536"/>
            <a:ext cx="2103120" cy="548640"/>
          </a:xfrm>
          <a:prstGeom prst="roundRect">
            <a:avLst>
              <a:gd name="adj" fmla="val 20000"/>
            </a:avLst>
          </a:prstGeom>
          <a:solidFill>
            <a:srgbClr val="F3E3F2"/>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Patellofemoral OA</a:t>
            </a:r>
            <a:endParaRPr lang="en-US" sz="1600" dirty="0"/>
          </a:p>
        </p:txBody>
      </p:sp>
      <p:sp>
        <p:nvSpPr>
          <p:cNvPr id="16" name="text-71"/>
          <p:cNvSpPr txBox="1"/>
          <p:nvPr/>
        </p:nvSpPr>
        <p:spPr>
          <a:xfrm>
            <a:off x="7296912" y="1481328"/>
            <a:ext cx="2103120" cy="274320"/>
          </a:xfrm>
          <a:prstGeom prst="rect">
            <a:avLst/>
          </a:prstGeom>
          <a:noFill/>
          <a:ln/>
        </p:spPr>
        <p:txBody>
          <a:bodyPr wrap="square" lIns="0" tIns="0" rIns="0" bIns="0" rtlCol="0" anchor="t"/>
          <a:lstStyle/>
          <a:p>
            <a:pPr algn="l" indent="0" marL="0">
              <a:buNone/>
            </a:pPr>
            <a:r>
              <a:rPr lang="en-US" sz="1200" b="1" spc="100" kern="0" dirty="0">
                <a:solidFill>
                  <a:srgbClr val="5C6B7A"/>
                </a:solidFill>
                <a:latin typeface="Calibri" pitchFamily="34" charset="0"/>
                <a:ea typeface="Calibri" pitchFamily="34" charset="-122"/>
                <a:cs typeface="Calibri" pitchFamily="34" charset="-120"/>
              </a:rPr>
              <a:t>JOINT &amp; SOFT TISSUE</a:t>
            </a:r>
            <a:endParaRPr lang="en-US" sz="1200" dirty="0"/>
          </a:p>
        </p:txBody>
      </p:sp>
      <p:sp>
        <p:nvSpPr>
          <p:cNvPr id="17" name="chip-72"/>
          <p:cNvSpPr/>
          <p:nvPr/>
        </p:nvSpPr>
        <p:spPr>
          <a:xfrm>
            <a:off x="7296912" y="1828800"/>
            <a:ext cx="2103120" cy="548640"/>
          </a:xfrm>
          <a:prstGeom prst="roundRect">
            <a:avLst>
              <a:gd name="adj" fmla="val 20000"/>
            </a:avLst>
          </a:prstGeom>
          <a:solidFill>
            <a:srgbClr val="FDEBDD"/>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Effusion</a:t>
            </a:r>
            <a:endParaRPr lang="en-US" sz="1600" dirty="0"/>
          </a:p>
        </p:txBody>
      </p:sp>
      <p:sp>
        <p:nvSpPr>
          <p:cNvPr id="18" name="chip-73"/>
          <p:cNvSpPr/>
          <p:nvPr/>
        </p:nvSpPr>
        <p:spPr>
          <a:xfrm>
            <a:off x="7296912" y="2487168"/>
            <a:ext cx="2103120" cy="548640"/>
          </a:xfrm>
          <a:prstGeom prst="roundRect">
            <a:avLst>
              <a:gd name="adj" fmla="val 20000"/>
            </a:avLst>
          </a:prstGeom>
          <a:solidFill>
            <a:srgbClr val="FDEBDD"/>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Synovitis</a:t>
            </a:r>
            <a:endParaRPr lang="en-US" sz="1600" dirty="0"/>
          </a:p>
        </p:txBody>
      </p:sp>
      <p:sp>
        <p:nvSpPr>
          <p:cNvPr id="19" name="chip-74"/>
          <p:cNvSpPr/>
          <p:nvPr/>
        </p:nvSpPr>
        <p:spPr>
          <a:xfrm>
            <a:off x="7296912" y="3145536"/>
            <a:ext cx="2103120" cy="548640"/>
          </a:xfrm>
          <a:prstGeom prst="roundRect">
            <a:avLst>
              <a:gd name="adj" fmla="val 20000"/>
            </a:avLst>
          </a:prstGeom>
          <a:solidFill>
            <a:srgbClr val="FDEBDD"/>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Baker's cyst</a:t>
            </a:r>
            <a:endParaRPr lang="en-US" sz="1600" dirty="0"/>
          </a:p>
        </p:txBody>
      </p:sp>
      <p:sp>
        <p:nvSpPr>
          <p:cNvPr id="20" name="text-75"/>
          <p:cNvSpPr txBox="1"/>
          <p:nvPr/>
        </p:nvSpPr>
        <p:spPr>
          <a:xfrm>
            <a:off x="9546336" y="1481328"/>
            <a:ext cx="2103120" cy="274320"/>
          </a:xfrm>
          <a:prstGeom prst="rect">
            <a:avLst/>
          </a:prstGeom>
          <a:noFill/>
          <a:ln/>
        </p:spPr>
        <p:txBody>
          <a:bodyPr wrap="square" lIns="0" tIns="0" rIns="0" bIns="0" rtlCol="0" anchor="t"/>
          <a:lstStyle/>
          <a:p>
            <a:pPr algn="l" indent="0" marL="0">
              <a:buNone/>
            </a:pPr>
            <a:r>
              <a:rPr lang="en-US" sz="1200" b="1" spc="100" kern="0" dirty="0">
                <a:solidFill>
                  <a:srgbClr val="5C6B7A"/>
                </a:solidFill>
                <a:latin typeface="Calibri" pitchFamily="34" charset="0"/>
                <a:ea typeface="Calibri" pitchFamily="34" charset="-122"/>
                <a:cs typeface="Calibri" pitchFamily="34" charset="-120"/>
              </a:rPr>
              <a:t>BONE</a:t>
            </a:r>
            <a:endParaRPr lang="en-US" sz="1200" dirty="0"/>
          </a:p>
        </p:txBody>
      </p:sp>
      <p:sp>
        <p:nvSpPr>
          <p:cNvPr id="21" name="chip-76"/>
          <p:cNvSpPr/>
          <p:nvPr/>
        </p:nvSpPr>
        <p:spPr>
          <a:xfrm>
            <a:off x="9546336" y="1828800"/>
            <a:ext cx="2103120" cy="548640"/>
          </a:xfrm>
          <a:prstGeom prst="roundRect">
            <a:avLst>
              <a:gd name="adj" fmla="val 20000"/>
            </a:avLst>
          </a:prstGeom>
          <a:solidFill>
            <a:srgbClr val="E7ECF1"/>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Contusion</a:t>
            </a:r>
            <a:endParaRPr lang="en-US" sz="1600" dirty="0"/>
          </a:p>
        </p:txBody>
      </p:sp>
      <p:sp>
        <p:nvSpPr>
          <p:cNvPr id="22" name="chip-77"/>
          <p:cNvSpPr/>
          <p:nvPr/>
        </p:nvSpPr>
        <p:spPr>
          <a:xfrm>
            <a:off x="9546336" y="2487168"/>
            <a:ext cx="2103120" cy="548640"/>
          </a:xfrm>
          <a:prstGeom prst="roundRect">
            <a:avLst>
              <a:gd name="adj" fmla="val 20000"/>
            </a:avLst>
          </a:prstGeom>
          <a:solidFill>
            <a:srgbClr val="E7ECF1"/>
          </a:solidFill>
          <a:ln/>
        </p:spPr>
        <p:txBody>
          <a:bodyPr wrap="square" lIns="0" tIns="0" rIns="0" bIns="0" rtlCol="0" anchor="ctr"/>
          <a:lstStyle/>
          <a:p>
            <a:pPr algn="ctr" indent="0" marL="0">
              <a:buNone/>
            </a:pPr>
            <a:r>
              <a:rPr lang="en-US" sz="1600" b="1" dirty="0">
                <a:solidFill>
                  <a:srgbClr val="0F2740"/>
                </a:solidFill>
                <a:latin typeface="Calibri" pitchFamily="34" charset="0"/>
                <a:ea typeface="Calibri" pitchFamily="34" charset="-122"/>
                <a:cs typeface="Calibri" pitchFamily="34" charset="-120"/>
              </a:rPr>
              <a:t>Fracture</a:t>
            </a:r>
            <a:endParaRPr lang="en-US" sz="1600" dirty="0"/>
          </a:p>
        </p:txBody>
      </p:sp>
      <p:sp>
        <p:nvSpPr>
          <p:cNvPr id="23" name="card-78"/>
          <p:cNvSpPr/>
          <p:nvPr/>
        </p:nvSpPr>
        <p:spPr>
          <a:xfrm>
            <a:off x="548640" y="4023360"/>
            <a:ext cx="6720840" cy="2240280"/>
          </a:xfrm>
          <a:prstGeom prst="roundRect">
            <a:avLst>
              <a:gd name="adj" fmla="val 5714"/>
            </a:avLst>
          </a:prstGeom>
          <a:solidFill>
            <a:srgbClr val="F2F6FA"/>
          </a:solidFill>
          <a:ln/>
        </p:spPr>
      </p:sp>
      <p:sp>
        <p:nvSpPr>
          <p:cNvPr id="24" name="text-79"/>
          <p:cNvSpPr txBox="1"/>
          <p:nvPr/>
        </p:nvSpPr>
        <p:spPr>
          <a:xfrm>
            <a:off x="868680" y="4224528"/>
            <a:ext cx="5486400" cy="274320"/>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LEADERBOARD METRIC</a:t>
            </a:r>
            <a:endParaRPr lang="en-US" sz="1200" dirty="0"/>
          </a:p>
        </p:txBody>
      </p:sp>
      <p:sp>
        <p:nvSpPr>
          <p:cNvPr id="25" name="text-80"/>
          <p:cNvSpPr txBox="1"/>
          <p:nvPr/>
        </p:nvSpPr>
        <p:spPr>
          <a:xfrm>
            <a:off x="868680" y="4572000"/>
            <a:ext cx="6126480" cy="594360"/>
          </a:xfrm>
          <a:prstGeom prst="rect">
            <a:avLst/>
          </a:prstGeom>
          <a:noFill/>
          <a:ln/>
        </p:spPr>
        <p:txBody>
          <a:bodyPr wrap="square" lIns="0" tIns="0" rIns="0" bIns="0" rtlCol="0" anchor="t"/>
          <a:lstStyle/>
          <a:p>
            <a:pPr algn="l" indent="0" marL="0">
              <a:buNone/>
            </a:pPr>
            <a:r>
              <a:rPr lang="en-US" sz="3200" b="1" dirty="0">
                <a:solidFill>
                  <a:srgbClr val="0F2740"/>
                </a:solidFill>
                <a:latin typeface="Cambria" pitchFamily="34" charset="0"/>
                <a:ea typeface="Cambria" pitchFamily="34" charset="-122"/>
                <a:cs typeface="Cambria" pitchFamily="34" charset="-120"/>
              </a:rPr>
              <a:t>Mean AUC of the 12 findings</a:t>
            </a:r>
            <a:endParaRPr lang="en-US" sz="3200" dirty="0"/>
          </a:p>
        </p:txBody>
      </p:sp>
      <p:sp>
        <p:nvSpPr>
          <p:cNvPr id="26" name="text-81"/>
          <p:cNvSpPr txBox="1"/>
          <p:nvPr/>
        </p:nvSpPr>
        <p:spPr>
          <a:xfrm>
            <a:off x="868680" y="5303520"/>
            <a:ext cx="6126480" cy="777240"/>
          </a:xfrm>
          <a:prstGeom prst="rect">
            <a:avLst/>
          </a:prstGeom>
          <a:noFill/>
          <a:ln/>
        </p:spPr>
        <p:txBody>
          <a:bodyPr wrap="square" lIns="0" tIns="0" rIns="0" bIns="0" rtlCol="0" anchor="t"/>
          <a:lstStyle/>
          <a:p>
            <a:pPr algn="l" indent="0" marL="0">
              <a:buNone/>
            </a:pPr>
            <a:r>
              <a:rPr lang="en-US" sz="1700" dirty="0">
                <a:solidFill>
                  <a:srgbClr val="5C6B7A"/>
                </a:solidFill>
                <a:latin typeface="Calibri" pitchFamily="34" charset="0"/>
                <a:ea typeface="Calibri" pitchFamily="34" charset="-122"/>
                <a:cs typeface="Calibri" pitchFamily="34" charset="-120"/>
              </a:rPr>
              <a:t>Only the ordering of scores matters, so outputs are ranking scores, not calibrated probabilities.</a:t>
            </a:r>
            <a:endParaRPr lang="en-US" sz="1700" dirty="0"/>
          </a:p>
        </p:txBody>
      </p:sp>
      <p:sp>
        <p:nvSpPr>
          <p:cNvPr id="27" name="Shape 24"/>
          <p:cNvSpPr/>
          <p:nvPr/>
        </p:nvSpPr>
        <p:spPr>
          <a:xfrm>
            <a:off x="7452360" y="4023360"/>
            <a:ext cx="4190695" cy="2240280"/>
          </a:xfrm>
          <a:prstGeom prst="roundRect">
            <a:avLst>
              <a:gd name="adj" fmla="val 5714"/>
            </a:avLst>
          </a:prstGeom>
          <a:solidFill>
            <a:srgbClr val="0F2740"/>
          </a:solidFill>
          <a:ln/>
        </p:spPr>
      </p:sp>
      <p:sp>
        <p:nvSpPr>
          <p:cNvPr id="28" name="text-82"/>
          <p:cNvSpPr txBox="1"/>
          <p:nvPr/>
        </p:nvSpPr>
        <p:spPr>
          <a:xfrm>
            <a:off x="7772400" y="4224528"/>
            <a:ext cx="3657600" cy="274320"/>
          </a:xfrm>
          <a:prstGeom prst="rect">
            <a:avLst/>
          </a:prstGeom>
          <a:noFill/>
          <a:ln/>
        </p:spPr>
        <p:txBody>
          <a:bodyPr wrap="square" lIns="0" tIns="0" rIns="0" bIns="0" rtlCol="0" anchor="t"/>
          <a:lstStyle/>
          <a:p>
            <a:pPr algn="l" indent="0" marL="0">
              <a:buNone/>
            </a:pPr>
            <a:r>
              <a:rPr lang="en-US" sz="1200" b="1" spc="200" kern="0" dirty="0">
                <a:solidFill>
                  <a:srgbClr val="A9C4DD"/>
                </a:solidFill>
                <a:latin typeface="Calibri" pitchFamily="34" charset="0"/>
                <a:ea typeface="Calibri" pitchFamily="34" charset="-122"/>
                <a:cs typeface="Calibri" pitchFamily="34" charset="-120"/>
              </a:rPr>
              <a:t>KAGGLE LIMITS</a:t>
            </a:r>
            <a:endParaRPr lang="en-US" sz="1200" dirty="0"/>
          </a:p>
        </p:txBody>
      </p:sp>
      <p:sp>
        <p:nvSpPr>
          <p:cNvPr id="29" name="dot-83"/>
          <p:cNvSpPr/>
          <p:nvPr/>
        </p:nvSpPr>
        <p:spPr>
          <a:xfrm>
            <a:off x="7772400" y="4617720"/>
            <a:ext cx="402336" cy="402336"/>
          </a:xfrm>
          <a:prstGeom prst="ellipse">
            <a:avLst/>
          </a:prstGeom>
          <a:solidFill>
            <a:srgbClr val="2B7BC4"/>
          </a:solidFill>
          <a:ln/>
        </p:spPr>
      </p:sp>
      <p:pic>
        <p:nvPicPr>
          <p:cNvPr id="30" name="icon-84" descr="icon">    </p:cNvPr>
          <p:cNvPicPr>
            <a:picLocks noChangeAspect="1"/>
          </p:cNvPicPr>
          <p:nvPr/>
        </p:nvPicPr>
        <p:blipFill>
          <a:blip r:embed="rId1"/>
          <a:stretch>
            <a:fillRect/>
          </a:stretch>
        </p:blipFill>
        <p:spPr>
          <a:xfrm>
            <a:off x="7881031" y="4726351"/>
            <a:ext cx="185075" cy="185075"/>
          </a:xfrm>
          <a:prstGeom prst="rect">
            <a:avLst/>
          </a:prstGeom>
        </p:spPr>
      </p:pic>
      <p:sp>
        <p:nvSpPr>
          <p:cNvPr id="31" name="text-85"/>
          <p:cNvSpPr txBox="1"/>
          <p:nvPr/>
        </p:nvSpPr>
        <p:spPr>
          <a:xfrm>
            <a:off x="8321040" y="4617720"/>
            <a:ext cx="3200400" cy="402336"/>
          </a:xfrm>
          <a:prstGeom prst="rect">
            <a:avLst/>
          </a:prstGeom>
          <a:noFill/>
          <a:ln/>
        </p:spPr>
        <p:txBody>
          <a:bodyPr wrap="square" lIns="0" tIns="0" rIns="0" bIns="0" rtlCol="0" anchor="ctr"/>
          <a:lstStyle/>
          <a:p>
            <a:pPr algn="l" indent="0" marL="0">
              <a:buNone/>
            </a:pPr>
            <a:r>
              <a:rPr lang="en-US" sz="1700" dirty="0">
                <a:solidFill>
                  <a:srgbClr val="FFFFFF"/>
                </a:solidFill>
                <a:latin typeface="Calibri" pitchFamily="34" charset="0"/>
                <a:ea typeface="Calibri" pitchFamily="34" charset="-122"/>
                <a:cs typeface="Calibri" pitchFamily="34" charset="-120"/>
              </a:rPr>
              <a:t>2 × Tesla T4 GPUs</a:t>
            </a:r>
            <a:endParaRPr lang="en-US" sz="1700" dirty="0"/>
          </a:p>
        </p:txBody>
      </p:sp>
      <p:sp>
        <p:nvSpPr>
          <p:cNvPr id="32" name="dot-86"/>
          <p:cNvSpPr/>
          <p:nvPr/>
        </p:nvSpPr>
        <p:spPr>
          <a:xfrm>
            <a:off x="7772400" y="5148072"/>
            <a:ext cx="402336" cy="402336"/>
          </a:xfrm>
          <a:prstGeom prst="ellipse">
            <a:avLst/>
          </a:prstGeom>
          <a:solidFill>
            <a:srgbClr val="2B7BC4"/>
          </a:solidFill>
          <a:ln/>
        </p:spPr>
      </p:sp>
      <p:pic>
        <p:nvPicPr>
          <p:cNvPr id="33" name="icon-87" descr="icon">    </p:cNvPr>
          <p:cNvPicPr>
            <a:picLocks noChangeAspect="1"/>
          </p:cNvPicPr>
          <p:nvPr/>
        </p:nvPicPr>
        <p:blipFill>
          <a:blip r:embed="rId2"/>
          <a:stretch>
            <a:fillRect/>
          </a:stretch>
        </p:blipFill>
        <p:spPr>
          <a:xfrm>
            <a:off x="7881031" y="5256703"/>
            <a:ext cx="185075" cy="185075"/>
          </a:xfrm>
          <a:prstGeom prst="rect">
            <a:avLst/>
          </a:prstGeom>
        </p:spPr>
      </p:pic>
      <p:sp>
        <p:nvSpPr>
          <p:cNvPr id="34" name="text-88"/>
          <p:cNvSpPr txBox="1"/>
          <p:nvPr/>
        </p:nvSpPr>
        <p:spPr>
          <a:xfrm>
            <a:off x="8321040" y="5148072"/>
            <a:ext cx="3200400" cy="402336"/>
          </a:xfrm>
          <a:prstGeom prst="rect">
            <a:avLst/>
          </a:prstGeom>
          <a:noFill/>
          <a:ln/>
        </p:spPr>
        <p:txBody>
          <a:bodyPr wrap="square" lIns="0" tIns="0" rIns="0" bIns="0" rtlCol="0" anchor="ctr"/>
          <a:lstStyle/>
          <a:p>
            <a:pPr algn="l" indent="0" marL="0">
              <a:buNone/>
            </a:pPr>
            <a:r>
              <a:rPr lang="en-US" sz="1700" dirty="0">
                <a:solidFill>
                  <a:srgbClr val="FFFFFF"/>
                </a:solidFill>
                <a:latin typeface="Calibri" pitchFamily="34" charset="0"/>
                <a:ea typeface="Calibri" pitchFamily="34" charset="-122"/>
                <a:cs typeface="Calibri" pitchFamily="34" charset="-120"/>
              </a:rPr>
              <a:t>Internet off, weights attached</a:t>
            </a:r>
            <a:endParaRPr lang="en-US" sz="1700" dirty="0"/>
          </a:p>
        </p:txBody>
      </p:sp>
      <p:sp>
        <p:nvSpPr>
          <p:cNvPr id="35" name="dot-89"/>
          <p:cNvSpPr/>
          <p:nvPr/>
        </p:nvSpPr>
        <p:spPr>
          <a:xfrm>
            <a:off x="7772400" y="5678424"/>
            <a:ext cx="402336" cy="402336"/>
          </a:xfrm>
          <a:prstGeom prst="ellipse">
            <a:avLst/>
          </a:prstGeom>
          <a:solidFill>
            <a:srgbClr val="2B7BC4"/>
          </a:solidFill>
          <a:ln/>
        </p:spPr>
      </p:sp>
      <p:pic>
        <p:nvPicPr>
          <p:cNvPr id="36" name="icon-90" descr="icon">    </p:cNvPr>
          <p:cNvPicPr>
            <a:picLocks noChangeAspect="1"/>
          </p:cNvPicPr>
          <p:nvPr/>
        </p:nvPicPr>
        <p:blipFill>
          <a:blip r:embed="rId3"/>
          <a:stretch>
            <a:fillRect/>
          </a:stretch>
        </p:blipFill>
        <p:spPr>
          <a:xfrm>
            <a:off x="7881031" y="5787055"/>
            <a:ext cx="185075" cy="185075"/>
          </a:xfrm>
          <a:prstGeom prst="rect">
            <a:avLst/>
          </a:prstGeom>
        </p:spPr>
      </p:pic>
      <p:sp>
        <p:nvSpPr>
          <p:cNvPr id="37" name="text-91"/>
          <p:cNvSpPr txBox="1"/>
          <p:nvPr/>
        </p:nvSpPr>
        <p:spPr>
          <a:xfrm>
            <a:off x="8321040" y="5678424"/>
            <a:ext cx="3200400" cy="402336"/>
          </a:xfrm>
          <a:prstGeom prst="rect">
            <a:avLst/>
          </a:prstGeom>
          <a:noFill/>
          <a:ln/>
        </p:spPr>
        <p:txBody>
          <a:bodyPr wrap="square" lIns="0" tIns="0" rIns="0" bIns="0" rtlCol="0" anchor="ctr"/>
          <a:lstStyle/>
          <a:p>
            <a:pPr algn="l" indent="0" marL="0">
              <a:buNone/>
            </a:pPr>
            <a:r>
              <a:rPr lang="en-US" sz="1700" dirty="0">
                <a:solidFill>
                  <a:srgbClr val="FFFFFF"/>
                </a:solidFill>
                <a:latin typeface="Calibri" pitchFamily="34" charset="0"/>
                <a:ea typeface="Calibri" pitchFamily="34" charset="-122"/>
                <a:cs typeface="Calibri" pitchFamily="34" charset="-120"/>
              </a:rPr>
              <a:t>8-hour hard time cap</a:t>
            </a:r>
            <a:endParaRPr lang="en-US" sz="17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Build on strong models, add our own layer</a:t>
            </a:r>
            <a:endParaRPr lang="en-US" sz="3400" dirty="0"/>
          </a:p>
        </p:txBody>
      </p:sp>
      <p:sp>
        <p:nvSpPr>
          <p:cNvPr id="3" name="chev-92"/>
          <p:cNvSpPr/>
          <p:nvPr/>
        </p:nvSpPr>
        <p:spPr>
          <a:xfrm>
            <a:off x="548640" y="246888"/>
            <a:ext cx="137160" cy="201168"/>
          </a:xfrm>
          <a:prstGeom prst="chevron">
            <a:avLst/>
          </a:prstGeom>
          <a:solidFill>
            <a:srgbClr val="E0690C"/>
          </a:solidFill>
          <a:ln/>
        </p:spPr>
      </p:sp>
      <p:sp>
        <p:nvSpPr>
          <p:cNvPr id="4" name="text-93"/>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PROBLEM</a:t>
            </a:r>
            <a:endParaRPr lang="en-US" sz="1200" dirty="0"/>
          </a:p>
        </p:txBody>
      </p:sp>
      <p:sp>
        <p:nvSpPr>
          <p:cNvPr id="6" name="card-94"/>
          <p:cNvSpPr/>
          <p:nvPr/>
        </p:nvSpPr>
        <p:spPr>
          <a:xfrm>
            <a:off x="548640" y="1508760"/>
            <a:ext cx="5074920" cy="4663440"/>
          </a:xfrm>
          <a:prstGeom prst="roundRect">
            <a:avLst>
              <a:gd name="adj" fmla="val 2745"/>
            </a:avLst>
          </a:prstGeom>
          <a:solidFill>
            <a:srgbClr val="F2F6FA"/>
          </a:solidFill>
          <a:ln/>
        </p:spPr>
      </p:sp>
      <p:sp>
        <p:nvSpPr>
          <p:cNvPr id="7" name="text-95"/>
          <p:cNvSpPr txBox="1"/>
          <p:nvPr/>
        </p:nvSpPr>
        <p:spPr>
          <a:xfrm>
            <a:off x="868680" y="1737360"/>
            <a:ext cx="3657600" cy="274320"/>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BUILT ON</a:t>
            </a:r>
            <a:endParaRPr lang="en-US" sz="1200" dirty="0"/>
          </a:p>
        </p:txBody>
      </p:sp>
      <p:sp>
        <p:nvSpPr>
          <p:cNvPr id="8" name="dot-96"/>
          <p:cNvSpPr/>
          <p:nvPr/>
        </p:nvSpPr>
        <p:spPr>
          <a:xfrm>
            <a:off x="868680" y="2194560"/>
            <a:ext cx="658368" cy="658368"/>
          </a:xfrm>
          <a:prstGeom prst="ellipse">
            <a:avLst/>
          </a:prstGeom>
          <a:solidFill>
            <a:srgbClr val="2B7BC4"/>
          </a:solidFill>
          <a:ln/>
        </p:spPr>
      </p:sp>
      <p:pic>
        <p:nvPicPr>
          <p:cNvPr id="9" name="icon-97" descr="icon">    </p:cNvPr>
          <p:cNvPicPr>
            <a:picLocks noChangeAspect="1"/>
          </p:cNvPicPr>
          <p:nvPr/>
        </p:nvPicPr>
        <p:blipFill>
          <a:blip r:embed="rId1"/>
          <a:stretch>
            <a:fillRect/>
          </a:stretch>
        </p:blipFill>
        <p:spPr>
          <a:xfrm>
            <a:off x="1046439" y="2372319"/>
            <a:ext cx="302849" cy="302849"/>
          </a:xfrm>
          <a:prstGeom prst="rect">
            <a:avLst/>
          </a:prstGeom>
        </p:spPr>
      </p:pic>
      <p:sp>
        <p:nvSpPr>
          <p:cNvPr id="10" name="text-98"/>
          <p:cNvSpPr txBox="1"/>
          <p:nvPr/>
        </p:nvSpPr>
        <p:spPr>
          <a:xfrm>
            <a:off x="1737360" y="2212848"/>
            <a:ext cx="365760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DINOv2 / DINOv3 ViT-S</a:t>
            </a:r>
            <a:endParaRPr lang="en-US" sz="2000" dirty="0"/>
          </a:p>
        </p:txBody>
      </p:sp>
      <p:sp>
        <p:nvSpPr>
          <p:cNvPr id="11" name="text-99"/>
          <p:cNvSpPr txBox="1"/>
          <p:nvPr/>
        </p:nvSpPr>
        <p:spPr>
          <a:xfrm>
            <a:off x="1737360" y="2578608"/>
            <a:ext cx="3657600" cy="32004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Meta AI, released weights</a:t>
            </a:r>
            <a:endParaRPr lang="en-US" sz="1600" dirty="0"/>
          </a:p>
        </p:txBody>
      </p:sp>
      <p:sp>
        <p:nvSpPr>
          <p:cNvPr id="12" name="dot-100"/>
          <p:cNvSpPr/>
          <p:nvPr/>
        </p:nvSpPr>
        <p:spPr>
          <a:xfrm>
            <a:off x="868680" y="3291840"/>
            <a:ext cx="658368" cy="658368"/>
          </a:xfrm>
          <a:prstGeom prst="ellipse">
            <a:avLst/>
          </a:prstGeom>
          <a:solidFill>
            <a:srgbClr val="2E9E6B"/>
          </a:solidFill>
          <a:ln/>
        </p:spPr>
      </p:sp>
      <p:pic>
        <p:nvPicPr>
          <p:cNvPr id="13" name="icon-101" descr="icon">    </p:cNvPr>
          <p:cNvPicPr>
            <a:picLocks noChangeAspect="1"/>
          </p:cNvPicPr>
          <p:nvPr/>
        </p:nvPicPr>
        <p:blipFill>
          <a:blip r:embed="rId2"/>
          <a:stretch>
            <a:fillRect/>
          </a:stretch>
        </p:blipFill>
        <p:spPr>
          <a:xfrm>
            <a:off x="1046439" y="3469599"/>
            <a:ext cx="302849" cy="302849"/>
          </a:xfrm>
          <a:prstGeom prst="rect">
            <a:avLst/>
          </a:prstGeom>
        </p:spPr>
      </p:pic>
      <p:sp>
        <p:nvSpPr>
          <p:cNvPr id="14" name="text-102"/>
          <p:cNvSpPr txBox="1"/>
          <p:nvPr/>
        </p:nvSpPr>
        <p:spPr>
          <a:xfrm>
            <a:off x="1737360" y="3310128"/>
            <a:ext cx="365760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RadImageNet ResNet-50</a:t>
            </a:r>
            <a:endParaRPr lang="en-US" sz="2000" dirty="0"/>
          </a:p>
        </p:txBody>
      </p:sp>
      <p:sp>
        <p:nvSpPr>
          <p:cNvPr id="15" name="text-103"/>
          <p:cNvSpPr txBox="1"/>
          <p:nvPr/>
        </p:nvSpPr>
        <p:spPr>
          <a:xfrm>
            <a:off x="1737360" y="3675888"/>
            <a:ext cx="3657600" cy="32004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Pretrained on radiology images</a:t>
            </a:r>
            <a:endParaRPr lang="en-US" sz="1600" dirty="0"/>
          </a:p>
        </p:txBody>
      </p:sp>
      <p:sp>
        <p:nvSpPr>
          <p:cNvPr id="16" name="dot-104"/>
          <p:cNvSpPr/>
          <p:nvPr/>
        </p:nvSpPr>
        <p:spPr>
          <a:xfrm>
            <a:off x="868680" y="4389120"/>
            <a:ext cx="658368" cy="658368"/>
          </a:xfrm>
          <a:prstGeom prst="ellipse">
            <a:avLst/>
          </a:prstGeom>
          <a:solidFill>
            <a:srgbClr val="A24BA0"/>
          </a:solidFill>
          <a:ln/>
        </p:spPr>
      </p:sp>
      <p:pic>
        <p:nvPicPr>
          <p:cNvPr id="17" name="icon-105" descr="icon">    </p:cNvPr>
          <p:cNvPicPr>
            <a:picLocks noChangeAspect="1"/>
          </p:cNvPicPr>
          <p:nvPr/>
        </p:nvPicPr>
        <p:blipFill>
          <a:blip r:embed="rId3"/>
          <a:stretch>
            <a:fillRect/>
          </a:stretch>
        </p:blipFill>
        <p:spPr>
          <a:xfrm>
            <a:off x="1046439" y="4566879"/>
            <a:ext cx="302849" cy="302849"/>
          </a:xfrm>
          <a:prstGeom prst="rect">
            <a:avLst/>
          </a:prstGeom>
        </p:spPr>
      </p:pic>
      <p:sp>
        <p:nvSpPr>
          <p:cNvPr id="18" name="text-106"/>
          <p:cNvSpPr txBox="1"/>
          <p:nvPr/>
        </p:nvSpPr>
        <p:spPr>
          <a:xfrm>
            <a:off x="1737360" y="4407408"/>
            <a:ext cx="365760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CoAtNet hybrids</a:t>
            </a:r>
            <a:endParaRPr lang="en-US" sz="2000" dirty="0"/>
          </a:p>
        </p:txBody>
      </p:sp>
      <p:sp>
        <p:nvSpPr>
          <p:cNvPr id="19" name="text-107"/>
          <p:cNvSpPr txBox="1"/>
          <p:nvPr/>
        </p:nvSpPr>
        <p:spPr>
          <a:xfrm>
            <a:off x="1737360" y="4773168"/>
            <a:ext cx="3657600" cy="32004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Raptor and residual models</a:t>
            </a:r>
            <a:endParaRPr lang="en-US" sz="1600" dirty="0"/>
          </a:p>
        </p:txBody>
      </p:sp>
      <p:sp>
        <p:nvSpPr>
          <p:cNvPr id="20" name="text-108"/>
          <p:cNvSpPr txBox="1"/>
          <p:nvPr/>
        </p:nvSpPr>
        <p:spPr>
          <a:xfrm>
            <a:off x="868680" y="5486400"/>
            <a:ext cx="4480560" cy="54864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Weights and inference code are public Kaggle releases, credited in the references.</a:t>
            </a:r>
            <a:endParaRPr lang="en-US" sz="1400" dirty="0"/>
          </a:p>
        </p:txBody>
      </p:sp>
      <p:sp>
        <p:nvSpPr>
          <p:cNvPr id="21" name="arrow-109"/>
          <p:cNvSpPr/>
          <p:nvPr/>
        </p:nvSpPr>
        <p:spPr>
          <a:xfrm>
            <a:off x="5760720" y="3520440"/>
            <a:ext cx="640080" cy="548640"/>
          </a:xfrm>
          <a:prstGeom prst="rightArrow">
            <a:avLst/>
          </a:prstGeom>
          <a:solidFill>
            <a:srgbClr val="E0690C"/>
          </a:solidFill>
          <a:ln/>
        </p:spPr>
      </p:sp>
      <p:sp>
        <p:nvSpPr>
          <p:cNvPr id="22" name="card-110"/>
          <p:cNvSpPr/>
          <p:nvPr/>
        </p:nvSpPr>
        <p:spPr>
          <a:xfrm>
            <a:off x="6537960" y="1508760"/>
            <a:ext cx="5105095" cy="4663440"/>
          </a:xfrm>
          <a:prstGeom prst="roundRect">
            <a:avLst>
              <a:gd name="adj" fmla="val 2745"/>
            </a:avLst>
          </a:prstGeom>
          <a:solidFill>
            <a:srgbClr val="FDEBDD"/>
          </a:solidFill>
          <a:ln/>
        </p:spPr>
      </p:sp>
      <p:sp>
        <p:nvSpPr>
          <p:cNvPr id="23" name="text-111"/>
          <p:cNvSpPr txBox="1"/>
          <p:nvPr/>
        </p:nvSpPr>
        <p:spPr>
          <a:xfrm>
            <a:off x="6858000" y="1737360"/>
            <a:ext cx="3657600" cy="274320"/>
          </a:xfrm>
          <a:prstGeom prst="rect">
            <a:avLst/>
          </a:prstGeom>
          <a:noFill/>
          <a:ln/>
        </p:spPr>
        <p:txBody>
          <a:bodyPr wrap="square" lIns="0" tIns="0" rIns="0" bIns="0" rtlCol="0" anchor="t"/>
          <a:lstStyle/>
          <a:p>
            <a:pPr algn="l" indent="0" marL="0">
              <a:buNone/>
            </a:pPr>
            <a:r>
              <a:rPr lang="en-US" sz="1200" b="1" spc="200" kern="0" dirty="0">
                <a:solidFill>
                  <a:srgbClr val="B34E00"/>
                </a:solidFill>
                <a:latin typeface="Calibri" pitchFamily="34" charset="0"/>
                <a:ea typeface="Calibri" pitchFamily="34" charset="-122"/>
                <a:cs typeface="Calibri" pitchFamily="34" charset="-120"/>
              </a:rPr>
              <a:t>OUR CONTRIBUTION</a:t>
            </a:r>
            <a:endParaRPr lang="en-US" sz="1200" dirty="0"/>
          </a:p>
        </p:txBody>
      </p:sp>
      <p:sp>
        <p:nvSpPr>
          <p:cNvPr id="24" name="dot-112"/>
          <p:cNvSpPr/>
          <p:nvPr/>
        </p:nvSpPr>
        <p:spPr>
          <a:xfrm>
            <a:off x="6858000" y="2194560"/>
            <a:ext cx="658368" cy="658368"/>
          </a:xfrm>
          <a:prstGeom prst="ellipse">
            <a:avLst/>
          </a:prstGeom>
          <a:solidFill>
            <a:srgbClr val="E0690C"/>
          </a:solidFill>
          <a:ln/>
        </p:spPr>
      </p:sp>
      <p:pic>
        <p:nvPicPr>
          <p:cNvPr id="25" name="icon-113" descr="icon">    </p:cNvPr>
          <p:cNvPicPr>
            <a:picLocks noChangeAspect="1"/>
          </p:cNvPicPr>
          <p:nvPr/>
        </p:nvPicPr>
        <p:blipFill>
          <a:blip r:embed="rId4"/>
          <a:stretch>
            <a:fillRect/>
          </a:stretch>
        </p:blipFill>
        <p:spPr>
          <a:xfrm>
            <a:off x="7035759" y="2372319"/>
            <a:ext cx="302849" cy="302849"/>
          </a:xfrm>
          <a:prstGeom prst="rect">
            <a:avLst/>
          </a:prstGeom>
        </p:spPr>
      </p:pic>
      <p:sp>
        <p:nvSpPr>
          <p:cNvPr id="26" name="text-114"/>
          <p:cNvSpPr txBox="1"/>
          <p:nvPr/>
        </p:nvSpPr>
        <p:spPr>
          <a:xfrm>
            <a:off x="7726680" y="2212848"/>
            <a:ext cx="374904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ABG experiment layer</a:t>
            </a:r>
            <a:endParaRPr lang="en-US" sz="2000" dirty="0"/>
          </a:p>
        </p:txBody>
      </p:sp>
      <p:sp>
        <p:nvSpPr>
          <p:cNvPr id="27" name="text-115"/>
          <p:cNvSpPr txBox="1"/>
          <p:nvPr/>
        </p:nvSpPr>
        <p:spPr>
          <a:xfrm>
            <a:off x="7726680" y="2578608"/>
            <a:ext cx="3749040" cy="32004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Three post-calibration additions</a:t>
            </a:r>
            <a:endParaRPr lang="en-US" sz="1600" dirty="0"/>
          </a:p>
        </p:txBody>
      </p:sp>
      <p:sp>
        <p:nvSpPr>
          <p:cNvPr id="28" name="dot-116"/>
          <p:cNvSpPr/>
          <p:nvPr/>
        </p:nvSpPr>
        <p:spPr>
          <a:xfrm>
            <a:off x="6858000" y="3291840"/>
            <a:ext cx="658368" cy="658368"/>
          </a:xfrm>
          <a:prstGeom prst="ellipse">
            <a:avLst/>
          </a:prstGeom>
          <a:solidFill>
            <a:srgbClr val="E0690C"/>
          </a:solidFill>
          <a:ln/>
        </p:spPr>
      </p:sp>
      <p:pic>
        <p:nvPicPr>
          <p:cNvPr id="29" name="icon-117" descr="icon">    </p:cNvPr>
          <p:cNvPicPr>
            <a:picLocks noChangeAspect="1"/>
          </p:cNvPicPr>
          <p:nvPr/>
        </p:nvPicPr>
        <p:blipFill>
          <a:blip r:embed="rId5"/>
          <a:stretch>
            <a:fillRect/>
          </a:stretch>
        </p:blipFill>
        <p:spPr>
          <a:xfrm>
            <a:off x="7035759" y="3469599"/>
            <a:ext cx="302849" cy="302849"/>
          </a:xfrm>
          <a:prstGeom prst="rect">
            <a:avLst/>
          </a:prstGeom>
        </p:spPr>
      </p:pic>
      <p:sp>
        <p:nvSpPr>
          <p:cNvPr id="30" name="text-118"/>
          <p:cNvSpPr txBox="1"/>
          <p:nvPr/>
        </p:nvSpPr>
        <p:spPr>
          <a:xfrm>
            <a:off x="7726680" y="3310128"/>
            <a:ext cx="374904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Experiments fixed in advance</a:t>
            </a:r>
            <a:endParaRPr lang="en-US" sz="2000" dirty="0"/>
          </a:p>
        </p:txBody>
      </p:sp>
      <p:sp>
        <p:nvSpPr>
          <p:cNvPr id="31" name="text-119"/>
          <p:cNvSpPr txBox="1"/>
          <p:nvPr/>
        </p:nvSpPr>
        <p:spPr>
          <a:xfrm>
            <a:off x="7726680" y="3675888"/>
            <a:ext cx="3749040" cy="32004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Protocol set before any score</a:t>
            </a:r>
            <a:endParaRPr lang="en-US" sz="1600" dirty="0"/>
          </a:p>
        </p:txBody>
      </p:sp>
      <p:sp>
        <p:nvSpPr>
          <p:cNvPr id="32" name="dot-120"/>
          <p:cNvSpPr/>
          <p:nvPr/>
        </p:nvSpPr>
        <p:spPr>
          <a:xfrm>
            <a:off x="6858000" y="4389120"/>
            <a:ext cx="658368" cy="658368"/>
          </a:xfrm>
          <a:prstGeom prst="ellipse">
            <a:avLst/>
          </a:prstGeom>
          <a:solidFill>
            <a:srgbClr val="E0690C"/>
          </a:solidFill>
          <a:ln/>
        </p:spPr>
      </p:sp>
      <p:pic>
        <p:nvPicPr>
          <p:cNvPr id="33" name="icon-121" descr="icon">    </p:cNvPr>
          <p:cNvPicPr>
            <a:picLocks noChangeAspect="1"/>
          </p:cNvPicPr>
          <p:nvPr/>
        </p:nvPicPr>
        <p:blipFill>
          <a:blip r:embed="rId6"/>
          <a:stretch>
            <a:fillRect/>
          </a:stretch>
        </p:blipFill>
        <p:spPr>
          <a:xfrm>
            <a:off x="7035759" y="4566879"/>
            <a:ext cx="302849" cy="302849"/>
          </a:xfrm>
          <a:prstGeom prst="rect">
            <a:avLst/>
          </a:prstGeom>
        </p:spPr>
      </p:pic>
      <p:sp>
        <p:nvSpPr>
          <p:cNvPr id="34" name="text-122"/>
          <p:cNvSpPr txBox="1"/>
          <p:nvPr/>
        </p:nvSpPr>
        <p:spPr>
          <a:xfrm>
            <a:off x="7726680" y="4407408"/>
            <a:ext cx="374904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Verified, hashed runs</a:t>
            </a:r>
            <a:endParaRPr lang="en-US" sz="2000" dirty="0"/>
          </a:p>
        </p:txBody>
      </p:sp>
      <p:sp>
        <p:nvSpPr>
          <p:cNvPr id="35" name="text-123"/>
          <p:cNvSpPr txBox="1"/>
          <p:nvPr/>
        </p:nvSpPr>
        <p:spPr>
          <a:xfrm>
            <a:off x="7726680" y="4773168"/>
            <a:ext cx="3749040" cy="32004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Checks and a receipt per submission</a:t>
            </a:r>
            <a:endParaRPr lang="en-US" sz="16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566928"/>
          </a:xfrm>
          <a:prstGeom prst="rect">
            <a:avLst/>
          </a:prstGeom>
          <a:noFill/>
          <a:ln/>
        </p:spPr>
        <p:txBody>
          <a:bodyPr wrap="square" lIns="0" tIns="0" rIns="0" bIns="0" rtlCol="0" anchor="t"/>
          <a:lstStyle/>
          <a:p>
            <a:pPr algn="l" indent="0" marL="0">
              <a:buNone/>
            </a:pPr>
            <a:r>
              <a:rPr lang="en-US" sz="3000" b="1" dirty="0">
                <a:solidFill>
                  <a:srgbClr val="0F2740"/>
                </a:solidFill>
                <a:latin typeface="Cambria" pitchFamily="34" charset="0"/>
                <a:ea typeface="Cambria" pitchFamily="34" charset="-122"/>
                <a:cs typeface="Cambria" pitchFamily="34" charset="-120"/>
              </a:rPr>
              <a:t>Pipeline overview</a:t>
            </a:r>
            <a:endParaRPr lang="en-US" sz="3000" dirty="0"/>
          </a:p>
        </p:txBody>
      </p:sp>
      <p:pic>
        <p:nvPicPr>
          <p:cNvPr id="3" name="img-124" descr="Architecture of the knee MRI pipeline: input, preprocessing, three encoder branches, fusion, outputs">    </p:cNvPr>
          <p:cNvPicPr>
            <a:picLocks noChangeAspect="1"/>
          </p:cNvPicPr>
          <p:nvPr/>
        </p:nvPicPr>
        <p:blipFill>
          <a:blip r:embed="rId1"/>
          <a:stretch>
            <a:fillRect/>
          </a:stretch>
        </p:blipFill>
        <p:spPr>
          <a:xfrm>
            <a:off x="548640" y="896112"/>
            <a:ext cx="11094415" cy="5325617"/>
          </a:xfrm>
          <a:prstGeom prst="rect">
            <a:avLst/>
          </a:prstGeom>
        </p:spPr>
      </p:pic>
      <p:sp>
        <p:nvSpPr>
          <p:cNvPr id="4" name="text-125"/>
          <p:cNvSpPr txBox="1"/>
          <p:nvPr/>
        </p:nvSpPr>
        <p:spPr>
          <a:xfrm>
            <a:off x="548640" y="6382512"/>
            <a:ext cx="10241280" cy="384048"/>
          </a:xfrm>
          <a:prstGeom prst="rect">
            <a:avLst/>
          </a:prstGeom>
          <a:noFill/>
          <a:ln/>
        </p:spPr>
        <p:txBody>
          <a:bodyPr wrap="square" lIns="0" tIns="0" rIns="0" bIns="0" rtlCol="0" anchor="t"/>
          <a:lstStyle/>
          <a:p>
            <a:pPr algn="l" indent="0" marL="0">
              <a:buNone/>
            </a:pPr>
            <a:r>
              <a:rPr lang="en-US" sz="1100" dirty="0">
                <a:solidFill>
                  <a:srgbClr val="5C6B7A"/>
                </a:solidFill>
                <a:latin typeface="Calibri" pitchFamily="34" charset="0"/>
                <a:ea typeface="Calibri" pitchFamily="34" charset="-122"/>
                <a:cs typeface="Calibri" pitchFamily="34" charset="-120"/>
              </a:rPr>
              <a:t>Figure 1. Schematic overview of the pipeline (simplified). Stage 4 is drawn schematically: final scores come from rank blending and no new network is trained. Pretrained components are public releases (see References).</a:t>
            </a:r>
            <a:endParaRPr lang="en-US" sz="1100" dirty="0"/>
          </a:p>
        </p:txBody>
      </p:sp>
      <p:sp>
        <p:nvSpPr>
          <p:cNvPr id="25" name="Slide Number Placeholder 0"/>
          <p:cNvSpPr>
            <a:spLocks noGrp="1"/>
          </p:cNvSpPr>
          <p:nvPr>
            <p:ph type="sldNum" sz="quarter" idx="4294967295"/>
          </p:nvPr>
        </p:nvSpPr>
        <p:spPr>
          <a:xfrm>
            <a:off x="10972800" y="6510528"/>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1 · From DICOM series to model input</a:t>
            </a:r>
            <a:endParaRPr lang="en-US" sz="3400" dirty="0"/>
          </a:p>
        </p:txBody>
      </p:sp>
      <p:sp>
        <p:nvSpPr>
          <p:cNvPr id="3" name="chev-126"/>
          <p:cNvSpPr/>
          <p:nvPr/>
        </p:nvSpPr>
        <p:spPr>
          <a:xfrm>
            <a:off x="548640" y="246888"/>
            <a:ext cx="137160" cy="201168"/>
          </a:xfrm>
          <a:prstGeom prst="chevron">
            <a:avLst/>
          </a:prstGeom>
          <a:solidFill>
            <a:srgbClr val="E0690C"/>
          </a:solidFill>
          <a:ln/>
        </p:spPr>
      </p:sp>
      <p:sp>
        <p:nvSpPr>
          <p:cNvPr id="4" name="text-127"/>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METHOD</a:t>
            </a:r>
            <a:endParaRPr lang="en-US" sz="1200" dirty="0"/>
          </a:p>
        </p:txBody>
      </p:sp>
      <p:sp>
        <p:nvSpPr>
          <p:cNvPr id="6" name="card-128"/>
          <p:cNvSpPr/>
          <p:nvPr/>
        </p:nvSpPr>
        <p:spPr>
          <a:xfrm>
            <a:off x="548640" y="1463040"/>
            <a:ext cx="2514600" cy="4800600"/>
          </a:xfrm>
          <a:prstGeom prst="roundRect">
            <a:avLst>
              <a:gd name="adj" fmla="val 5091"/>
            </a:avLst>
          </a:prstGeom>
          <a:solidFill>
            <a:srgbClr val="FFFFFF"/>
          </a:solidFill>
          <a:ln w="9525">
            <a:solidFill>
              <a:srgbClr val="D5DEE7"/>
            </a:solidFill>
            <a:prstDash val="solid"/>
          </a:ln>
        </p:spPr>
      </p:sp>
      <p:pic>
        <p:nvPicPr>
          <p:cNvPr id="7" name="img-129" descr="Input panel and preprocessing label from the architecture figure">    </p:cNvPr>
          <p:cNvPicPr>
            <a:picLocks noChangeAspect="1"/>
          </p:cNvPicPr>
          <p:nvPr/>
        </p:nvPicPr>
        <p:blipFill>
          <a:blip r:embed="rId1"/>
          <a:stretch>
            <a:fillRect/>
          </a:stretch>
        </p:blipFill>
        <p:spPr>
          <a:xfrm>
            <a:off x="795395" y="1572768"/>
            <a:ext cx="2021090" cy="4572000"/>
          </a:xfrm>
          <a:prstGeom prst="rect">
            <a:avLst/>
          </a:prstGeom>
        </p:spPr>
      </p:pic>
      <p:sp>
        <p:nvSpPr>
          <p:cNvPr id="8" name="badge-130"/>
          <p:cNvSpPr/>
          <p:nvPr/>
        </p:nvSpPr>
        <p:spPr>
          <a:xfrm>
            <a:off x="3429000" y="1581912"/>
            <a:ext cx="512064" cy="512064"/>
          </a:xfrm>
          <a:prstGeom prst="ellipse">
            <a:avLst/>
          </a:prstGeom>
          <a:solidFill>
            <a:srgbClr val="2B7BC4"/>
          </a:solid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131"/>
          <p:cNvSpPr txBox="1"/>
          <p:nvPr/>
        </p:nvSpPr>
        <p:spPr>
          <a:xfrm>
            <a:off x="4114800" y="1536192"/>
            <a:ext cx="3566160" cy="365760"/>
          </a:xfrm>
          <a:prstGeom prst="rect">
            <a:avLst/>
          </a:prstGeom>
          <a:noFill/>
          <a:ln/>
        </p:spPr>
        <p:txBody>
          <a:bodyPr wrap="square" lIns="0" tIns="0" rIns="0" bIns="0" rtlCol="0" anchor="t"/>
          <a:lstStyle/>
          <a:p>
            <a:pPr algn="l" indent="0" marL="0">
              <a:buNone/>
            </a:pPr>
            <a:r>
              <a:rPr lang="en-US" sz="2100" b="1" dirty="0">
                <a:solidFill>
                  <a:srgbClr val="0F2740"/>
                </a:solidFill>
                <a:latin typeface="Calibri" pitchFamily="34" charset="0"/>
                <a:ea typeface="Calibri" pitchFamily="34" charset="-122"/>
                <a:cs typeface="Calibri" pitchFamily="34" charset="-120"/>
              </a:rPr>
              <a:t>Read the headers</a:t>
            </a:r>
            <a:endParaRPr lang="en-US" sz="2100" dirty="0"/>
          </a:p>
        </p:txBody>
      </p:sp>
      <p:sp>
        <p:nvSpPr>
          <p:cNvPr id="10" name="text-132"/>
          <p:cNvSpPr txBox="1"/>
          <p:nvPr/>
        </p:nvSpPr>
        <p:spPr>
          <a:xfrm>
            <a:off x="4114800" y="1929384"/>
            <a:ext cx="3566160" cy="640080"/>
          </a:xfrm>
          <a:prstGeom prst="rect">
            <a:avLst/>
          </a:prstGeom>
          <a:noFill/>
          <a:ln/>
        </p:spPr>
        <p:txBody>
          <a:bodyPr wrap="square" lIns="0" tIns="0" rIns="0" bIns="0" rtlCol="0" anchor="t"/>
          <a:lstStyle/>
          <a:p>
            <a:pPr algn="l" indent="0" marL="0">
              <a:buNone/>
            </a:pPr>
            <a:r>
              <a:rPr lang="en-US" sz="1700" dirty="0">
                <a:solidFill>
                  <a:srgbClr val="5C6B7A"/>
                </a:solidFill>
                <a:latin typeface="Calibri" pitchFamily="34" charset="0"/>
                <a:ea typeface="Calibri" pitchFamily="34" charset="-122"/>
                <a:cs typeface="Calibri" pitchFamily="34" charset="-120"/>
              </a:rPr>
              <a:t>Plane, side and fat-suppression come from DICOM tags.</a:t>
            </a:r>
            <a:endParaRPr lang="en-US" sz="1700" dirty="0"/>
          </a:p>
        </p:txBody>
      </p:sp>
      <p:sp>
        <p:nvSpPr>
          <p:cNvPr id="11" name="badge-133"/>
          <p:cNvSpPr/>
          <p:nvPr/>
        </p:nvSpPr>
        <p:spPr>
          <a:xfrm>
            <a:off x="3429000" y="2770632"/>
            <a:ext cx="512064" cy="512064"/>
          </a:xfrm>
          <a:prstGeom prst="ellipse">
            <a:avLst/>
          </a:prstGeom>
          <a:solidFill>
            <a:srgbClr val="2B7BC4"/>
          </a:solid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134"/>
          <p:cNvSpPr txBox="1"/>
          <p:nvPr/>
        </p:nvSpPr>
        <p:spPr>
          <a:xfrm>
            <a:off x="4114800" y="2724912"/>
            <a:ext cx="3566160" cy="365760"/>
          </a:xfrm>
          <a:prstGeom prst="rect">
            <a:avLst/>
          </a:prstGeom>
          <a:noFill/>
          <a:ln/>
        </p:spPr>
        <p:txBody>
          <a:bodyPr wrap="square" lIns="0" tIns="0" rIns="0" bIns="0" rtlCol="0" anchor="t"/>
          <a:lstStyle/>
          <a:p>
            <a:pPr algn="l" indent="0" marL="0">
              <a:buNone/>
            </a:pPr>
            <a:r>
              <a:rPr lang="en-US" sz="2100" b="1" dirty="0">
                <a:solidFill>
                  <a:srgbClr val="0F2740"/>
                </a:solidFill>
                <a:latin typeface="Calibri" pitchFamily="34" charset="0"/>
                <a:ea typeface="Calibri" pitchFamily="34" charset="-122"/>
                <a:cs typeface="Calibri" pitchFamily="34" charset="-120"/>
              </a:rPr>
              <a:t>Fill six slots</a:t>
            </a:r>
            <a:endParaRPr lang="en-US" sz="2100" dirty="0"/>
          </a:p>
        </p:txBody>
      </p:sp>
      <p:sp>
        <p:nvSpPr>
          <p:cNvPr id="13" name="text-135"/>
          <p:cNvSpPr txBox="1"/>
          <p:nvPr/>
        </p:nvSpPr>
        <p:spPr>
          <a:xfrm>
            <a:off x="4114800" y="3118104"/>
            <a:ext cx="3566160" cy="640080"/>
          </a:xfrm>
          <a:prstGeom prst="rect">
            <a:avLst/>
          </a:prstGeom>
          <a:noFill/>
          <a:ln/>
        </p:spPr>
        <p:txBody>
          <a:bodyPr wrap="square" lIns="0" tIns="0" rIns="0" bIns="0" rtlCol="0" anchor="t"/>
          <a:lstStyle/>
          <a:p>
            <a:pPr algn="l" indent="0" marL="0">
              <a:buNone/>
            </a:pPr>
            <a:r>
              <a:rPr lang="en-US" sz="1700" dirty="0">
                <a:solidFill>
                  <a:srgbClr val="5C6B7A"/>
                </a:solidFill>
                <a:latin typeface="Calibri" pitchFamily="34" charset="0"/>
                <a:ea typeface="Calibri" pitchFamily="34" charset="-122"/>
                <a:cs typeface="Calibri" pitchFamily="34" charset="-120"/>
              </a:rPr>
              <a:t>Three planes × two sequence types.</a:t>
            </a:r>
            <a:endParaRPr lang="en-US" sz="1700" dirty="0"/>
          </a:p>
        </p:txBody>
      </p:sp>
      <p:sp>
        <p:nvSpPr>
          <p:cNvPr id="14" name="badge-136"/>
          <p:cNvSpPr/>
          <p:nvPr/>
        </p:nvSpPr>
        <p:spPr>
          <a:xfrm>
            <a:off x="3429000" y="3959352"/>
            <a:ext cx="512064" cy="512064"/>
          </a:xfrm>
          <a:prstGeom prst="ellipse">
            <a:avLst/>
          </a:prstGeom>
          <a:solidFill>
            <a:srgbClr val="2B7BC4"/>
          </a:solid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5" name="text-137"/>
          <p:cNvSpPr txBox="1"/>
          <p:nvPr/>
        </p:nvSpPr>
        <p:spPr>
          <a:xfrm>
            <a:off x="4114800" y="3913632"/>
            <a:ext cx="3566160" cy="365760"/>
          </a:xfrm>
          <a:prstGeom prst="rect">
            <a:avLst/>
          </a:prstGeom>
          <a:noFill/>
          <a:ln/>
        </p:spPr>
        <p:txBody>
          <a:bodyPr wrap="square" lIns="0" tIns="0" rIns="0" bIns="0" rtlCol="0" anchor="t"/>
          <a:lstStyle/>
          <a:p>
            <a:pPr algn="l" indent="0" marL="0">
              <a:buNone/>
            </a:pPr>
            <a:r>
              <a:rPr lang="en-US" sz="2100" b="1" dirty="0">
                <a:solidFill>
                  <a:srgbClr val="0F2740"/>
                </a:solidFill>
                <a:latin typeface="Calibri" pitchFamily="34" charset="0"/>
                <a:ea typeface="Calibri" pitchFamily="34" charset="-122"/>
                <a:cs typeface="Calibri" pitchFamily="34" charset="-120"/>
              </a:rPr>
              <a:t>Normalise</a:t>
            </a:r>
            <a:endParaRPr lang="en-US" sz="2100" dirty="0"/>
          </a:p>
        </p:txBody>
      </p:sp>
      <p:sp>
        <p:nvSpPr>
          <p:cNvPr id="16" name="text-138"/>
          <p:cNvSpPr txBox="1"/>
          <p:nvPr/>
        </p:nvSpPr>
        <p:spPr>
          <a:xfrm>
            <a:off x="4114800" y="4306824"/>
            <a:ext cx="3566160" cy="640080"/>
          </a:xfrm>
          <a:prstGeom prst="rect">
            <a:avLst/>
          </a:prstGeom>
          <a:noFill/>
          <a:ln/>
        </p:spPr>
        <p:txBody>
          <a:bodyPr wrap="square" lIns="0" tIns="0" rIns="0" bIns="0" rtlCol="0" anchor="t"/>
          <a:lstStyle/>
          <a:p>
            <a:pPr algn="l" indent="0" marL="0">
              <a:buNone/>
            </a:pPr>
            <a:r>
              <a:rPr lang="en-US" sz="1700" dirty="0">
                <a:solidFill>
                  <a:srgbClr val="5C6B7A"/>
                </a:solidFill>
                <a:latin typeface="Calibri" pitchFamily="34" charset="0"/>
                <a:ea typeface="Calibri" pitchFamily="34" charset="-122"/>
                <a:cs typeface="Calibri" pitchFamily="34" charset="-120"/>
              </a:rPr>
              <a:t>Flip right knees, crop about 130 mm, resize to 336 px.</a:t>
            </a:r>
            <a:endParaRPr lang="en-US" sz="1700" dirty="0"/>
          </a:p>
        </p:txBody>
      </p:sp>
      <p:sp>
        <p:nvSpPr>
          <p:cNvPr id="17" name="badge-139"/>
          <p:cNvSpPr/>
          <p:nvPr/>
        </p:nvSpPr>
        <p:spPr>
          <a:xfrm>
            <a:off x="3429000" y="5148072"/>
            <a:ext cx="512064" cy="512064"/>
          </a:xfrm>
          <a:prstGeom prst="ellipse">
            <a:avLst/>
          </a:prstGeom>
          <a:solidFill>
            <a:srgbClr val="2B7BC4"/>
          </a:solid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8" name="text-140"/>
          <p:cNvSpPr txBox="1"/>
          <p:nvPr/>
        </p:nvSpPr>
        <p:spPr>
          <a:xfrm>
            <a:off x="4114800" y="5102352"/>
            <a:ext cx="3566160" cy="365760"/>
          </a:xfrm>
          <a:prstGeom prst="rect">
            <a:avLst/>
          </a:prstGeom>
          <a:noFill/>
          <a:ln/>
        </p:spPr>
        <p:txBody>
          <a:bodyPr wrap="square" lIns="0" tIns="0" rIns="0" bIns="0" rtlCol="0" anchor="t"/>
          <a:lstStyle/>
          <a:p>
            <a:pPr algn="l" indent="0" marL="0">
              <a:buNone/>
            </a:pPr>
            <a:r>
              <a:rPr lang="en-US" sz="2100" b="1" dirty="0">
                <a:solidFill>
                  <a:srgbClr val="0F2740"/>
                </a:solidFill>
                <a:latin typeface="Calibri" pitchFamily="34" charset="0"/>
                <a:ea typeface="Calibri" pitchFamily="34" charset="-122"/>
                <a:cs typeface="Calibri" pitchFamily="34" charset="-120"/>
              </a:rPr>
              <a:t>Pick slices</a:t>
            </a:r>
            <a:endParaRPr lang="en-US" sz="2100" dirty="0"/>
          </a:p>
        </p:txBody>
      </p:sp>
      <p:sp>
        <p:nvSpPr>
          <p:cNvPr id="19" name="text-141"/>
          <p:cNvSpPr txBox="1"/>
          <p:nvPr/>
        </p:nvSpPr>
        <p:spPr>
          <a:xfrm>
            <a:off x="4114800" y="5495544"/>
            <a:ext cx="3566160" cy="640080"/>
          </a:xfrm>
          <a:prstGeom prst="rect">
            <a:avLst/>
          </a:prstGeom>
          <a:noFill/>
          <a:ln/>
        </p:spPr>
        <p:txBody>
          <a:bodyPr wrap="square" lIns="0" tIns="0" rIns="0" bIns="0" rtlCol="0" anchor="t"/>
          <a:lstStyle/>
          <a:p>
            <a:pPr algn="l" indent="0" marL="0">
              <a:buNone/>
            </a:pPr>
            <a:r>
              <a:rPr lang="en-US" sz="1700" dirty="0">
                <a:solidFill>
                  <a:srgbClr val="5C6B7A"/>
                </a:solidFill>
                <a:latin typeface="Calibri" pitchFamily="34" charset="0"/>
                <a:ea typeface="Calibri" pitchFamily="34" charset="-122"/>
                <a:cs typeface="Calibri" pitchFamily="34" charset="-120"/>
              </a:rPr>
              <a:t>12–16 slices per slot feed the encoders.</a:t>
            </a:r>
            <a:endParaRPr lang="en-US" sz="1700" dirty="0"/>
          </a:p>
        </p:txBody>
      </p:sp>
      <p:sp>
        <p:nvSpPr>
          <p:cNvPr id="20" name="card-142"/>
          <p:cNvSpPr/>
          <p:nvPr/>
        </p:nvSpPr>
        <p:spPr>
          <a:xfrm>
            <a:off x="8001000" y="1463040"/>
            <a:ext cx="3642055" cy="4800600"/>
          </a:xfrm>
          <a:prstGeom prst="roundRect">
            <a:avLst>
              <a:gd name="adj" fmla="val 3515"/>
            </a:avLst>
          </a:prstGeom>
          <a:solidFill>
            <a:srgbClr val="F2F6FA"/>
          </a:solidFill>
          <a:ln/>
        </p:spPr>
      </p:sp>
      <p:sp>
        <p:nvSpPr>
          <p:cNvPr id="21" name="text-143"/>
          <p:cNvSpPr txBox="1"/>
          <p:nvPr/>
        </p:nvSpPr>
        <p:spPr>
          <a:xfrm>
            <a:off x="8275320" y="1645920"/>
            <a:ext cx="3108960" cy="411480"/>
          </a:xfrm>
          <a:prstGeom prst="rect">
            <a:avLst/>
          </a:prstGeom>
          <a:noFill/>
          <a:ln/>
        </p:spPr>
        <p:txBody>
          <a:bodyPr wrap="square" lIns="0" tIns="0" rIns="0" bIns="0" rtlCol="0" anchor="t"/>
          <a:lstStyle/>
          <a:p>
            <a:pPr algn="l" indent="0" marL="0">
              <a:buNone/>
            </a:pPr>
            <a:r>
              <a:rPr lang="en-US" sz="2200" b="1" dirty="0">
                <a:solidFill>
                  <a:srgbClr val="0F2740"/>
                </a:solidFill>
                <a:latin typeface="Cambria" pitchFamily="34" charset="0"/>
                <a:ea typeface="Cambria" pitchFamily="34" charset="-122"/>
                <a:cs typeface="Cambria" pitchFamily="34" charset="-120"/>
              </a:rPr>
              <a:t>Six input slots</a:t>
            </a:r>
            <a:endParaRPr lang="en-US" sz="2200" dirty="0"/>
          </a:p>
        </p:txBody>
      </p:sp>
      <p:sp>
        <p:nvSpPr>
          <p:cNvPr id="22" name="text-144"/>
          <p:cNvSpPr txBox="1"/>
          <p:nvPr/>
        </p:nvSpPr>
        <p:spPr>
          <a:xfrm>
            <a:off x="9098280" y="2240280"/>
            <a:ext cx="777240" cy="274320"/>
          </a:xfrm>
          <a:prstGeom prst="rect">
            <a:avLst/>
          </a:prstGeom>
          <a:noFill/>
          <a:ln/>
        </p:spPr>
        <p:txBody>
          <a:bodyPr wrap="square" lIns="0" tIns="0" rIns="0" bIns="0" rtlCol="0" anchor="t"/>
          <a:lstStyle/>
          <a:p>
            <a:pPr algn="ctr" indent="0" marL="0">
              <a:buNone/>
            </a:pPr>
            <a:r>
              <a:rPr lang="en-US" sz="1300" b="1" dirty="0">
                <a:solidFill>
                  <a:srgbClr val="5C6B7A"/>
                </a:solidFill>
                <a:latin typeface="Calibri" pitchFamily="34" charset="0"/>
                <a:ea typeface="Calibri" pitchFamily="34" charset="-122"/>
                <a:cs typeface="Calibri" pitchFamily="34" charset="-120"/>
              </a:rPr>
              <a:t>Sagittal</a:t>
            </a:r>
            <a:endParaRPr lang="en-US" sz="1300" dirty="0"/>
          </a:p>
        </p:txBody>
      </p:sp>
      <p:sp>
        <p:nvSpPr>
          <p:cNvPr id="23" name="text-145"/>
          <p:cNvSpPr txBox="1"/>
          <p:nvPr/>
        </p:nvSpPr>
        <p:spPr>
          <a:xfrm>
            <a:off x="9921240" y="2240280"/>
            <a:ext cx="777240" cy="274320"/>
          </a:xfrm>
          <a:prstGeom prst="rect">
            <a:avLst/>
          </a:prstGeom>
          <a:noFill/>
          <a:ln/>
        </p:spPr>
        <p:txBody>
          <a:bodyPr wrap="square" lIns="0" tIns="0" rIns="0" bIns="0" rtlCol="0" anchor="t"/>
          <a:lstStyle/>
          <a:p>
            <a:pPr algn="ctr" indent="0" marL="0">
              <a:buNone/>
            </a:pPr>
            <a:r>
              <a:rPr lang="en-US" sz="1300" b="1" dirty="0">
                <a:solidFill>
                  <a:srgbClr val="5C6B7A"/>
                </a:solidFill>
                <a:latin typeface="Calibri" pitchFamily="34" charset="0"/>
                <a:ea typeface="Calibri" pitchFamily="34" charset="-122"/>
                <a:cs typeface="Calibri" pitchFamily="34" charset="-120"/>
              </a:rPr>
              <a:t>Coronal</a:t>
            </a:r>
            <a:endParaRPr lang="en-US" sz="1300" dirty="0"/>
          </a:p>
        </p:txBody>
      </p:sp>
      <p:sp>
        <p:nvSpPr>
          <p:cNvPr id="24" name="text-146"/>
          <p:cNvSpPr txBox="1"/>
          <p:nvPr/>
        </p:nvSpPr>
        <p:spPr>
          <a:xfrm>
            <a:off x="10744200" y="2240280"/>
            <a:ext cx="777240" cy="274320"/>
          </a:xfrm>
          <a:prstGeom prst="rect">
            <a:avLst/>
          </a:prstGeom>
          <a:noFill/>
          <a:ln/>
        </p:spPr>
        <p:txBody>
          <a:bodyPr wrap="square" lIns="0" tIns="0" rIns="0" bIns="0" rtlCol="0" anchor="t"/>
          <a:lstStyle/>
          <a:p>
            <a:pPr algn="ctr" indent="0" marL="0">
              <a:buNone/>
            </a:pPr>
            <a:r>
              <a:rPr lang="en-US" sz="1300" b="1" dirty="0">
                <a:solidFill>
                  <a:srgbClr val="5C6B7A"/>
                </a:solidFill>
                <a:latin typeface="Calibri" pitchFamily="34" charset="0"/>
                <a:ea typeface="Calibri" pitchFamily="34" charset="-122"/>
                <a:cs typeface="Calibri" pitchFamily="34" charset="-120"/>
              </a:rPr>
              <a:t>Axial</a:t>
            </a:r>
            <a:endParaRPr lang="en-US" sz="1300" dirty="0"/>
          </a:p>
        </p:txBody>
      </p:sp>
      <p:sp>
        <p:nvSpPr>
          <p:cNvPr id="25" name="text-147"/>
          <p:cNvSpPr txBox="1"/>
          <p:nvPr/>
        </p:nvSpPr>
        <p:spPr>
          <a:xfrm>
            <a:off x="8275320" y="2926080"/>
            <a:ext cx="822960" cy="274320"/>
          </a:xfrm>
          <a:prstGeom prst="rect">
            <a:avLst/>
          </a:prstGeom>
          <a:noFill/>
          <a:ln/>
        </p:spPr>
        <p:txBody>
          <a:bodyPr wrap="square" lIns="0" tIns="0" rIns="0" bIns="0" rtlCol="0" anchor="t"/>
          <a:lstStyle/>
          <a:p>
            <a:pPr algn="l" indent="0" marL="0">
              <a:buNone/>
            </a:pPr>
            <a:r>
              <a:rPr lang="en-US" sz="1300" dirty="0">
                <a:solidFill>
                  <a:srgbClr val="5C6B7A"/>
                </a:solidFill>
                <a:latin typeface="Calibri" pitchFamily="34" charset="0"/>
                <a:ea typeface="Calibri" pitchFamily="34" charset="-122"/>
                <a:cs typeface="Calibri" pitchFamily="34" charset="-120"/>
              </a:rPr>
              <a:t>fat-sat</a:t>
            </a:r>
            <a:endParaRPr lang="en-US" sz="1300" dirty="0"/>
          </a:p>
        </p:txBody>
      </p:sp>
      <p:sp>
        <p:nvSpPr>
          <p:cNvPr id="26" name="slot-148"/>
          <p:cNvSpPr/>
          <p:nvPr/>
        </p:nvSpPr>
        <p:spPr>
          <a:xfrm>
            <a:off x="9098280" y="2606040"/>
            <a:ext cx="749808" cy="804672"/>
          </a:xfrm>
          <a:prstGeom prst="roundRect">
            <a:avLst>
              <a:gd name="adj" fmla="val 12195"/>
            </a:avLst>
          </a:prstGeom>
          <a:solidFill>
            <a:srgbClr val="2B7BC4"/>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27" name="slot-149"/>
          <p:cNvSpPr/>
          <p:nvPr/>
        </p:nvSpPr>
        <p:spPr>
          <a:xfrm>
            <a:off x="9921240" y="2606040"/>
            <a:ext cx="749808" cy="804672"/>
          </a:xfrm>
          <a:prstGeom prst="roundRect">
            <a:avLst>
              <a:gd name="adj" fmla="val 12195"/>
            </a:avLst>
          </a:prstGeom>
          <a:solidFill>
            <a:srgbClr val="2B7BC4"/>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28" name="slot-150"/>
          <p:cNvSpPr/>
          <p:nvPr/>
        </p:nvSpPr>
        <p:spPr>
          <a:xfrm>
            <a:off x="10744200" y="2606040"/>
            <a:ext cx="749808" cy="804672"/>
          </a:xfrm>
          <a:prstGeom prst="roundRect">
            <a:avLst>
              <a:gd name="adj" fmla="val 12195"/>
            </a:avLst>
          </a:prstGeom>
          <a:solidFill>
            <a:srgbClr val="2B7BC4"/>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9" name="text-151"/>
          <p:cNvSpPr txBox="1"/>
          <p:nvPr/>
        </p:nvSpPr>
        <p:spPr>
          <a:xfrm>
            <a:off x="8275320" y="3840480"/>
            <a:ext cx="822960" cy="274320"/>
          </a:xfrm>
          <a:prstGeom prst="rect">
            <a:avLst/>
          </a:prstGeom>
          <a:noFill/>
          <a:ln/>
        </p:spPr>
        <p:txBody>
          <a:bodyPr wrap="square" lIns="0" tIns="0" rIns="0" bIns="0" rtlCol="0" anchor="t"/>
          <a:lstStyle/>
          <a:p>
            <a:pPr algn="l" indent="0" marL="0">
              <a:buNone/>
            </a:pPr>
            <a:r>
              <a:rPr lang="en-US" sz="1300" dirty="0">
                <a:solidFill>
                  <a:srgbClr val="5C6B7A"/>
                </a:solidFill>
                <a:latin typeface="Calibri" pitchFamily="34" charset="0"/>
                <a:ea typeface="Calibri" pitchFamily="34" charset="-122"/>
                <a:cs typeface="Calibri" pitchFamily="34" charset="-120"/>
              </a:rPr>
              <a:t>structural</a:t>
            </a:r>
            <a:endParaRPr lang="en-US" sz="1300" dirty="0"/>
          </a:p>
        </p:txBody>
      </p:sp>
      <p:sp>
        <p:nvSpPr>
          <p:cNvPr id="30" name="slot-152"/>
          <p:cNvSpPr/>
          <p:nvPr/>
        </p:nvSpPr>
        <p:spPr>
          <a:xfrm>
            <a:off x="9098280" y="3520440"/>
            <a:ext cx="749808" cy="804672"/>
          </a:xfrm>
          <a:prstGeom prst="roundRect">
            <a:avLst>
              <a:gd name="adj" fmla="val 12195"/>
            </a:avLst>
          </a:prstGeom>
          <a:solidFill>
            <a:srgbClr val="A9CBEA"/>
          </a:solidFill>
          <a:ln/>
        </p:spPr>
        <p:txBody>
          <a:bodyPr wrap="square" lIns="0" tIns="0" rIns="0" bIns="0" rtlCol="0" anchor="ctr"/>
          <a:lstStyle/>
          <a:p>
            <a:pPr algn="ctr" indent="0" marL="0">
              <a:buNone/>
            </a:pPr>
            <a:r>
              <a:rPr lang="en-US" sz="2200" b="1" dirty="0">
                <a:solidFill>
                  <a:srgbClr val="0F2740"/>
                </a:solidFill>
                <a:latin typeface="Cambria" pitchFamily="34" charset="0"/>
                <a:ea typeface="Cambria" pitchFamily="34" charset="-122"/>
                <a:cs typeface="Cambria" pitchFamily="34" charset="-120"/>
              </a:rPr>
              <a:t>4</a:t>
            </a:r>
            <a:endParaRPr lang="en-US" sz="2200" dirty="0"/>
          </a:p>
        </p:txBody>
      </p:sp>
      <p:sp>
        <p:nvSpPr>
          <p:cNvPr id="31" name="slot-153"/>
          <p:cNvSpPr/>
          <p:nvPr/>
        </p:nvSpPr>
        <p:spPr>
          <a:xfrm>
            <a:off x="9921240" y="3520440"/>
            <a:ext cx="749808" cy="804672"/>
          </a:xfrm>
          <a:prstGeom prst="roundRect">
            <a:avLst>
              <a:gd name="adj" fmla="val 12195"/>
            </a:avLst>
          </a:prstGeom>
          <a:solidFill>
            <a:srgbClr val="A9CBEA"/>
          </a:solidFill>
          <a:ln/>
        </p:spPr>
        <p:txBody>
          <a:bodyPr wrap="square" lIns="0" tIns="0" rIns="0" bIns="0" rtlCol="0" anchor="ctr"/>
          <a:lstStyle/>
          <a:p>
            <a:pPr algn="ctr" indent="0" marL="0">
              <a:buNone/>
            </a:pPr>
            <a:r>
              <a:rPr lang="en-US" sz="2200" b="1" dirty="0">
                <a:solidFill>
                  <a:srgbClr val="0F2740"/>
                </a:solidFill>
                <a:latin typeface="Cambria" pitchFamily="34" charset="0"/>
                <a:ea typeface="Cambria" pitchFamily="34" charset="-122"/>
                <a:cs typeface="Cambria" pitchFamily="34" charset="-120"/>
              </a:rPr>
              <a:t>5</a:t>
            </a:r>
            <a:endParaRPr lang="en-US" sz="2200" dirty="0"/>
          </a:p>
        </p:txBody>
      </p:sp>
      <p:sp>
        <p:nvSpPr>
          <p:cNvPr id="32" name="slot-154"/>
          <p:cNvSpPr/>
          <p:nvPr/>
        </p:nvSpPr>
        <p:spPr>
          <a:xfrm>
            <a:off x="10744200" y="3520440"/>
            <a:ext cx="749808" cy="804672"/>
          </a:xfrm>
          <a:prstGeom prst="roundRect">
            <a:avLst>
              <a:gd name="adj" fmla="val 12195"/>
            </a:avLst>
          </a:prstGeom>
          <a:solidFill>
            <a:srgbClr val="A9CBEA"/>
          </a:solidFill>
          <a:ln/>
        </p:spPr>
        <p:txBody>
          <a:bodyPr wrap="square" lIns="0" tIns="0" rIns="0" bIns="0" rtlCol="0" anchor="ctr"/>
          <a:lstStyle/>
          <a:p>
            <a:pPr algn="ctr" indent="0" marL="0">
              <a:buNone/>
            </a:pPr>
            <a:r>
              <a:rPr lang="en-US" sz="2200" b="1" dirty="0">
                <a:solidFill>
                  <a:srgbClr val="0F2740"/>
                </a:solidFill>
                <a:latin typeface="Cambria" pitchFamily="34" charset="0"/>
                <a:ea typeface="Cambria" pitchFamily="34" charset="-122"/>
                <a:cs typeface="Cambria" pitchFamily="34" charset="-120"/>
              </a:rPr>
              <a:t>6</a:t>
            </a:r>
            <a:endParaRPr lang="en-US" sz="2200" dirty="0"/>
          </a:p>
        </p:txBody>
      </p:sp>
      <p:sp>
        <p:nvSpPr>
          <p:cNvPr id="33" name="text-155"/>
          <p:cNvSpPr txBox="1"/>
          <p:nvPr/>
        </p:nvSpPr>
        <p:spPr>
          <a:xfrm>
            <a:off x="8275320" y="4663440"/>
            <a:ext cx="3154680" cy="640080"/>
          </a:xfrm>
          <a:prstGeom prst="rect">
            <a:avLst/>
          </a:prstGeom>
          <a:noFill/>
          <a:ln/>
        </p:spPr>
        <p:txBody>
          <a:bodyPr wrap="square" lIns="0" tIns="0" rIns="0" bIns="0" rtlCol="0" anchor="t"/>
          <a:lstStyle/>
          <a:p>
            <a:pPr algn="l" indent="0" marL="0">
              <a:buNone/>
            </a:pPr>
            <a:r>
              <a:rPr lang="en-US" sz="1700" b="1" dirty="0">
                <a:solidFill>
                  <a:srgbClr val="0F2740"/>
                </a:solidFill>
                <a:latin typeface="Calibri" pitchFamily="34" charset="0"/>
                <a:ea typeface="Calibri" pitchFamily="34" charset="-122"/>
                <a:cs typeface="Calibri" pitchFamily="34" charset="-120"/>
              </a:rPr>
              <a:t>A missing slot is masked, never invented.</a:t>
            </a:r>
            <a:endParaRPr lang="en-US" sz="1700" dirty="0"/>
          </a:p>
        </p:txBody>
      </p:sp>
      <p:sp>
        <p:nvSpPr>
          <p:cNvPr id="34" name="text-156"/>
          <p:cNvSpPr txBox="1"/>
          <p:nvPr/>
        </p:nvSpPr>
        <p:spPr>
          <a:xfrm>
            <a:off x="8275320" y="5349240"/>
            <a:ext cx="3154680" cy="73152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Each model family then reads its own resolution and slice window (Appendix B).</a:t>
            </a:r>
            <a:endParaRPr lang="en-US" sz="14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2a · DINO transformers read the slices</a:t>
            </a:r>
            <a:endParaRPr lang="en-US" sz="3400" dirty="0"/>
          </a:p>
        </p:txBody>
      </p:sp>
      <p:sp>
        <p:nvSpPr>
          <p:cNvPr id="3" name="chev-157"/>
          <p:cNvSpPr/>
          <p:nvPr/>
        </p:nvSpPr>
        <p:spPr>
          <a:xfrm>
            <a:off x="548640" y="246888"/>
            <a:ext cx="137160" cy="201168"/>
          </a:xfrm>
          <a:prstGeom prst="chevron">
            <a:avLst/>
          </a:prstGeom>
          <a:solidFill>
            <a:srgbClr val="E0690C"/>
          </a:solidFill>
          <a:ln/>
        </p:spPr>
      </p:sp>
      <p:sp>
        <p:nvSpPr>
          <p:cNvPr id="4" name="text-158"/>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METHOD</a:t>
            </a:r>
            <a:endParaRPr lang="en-US" sz="1200" dirty="0"/>
          </a:p>
        </p:txBody>
      </p:sp>
      <p:sp>
        <p:nvSpPr>
          <p:cNvPr id="6" name="card-159"/>
          <p:cNvSpPr/>
          <p:nvPr/>
        </p:nvSpPr>
        <p:spPr>
          <a:xfrm>
            <a:off x="548640" y="1463040"/>
            <a:ext cx="8001000" cy="4114800"/>
          </a:xfrm>
          <a:prstGeom prst="roundRect">
            <a:avLst>
              <a:gd name="adj" fmla="val 3111"/>
            </a:avLst>
          </a:prstGeom>
          <a:solidFill>
            <a:srgbClr val="FFFFFF"/>
          </a:solidFill>
          <a:ln w="9525">
            <a:solidFill>
              <a:srgbClr val="D5DEE7"/>
            </a:solidFill>
            <a:prstDash val="solid"/>
          </a:ln>
        </p:spPr>
      </p:sp>
      <p:pic>
        <p:nvPicPr>
          <p:cNvPr id="7" name="img-160" descr="DINOv2 and DINOv3 ViT backbone with slot attention head">    </p:cNvPr>
          <p:cNvPicPr>
            <a:picLocks noChangeAspect="1"/>
          </p:cNvPicPr>
          <p:nvPr/>
        </p:nvPicPr>
        <p:blipFill>
          <a:blip r:embed="rId1"/>
          <a:stretch>
            <a:fillRect/>
          </a:stretch>
        </p:blipFill>
        <p:spPr>
          <a:xfrm>
            <a:off x="662940" y="1577340"/>
            <a:ext cx="7772400" cy="3886200"/>
          </a:xfrm>
          <a:prstGeom prst="rect">
            <a:avLst/>
          </a:prstGeom>
        </p:spPr>
      </p:pic>
      <p:sp>
        <p:nvSpPr>
          <p:cNvPr id="8" name="text-161"/>
          <p:cNvSpPr txBox="1"/>
          <p:nvPr/>
        </p:nvSpPr>
        <p:spPr>
          <a:xfrm>
            <a:off x="548640" y="5715000"/>
            <a:ext cx="8001000" cy="640080"/>
          </a:xfrm>
          <a:prstGeom prst="rect">
            <a:avLst/>
          </a:prstGeom>
          <a:noFill/>
          <a:ln/>
        </p:spPr>
        <p:txBody>
          <a:bodyPr wrap="square" lIns="0" tIns="0" rIns="0" bIns="0" rtlCol="0" anchor="t"/>
          <a:lstStyle/>
          <a:p>
            <a:pPr algn="l" indent="0" marL="0">
              <a:buNone/>
            </a:pPr>
            <a:r>
              <a:rPr lang="en-US" sz="1800" dirty="0">
                <a:solidFill>
                  <a:srgbClr val="0F2740"/>
                </a:solidFill>
                <a:latin typeface="Calibri" pitchFamily="34" charset="0"/>
                <a:ea typeface="Calibri" pitchFamily="34" charset="-122"/>
                <a:cs typeface="Calibri" pitchFamily="34" charset="-120"/>
              </a:rPr>
              <a:t>Slices become patches, attention finds the key regions, and a slot head lets each finding pick its best view.</a:t>
            </a:r>
            <a:endParaRPr lang="en-US" sz="1800" dirty="0"/>
          </a:p>
        </p:txBody>
      </p:sp>
      <p:sp>
        <p:nvSpPr>
          <p:cNvPr id="9" name="card-162"/>
          <p:cNvSpPr/>
          <p:nvPr/>
        </p:nvSpPr>
        <p:spPr>
          <a:xfrm>
            <a:off x="8778240" y="1463040"/>
            <a:ext cx="2864815" cy="1463040"/>
          </a:xfrm>
          <a:prstGeom prst="roundRect">
            <a:avLst>
              <a:gd name="adj" fmla="val 8750"/>
            </a:avLst>
          </a:prstGeom>
          <a:solidFill>
            <a:srgbClr val="F2F6FA"/>
          </a:solidFill>
          <a:ln/>
        </p:spPr>
      </p:sp>
      <p:sp>
        <p:nvSpPr>
          <p:cNvPr id="10" name="text-163"/>
          <p:cNvSpPr txBox="1"/>
          <p:nvPr/>
        </p:nvSpPr>
        <p:spPr>
          <a:xfrm>
            <a:off x="9006840" y="1572768"/>
            <a:ext cx="2468880" cy="640080"/>
          </a:xfrm>
          <a:prstGeom prst="rect">
            <a:avLst/>
          </a:prstGeom>
          <a:noFill/>
          <a:ln/>
        </p:spPr>
        <p:txBody>
          <a:bodyPr wrap="square" lIns="0" tIns="0" rIns="0" bIns="0" rtlCol="0" anchor="t"/>
          <a:lstStyle/>
          <a:p>
            <a:pPr algn="l" indent="0" marL="0">
              <a:buNone/>
            </a:pPr>
            <a:r>
              <a:rPr lang="en-US" sz="4200" b="1" dirty="0">
                <a:solidFill>
                  <a:srgbClr val="2B7BC4"/>
                </a:solidFill>
                <a:latin typeface="Cambria" pitchFamily="34" charset="0"/>
                <a:ea typeface="Cambria" pitchFamily="34" charset="-122"/>
                <a:cs typeface="Cambria" pitchFamily="34" charset="-120"/>
              </a:rPr>
              <a:t>25</a:t>
            </a:r>
            <a:endParaRPr lang="en-US" sz="4200" dirty="0"/>
          </a:p>
        </p:txBody>
      </p:sp>
      <p:sp>
        <p:nvSpPr>
          <p:cNvPr id="11" name="text-164"/>
          <p:cNvSpPr txBox="1"/>
          <p:nvPr/>
        </p:nvSpPr>
        <p:spPr>
          <a:xfrm>
            <a:off x="9006840" y="2267712"/>
            <a:ext cx="2468880" cy="59436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ViT-S models: 20 DINOv2 members + 5 DINOv3 folds</a:t>
            </a:r>
            <a:endParaRPr lang="en-US" sz="1400" dirty="0"/>
          </a:p>
        </p:txBody>
      </p:sp>
      <p:sp>
        <p:nvSpPr>
          <p:cNvPr id="12" name="card-165"/>
          <p:cNvSpPr/>
          <p:nvPr/>
        </p:nvSpPr>
        <p:spPr>
          <a:xfrm>
            <a:off x="8778240" y="3108960"/>
            <a:ext cx="2864815" cy="1463040"/>
          </a:xfrm>
          <a:prstGeom prst="roundRect">
            <a:avLst>
              <a:gd name="adj" fmla="val 8750"/>
            </a:avLst>
          </a:prstGeom>
          <a:solidFill>
            <a:srgbClr val="F2F6FA"/>
          </a:solidFill>
          <a:ln/>
        </p:spPr>
      </p:sp>
      <p:sp>
        <p:nvSpPr>
          <p:cNvPr id="13" name="text-166"/>
          <p:cNvSpPr txBox="1"/>
          <p:nvPr/>
        </p:nvSpPr>
        <p:spPr>
          <a:xfrm>
            <a:off x="9006840" y="3218688"/>
            <a:ext cx="2468880" cy="640080"/>
          </a:xfrm>
          <a:prstGeom prst="rect">
            <a:avLst/>
          </a:prstGeom>
          <a:noFill/>
          <a:ln/>
        </p:spPr>
        <p:txBody>
          <a:bodyPr wrap="square" lIns="0" tIns="0" rIns="0" bIns="0" rtlCol="0" anchor="t"/>
          <a:lstStyle/>
          <a:p>
            <a:pPr algn="l" indent="0" marL="0">
              <a:buNone/>
            </a:pPr>
            <a:r>
              <a:rPr lang="en-US" sz="4200" b="1" dirty="0">
                <a:solidFill>
                  <a:srgbClr val="2B7BC4"/>
                </a:solidFill>
                <a:latin typeface="Cambria" pitchFamily="34" charset="0"/>
                <a:ea typeface="Cambria" pitchFamily="34" charset="-122"/>
                <a:cs typeface="Cambria" pitchFamily="34" charset="-120"/>
              </a:rPr>
              <a:t>6</a:t>
            </a:r>
            <a:endParaRPr lang="en-US" sz="4200" dirty="0"/>
          </a:p>
        </p:txBody>
      </p:sp>
      <p:sp>
        <p:nvSpPr>
          <p:cNvPr id="14" name="text-167"/>
          <p:cNvSpPr txBox="1"/>
          <p:nvPr/>
        </p:nvSpPr>
        <p:spPr>
          <a:xfrm>
            <a:off x="9006840" y="3913632"/>
            <a:ext cx="2468880" cy="59436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view slots per exam, missing ones masked</a:t>
            </a:r>
            <a:endParaRPr lang="en-US" sz="1400" dirty="0"/>
          </a:p>
        </p:txBody>
      </p:sp>
      <p:sp>
        <p:nvSpPr>
          <p:cNvPr id="15" name="card-168"/>
          <p:cNvSpPr/>
          <p:nvPr/>
        </p:nvSpPr>
        <p:spPr>
          <a:xfrm>
            <a:off x="8778240" y="4754880"/>
            <a:ext cx="2864815" cy="1463040"/>
          </a:xfrm>
          <a:prstGeom prst="roundRect">
            <a:avLst>
              <a:gd name="adj" fmla="val 8750"/>
            </a:avLst>
          </a:prstGeom>
          <a:solidFill>
            <a:srgbClr val="F2F6FA"/>
          </a:solidFill>
          <a:ln/>
        </p:spPr>
      </p:sp>
      <p:sp>
        <p:nvSpPr>
          <p:cNvPr id="16" name="text-169"/>
          <p:cNvSpPr txBox="1"/>
          <p:nvPr/>
        </p:nvSpPr>
        <p:spPr>
          <a:xfrm>
            <a:off x="9006840" y="4864608"/>
            <a:ext cx="2468880" cy="640080"/>
          </a:xfrm>
          <a:prstGeom prst="rect">
            <a:avLst/>
          </a:prstGeom>
          <a:noFill/>
          <a:ln/>
        </p:spPr>
        <p:txBody>
          <a:bodyPr wrap="square" lIns="0" tIns="0" rIns="0" bIns="0" rtlCol="0" anchor="t"/>
          <a:lstStyle/>
          <a:p>
            <a:pPr algn="l" indent="0" marL="0">
              <a:buNone/>
            </a:pPr>
            <a:r>
              <a:rPr lang="en-US" sz="4200" b="1" dirty="0">
                <a:solidFill>
                  <a:srgbClr val="2B7BC4"/>
                </a:solidFill>
                <a:latin typeface="Cambria" pitchFamily="34" charset="0"/>
                <a:ea typeface="Cambria" pitchFamily="34" charset="-122"/>
                <a:cs typeface="Cambria" pitchFamily="34" charset="-120"/>
              </a:rPr>
              <a:t>0.45</a:t>
            </a:r>
            <a:endParaRPr lang="en-US" sz="4200" dirty="0"/>
          </a:p>
        </p:txBody>
      </p:sp>
      <p:sp>
        <p:nvSpPr>
          <p:cNvPr id="17" name="text-170"/>
          <p:cNvSpPr txBox="1"/>
          <p:nvPr/>
        </p:nvSpPr>
        <p:spPr>
          <a:xfrm>
            <a:off x="9006840" y="5559552"/>
            <a:ext cx="2468880" cy="59436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weight of the DINOv3 folds in the blend</a:t>
            </a:r>
            <a:endParaRPr lang="en-US" sz="14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2b · RadImageNet and CoAtNet branches</a:t>
            </a:r>
            <a:endParaRPr lang="en-US" sz="3400" dirty="0"/>
          </a:p>
        </p:txBody>
      </p:sp>
      <p:sp>
        <p:nvSpPr>
          <p:cNvPr id="3" name="chev-171"/>
          <p:cNvSpPr/>
          <p:nvPr/>
        </p:nvSpPr>
        <p:spPr>
          <a:xfrm>
            <a:off x="548640" y="246888"/>
            <a:ext cx="137160" cy="201168"/>
          </a:xfrm>
          <a:prstGeom prst="chevron">
            <a:avLst/>
          </a:prstGeom>
          <a:solidFill>
            <a:srgbClr val="E0690C"/>
          </a:solidFill>
          <a:ln/>
        </p:spPr>
      </p:sp>
      <p:sp>
        <p:nvSpPr>
          <p:cNvPr id="4" name="text-172"/>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METHOD</a:t>
            </a:r>
            <a:endParaRPr lang="en-US" sz="1200" dirty="0"/>
          </a:p>
        </p:txBody>
      </p:sp>
      <p:sp>
        <p:nvSpPr>
          <p:cNvPr id="6" name="card-173"/>
          <p:cNvSpPr/>
          <p:nvPr/>
        </p:nvSpPr>
        <p:spPr>
          <a:xfrm>
            <a:off x="548640" y="1463040"/>
            <a:ext cx="5943600" cy="4800600"/>
          </a:xfrm>
          <a:prstGeom prst="roundRect">
            <a:avLst>
              <a:gd name="adj" fmla="val 2667"/>
            </a:avLst>
          </a:prstGeom>
          <a:solidFill>
            <a:srgbClr val="FFFFFF"/>
          </a:solidFill>
          <a:ln w="9525">
            <a:solidFill>
              <a:srgbClr val="D5DEE7"/>
            </a:solidFill>
            <a:prstDash val="solid"/>
          </a:ln>
        </p:spPr>
      </p:sp>
      <p:pic>
        <p:nvPicPr>
          <p:cNvPr id="7" name="img-174" descr="RadImageNet CNN and CoAtNet hybrid branches from the architecture figure">    </p:cNvPr>
          <p:cNvPicPr>
            <a:picLocks noChangeAspect="1"/>
          </p:cNvPicPr>
          <p:nvPr/>
        </p:nvPicPr>
        <p:blipFill>
          <a:blip r:embed="rId1"/>
          <a:stretch>
            <a:fillRect/>
          </a:stretch>
        </p:blipFill>
        <p:spPr>
          <a:xfrm>
            <a:off x="662940" y="1533959"/>
            <a:ext cx="5715000" cy="4658762"/>
          </a:xfrm>
          <a:prstGeom prst="rect">
            <a:avLst/>
          </a:prstGeom>
        </p:spPr>
      </p:pic>
      <p:sp>
        <p:nvSpPr>
          <p:cNvPr id="8" name="hl-175"/>
          <p:cNvSpPr/>
          <p:nvPr/>
        </p:nvSpPr>
        <p:spPr>
          <a:xfrm>
            <a:off x="5133089" y="5400543"/>
            <a:ext cx="1225990" cy="754455"/>
          </a:xfrm>
          <a:prstGeom prst="roundRect">
            <a:avLst>
              <a:gd name="adj" fmla="val 9696"/>
            </a:avLst>
          </a:prstGeom>
          <a:ln w="31750">
            <a:solidFill>
              <a:srgbClr val="E0690C"/>
            </a:solidFill>
            <a:prstDash val="solid"/>
          </a:ln>
        </p:spPr>
      </p:sp>
      <p:sp>
        <p:nvSpPr>
          <p:cNvPr id="9" name="badge-176"/>
          <p:cNvSpPr/>
          <p:nvPr/>
        </p:nvSpPr>
        <p:spPr>
          <a:xfrm>
            <a:off x="6176199" y="5126223"/>
            <a:ext cx="329184" cy="329184"/>
          </a:xfrm>
          <a:prstGeom prst="ellipse">
            <a:avLst/>
          </a:prstGeom>
          <a:solidFill>
            <a:srgbClr val="E0690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G</a:t>
            </a:r>
            <a:endParaRPr lang="en-US" sz="1300" dirty="0"/>
          </a:p>
        </p:txBody>
      </p:sp>
      <p:sp>
        <p:nvSpPr>
          <p:cNvPr id="10" name="card-177"/>
          <p:cNvSpPr/>
          <p:nvPr/>
        </p:nvSpPr>
        <p:spPr>
          <a:xfrm>
            <a:off x="6720840" y="1463040"/>
            <a:ext cx="4922215" cy="2286000"/>
          </a:xfrm>
          <a:prstGeom prst="roundRect">
            <a:avLst>
              <a:gd name="adj" fmla="val 5600"/>
            </a:avLst>
          </a:prstGeom>
          <a:solidFill>
            <a:srgbClr val="F2F6FA"/>
          </a:solidFill>
          <a:ln/>
        </p:spPr>
      </p:sp>
      <p:sp>
        <p:nvSpPr>
          <p:cNvPr id="11" name="dot-178"/>
          <p:cNvSpPr/>
          <p:nvPr/>
        </p:nvSpPr>
        <p:spPr>
          <a:xfrm>
            <a:off x="6995160" y="1719072"/>
            <a:ext cx="658368" cy="658368"/>
          </a:xfrm>
          <a:prstGeom prst="ellipse">
            <a:avLst/>
          </a:prstGeom>
          <a:solidFill>
            <a:srgbClr val="2E9E6B"/>
          </a:solidFill>
          <a:ln/>
        </p:spPr>
      </p:sp>
      <p:pic>
        <p:nvPicPr>
          <p:cNvPr id="12" name="icon-179" descr="icon">    </p:cNvPr>
          <p:cNvPicPr>
            <a:picLocks noChangeAspect="1"/>
          </p:cNvPicPr>
          <p:nvPr/>
        </p:nvPicPr>
        <p:blipFill>
          <a:blip r:embed="rId2"/>
          <a:stretch>
            <a:fillRect/>
          </a:stretch>
        </p:blipFill>
        <p:spPr>
          <a:xfrm>
            <a:off x="7172919" y="1896831"/>
            <a:ext cx="302849" cy="302849"/>
          </a:xfrm>
          <a:prstGeom prst="rect">
            <a:avLst/>
          </a:prstGeom>
        </p:spPr>
      </p:pic>
      <p:sp>
        <p:nvSpPr>
          <p:cNvPr id="13" name="text-180"/>
          <p:cNvSpPr txBox="1"/>
          <p:nvPr/>
        </p:nvSpPr>
        <p:spPr>
          <a:xfrm>
            <a:off x="7818120" y="1783080"/>
            <a:ext cx="3657600" cy="502920"/>
          </a:xfrm>
          <a:prstGeom prst="rect">
            <a:avLst/>
          </a:prstGeom>
          <a:noFill/>
          <a:ln/>
        </p:spPr>
        <p:txBody>
          <a:bodyPr wrap="square" lIns="0" tIns="0" rIns="0" bIns="0" rtlCol="0" anchor="ctr"/>
          <a:lstStyle/>
          <a:p>
            <a:pPr algn="l" indent="0" marL="0">
              <a:buNone/>
            </a:pPr>
            <a:r>
              <a:rPr lang="en-US" sz="2200" b="1" dirty="0">
                <a:solidFill>
                  <a:srgbClr val="0F2740"/>
                </a:solidFill>
                <a:latin typeface="Calibri" pitchFamily="34" charset="0"/>
                <a:ea typeface="Calibri" pitchFamily="34" charset="-122"/>
                <a:cs typeface="Calibri" pitchFamily="34" charset="-120"/>
              </a:rPr>
              <a:t>RadImageNet ResNet-50</a:t>
            </a:r>
            <a:endParaRPr lang="en-US" sz="2200" dirty="0"/>
          </a:p>
        </p:txBody>
      </p:sp>
      <p:sp>
        <p:nvSpPr>
          <p:cNvPr id="14" name="Text 9"/>
          <p:cNvSpPr txBox="1"/>
          <p:nvPr/>
        </p:nvSpPr>
        <p:spPr>
          <a:xfrm>
            <a:off x="7040880" y="2560320"/>
            <a:ext cx="4389120" cy="1097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4253A"/>
                </a:solidFill>
                <a:latin typeface="Calibri" pitchFamily="34" charset="0"/>
                <a:ea typeface="Calibri" pitchFamily="34" charset="-122"/>
                <a:cs typeface="Calibri" pitchFamily="34" charset="-120"/>
              </a:rPr>
              <a:t>A CNN pretrained on radiology images, not photos.</a:t>
            </a:r>
            <a:endParaRPr lang="en-US" sz="1600" dirty="0"/>
          </a:p>
          <a:p>
            <a:pPr marL="228600" indent="-228600">
              <a:spcAft>
                <a:spcPts val="800"/>
              </a:spcAft>
              <a:buSzPct val="100000"/>
              <a:buChar char="•"/>
            </a:pPr>
            <a:r>
              <a:rPr lang="en-US" sz="1600" dirty="0">
                <a:solidFill>
                  <a:srgbClr val="14253A"/>
                </a:solidFill>
                <a:latin typeface="Calibri" pitchFamily="34" charset="0"/>
                <a:ea typeface="Calibri" pitchFamily="34" charset="-122"/>
                <a:cs typeface="Calibri" pitchFamily="34" charset="-120"/>
              </a:rPr>
              <a:t>Attention heads and a frozen calibrator turn features into scores.</a:t>
            </a:r>
            <a:endParaRPr lang="en-US" sz="1600" dirty="0"/>
          </a:p>
        </p:txBody>
      </p:sp>
      <p:sp>
        <p:nvSpPr>
          <p:cNvPr id="15" name="card-181"/>
          <p:cNvSpPr/>
          <p:nvPr/>
        </p:nvSpPr>
        <p:spPr>
          <a:xfrm>
            <a:off x="6720840" y="3931920"/>
            <a:ext cx="4922215" cy="2286000"/>
          </a:xfrm>
          <a:prstGeom prst="roundRect">
            <a:avLst>
              <a:gd name="adj" fmla="val 5600"/>
            </a:avLst>
          </a:prstGeom>
          <a:solidFill>
            <a:srgbClr val="F2F6FA"/>
          </a:solidFill>
          <a:ln/>
        </p:spPr>
      </p:sp>
      <p:sp>
        <p:nvSpPr>
          <p:cNvPr id="16" name="dot-182"/>
          <p:cNvSpPr/>
          <p:nvPr/>
        </p:nvSpPr>
        <p:spPr>
          <a:xfrm>
            <a:off x="6995160" y="4187952"/>
            <a:ext cx="658368" cy="658368"/>
          </a:xfrm>
          <a:prstGeom prst="ellipse">
            <a:avLst/>
          </a:prstGeom>
          <a:solidFill>
            <a:srgbClr val="A24BA0"/>
          </a:solidFill>
          <a:ln/>
        </p:spPr>
      </p:sp>
      <p:pic>
        <p:nvPicPr>
          <p:cNvPr id="17" name="icon-183" descr="icon">    </p:cNvPr>
          <p:cNvPicPr>
            <a:picLocks noChangeAspect="1"/>
          </p:cNvPicPr>
          <p:nvPr/>
        </p:nvPicPr>
        <p:blipFill>
          <a:blip r:embed="rId3"/>
          <a:stretch>
            <a:fillRect/>
          </a:stretch>
        </p:blipFill>
        <p:spPr>
          <a:xfrm>
            <a:off x="7172919" y="4365711"/>
            <a:ext cx="302849" cy="302849"/>
          </a:xfrm>
          <a:prstGeom prst="rect">
            <a:avLst/>
          </a:prstGeom>
        </p:spPr>
      </p:pic>
      <p:sp>
        <p:nvSpPr>
          <p:cNvPr id="18" name="text-184"/>
          <p:cNvSpPr txBox="1"/>
          <p:nvPr/>
        </p:nvSpPr>
        <p:spPr>
          <a:xfrm>
            <a:off x="7818120" y="4251960"/>
            <a:ext cx="3657600" cy="502920"/>
          </a:xfrm>
          <a:prstGeom prst="rect">
            <a:avLst/>
          </a:prstGeom>
          <a:noFill/>
          <a:ln/>
        </p:spPr>
        <p:txBody>
          <a:bodyPr wrap="square" lIns="0" tIns="0" rIns="0" bIns="0" rtlCol="0" anchor="ctr"/>
          <a:lstStyle/>
          <a:p>
            <a:pPr algn="l" indent="0" marL="0">
              <a:buNone/>
            </a:pPr>
            <a:r>
              <a:rPr lang="en-US" sz="2200" b="1" dirty="0">
                <a:solidFill>
                  <a:srgbClr val="0F2740"/>
                </a:solidFill>
                <a:latin typeface="Calibri" pitchFamily="34" charset="0"/>
                <a:ea typeface="Calibri" pitchFamily="34" charset="-122"/>
                <a:cs typeface="Calibri" pitchFamily="34" charset="-120"/>
              </a:rPr>
              <a:t>CoAtNet hybrid</a:t>
            </a:r>
            <a:endParaRPr lang="en-US" sz="2200" dirty="0"/>
          </a:p>
        </p:txBody>
      </p:sp>
      <p:sp>
        <p:nvSpPr>
          <p:cNvPr id="19" name="Text 13"/>
          <p:cNvSpPr txBox="1"/>
          <p:nvPr/>
        </p:nvSpPr>
        <p:spPr>
          <a:xfrm>
            <a:off x="7040880" y="5029200"/>
            <a:ext cx="4389120" cy="1097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4253A"/>
                </a:solidFill>
                <a:latin typeface="Calibri" pitchFamily="34" charset="0"/>
                <a:ea typeface="Calibri" pitchFamily="34" charset="-122"/>
                <a:cs typeface="Calibri" pitchFamily="34" charset="-120"/>
              </a:rPr>
              <a:t>Convolution plus self-attention over four views.</a:t>
            </a:r>
            <a:endParaRPr lang="en-US" sz="1600" dirty="0"/>
          </a:p>
          <a:p>
            <a:pPr marL="228600" indent="-228600">
              <a:spcAft>
                <a:spcPts val="800"/>
              </a:spcAft>
              <a:buSzPct val="100000"/>
              <a:buChar char="•"/>
            </a:pPr>
            <a:r>
              <a:rPr lang="en-US" sz="1600" dirty="0">
                <a:solidFill>
                  <a:srgbClr val="14253A"/>
                </a:solidFill>
                <a:latin typeface="Calibri" pitchFamily="34" charset="0"/>
                <a:ea typeface="Calibri" pitchFamily="34" charset="-122"/>
                <a:cs typeface="Calibri" pitchFamily="34" charset="-120"/>
              </a:rPr>
              <a:t>A residual CoAtNet and brightness averaging (0.9 / 1.0 / 1.1) refine it.</a:t>
            </a:r>
            <a:endParaRPr lang="en-US" sz="16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3 · Rank fusion: three branches, 12 scores</a:t>
            </a:r>
            <a:endParaRPr lang="en-US" sz="3400" dirty="0"/>
          </a:p>
        </p:txBody>
      </p:sp>
      <p:sp>
        <p:nvSpPr>
          <p:cNvPr id="3" name="chev-185"/>
          <p:cNvSpPr/>
          <p:nvPr/>
        </p:nvSpPr>
        <p:spPr>
          <a:xfrm>
            <a:off x="548640" y="246888"/>
            <a:ext cx="137160" cy="201168"/>
          </a:xfrm>
          <a:prstGeom prst="chevron">
            <a:avLst/>
          </a:prstGeom>
          <a:solidFill>
            <a:srgbClr val="E0690C"/>
          </a:solidFill>
          <a:ln/>
        </p:spPr>
      </p:sp>
      <p:sp>
        <p:nvSpPr>
          <p:cNvPr id="4" name="text-186"/>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METHOD</a:t>
            </a:r>
            <a:endParaRPr lang="en-US" sz="1200" dirty="0"/>
          </a:p>
        </p:txBody>
      </p:sp>
      <p:sp>
        <p:nvSpPr>
          <p:cNvPr id="6" name="card-187"/>
          <p:cNvSpPr/>
          <p:nvPr/>
        </p:nvSpPr>
        <p:spPr>
          <a:xfrm>
            <a:off x="548640" y="1463040"/>
            <a:ext cx="4804712" cy="4846320"/>
          </a:xfrm>
          <a:prstGeom prst="roundRect">
            <a:avLst>
              <a:gd name="adj" fmla="val 2664"/>
            </a:avLst>
          </a:prstGeom>
          <a:solidFill>
            <a:srgbClr val="FFFFFF"/>
          </a:solidFill>
          <a:ln w="9525">
            <a:solidFill>
              <a:srgbClr val="D5DEE7"/>
            </a:solidFill>
            <a:prstDash val="solid"/>
          </a:ln>
        </p:spPr>
      </p:sp>
      <p:pic>
        <p:nvPicPr>
          <p:cNvPr id="7" name="img-188" descr="Fusion, MLP heads and outputs panels of the architecture figure">    </p:cNvPr>
          <p:cNvPicPr>
            <a:picLocks noChangeAspect="1"/>
          </p:cNvPicPr>
          <p:nvPr/>
        </p:nvPicPr>
        <p:blipFill>
          <a:blip r:embed="rId1"/>
          <a:stretch>
            <a:fillRect/>
          </a:stretch>
        </p:blipFill>
        <p:spPr>
          <a:xfrm>
            <a:off x="676656" y="1554480"/>
            <a:ext cx="4548680" cy="4663440"/>
          </a:xfrm>
          <a:prstGeom prst="rect">
            <a:avLst/>
          </a:prstGeom>
        </p:spPr>
      </p:pic>
      <p:sp>
        <p:nvSpPr>
          <p:cNvPr id="8" name="hl-189"/>
          <p:cNvSpPr/>
          <p:nvPr/>
        </p:nvSpPr>
        <p:spPr>
          <a:xfrm>
            <a:off x="1396516" y="2660352"/>
            <a:ext cx="678129" cy="219088"/>
          </a:xfrm>
          <a:prstGeom prst="roundRect">
            <a:avLst>
              <a:gd name="adj" fmla="val 25042"/>
            </a:avLst>
          </a:prstGeom>
          <a:ln w="31750">
            <a:solidFill>
              <a:srgbClr val="E0690C"/>
            </a:solidFill>
            <a:prstDash val="solid"/>
          </a:ln>
        </p:spPr>
      </p:sp>
      <p:sp>
        <p:nvSpPr>
          <p:cNvPr id="9" name="badge-190"/>
          <p:cNvSpPr/>
          <p:nvPr/>
        </p:nvSpPr>
        <p:spPr>
          <a:xfrm>
            <a:off x="1213636" y="2477472"/>
            <a:ext cx="329184" cy="329184"/>
          </a:xfrm>
          <a:prstGeom prst="ellipse">
            <a:avLst/>
          </a:prstGeom>
          <a:solidFill>
            <a:srgbClr val="E0690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0" name="hl-191"/>
          <p:cNvSpPr/>
          <p:nvPr/>
        </p:nvSpPr>
        <p:spPr>
          <a:xfrm>
            <a:off x="1146130" y="5623253"/>
            <a:ext cx="1064141" cy="417310"/>
          </a:xfrm>
          <a:prstGeom prst="roundRect">
            <a:avLst>
              <a:gd name="adj" fmla="val 13147"/>
            </a:avLst>
          </a:prstGeom>
          <a:ln w="31750">
            <a:solidFill>
              <a:srgbClr val="E0690C"/>
            </a:solidFill>
            <a:prstDash val="solid"/>
          </a:ln>
        </p:spPr>
      </p:sp>
      <p:sp>
        <p:nvSpPr>
          <p:cNvPr id="11" name="badge-192"/>
          <p:cNvSpPr/>
          <p:nvPr/>
        </p:nvSpPr>
        <p:spPr>
          <a:xfrm>
            <a:off x="963250" y="5440373"/>
            <a:ext cx="329184" cy="329184"/>
          </a:xfrm>
          <a:prstGeom prst="ellipse">
            <a:avLst/>
          </a:prstGeom>
          <a:solidFill>
            <a:srgbClr val="E0690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badge-193"/>
          <p:cNvSpPr/>
          <p:nvPr/>
        </p:nvSpPr>
        <p:spPr>
          <a:xfrm>
            <a:off x="5728256" y="1600200"/>
            <a:ext cx="420624" cy="420624"/>
          </a:xfrm>
          <a:prstGeom prst="ellipse">
            <a:avLst/>
          </a:prstGeom>
          <a:solidFill>
            <a:srgbClr val="E0690C"/>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3" name="text-194"/>
          <p:cNvSpPr txBox="1"/>
          <p:nvPr/>
        </p:nvSpPr>
        <p:spPr>
          <a:xfrm>
            <a:off x="6322616" y="1536192"/>
            <a:ext cx="5320439"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DINOv3 folds enter at weight 0.45</a:t>
            </a:r>
            <a:endParaRPr lang="en-US" sz="2000" dirty="0"/>
          </a:p>
        </p:txBody>
      </p:sp>
      <p:sp>
        <p:nvSpPr>
          <p:cNvPr id="14" name="text-195"/>
          <p:cNvSpPr txBox="1"/>
          <p:nvPr/>
        </p:nvSpPr>
        <p:spPr>
          <a:xfrm>
            <a:off x="6322616" y="1920240"/>
            <a:ext cx="5320439" cy="36576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Blended with the 20-member DINO ensemble.</a:t>
            </a:r>
            <a:endParaRPr lang="en-US" sz="1600" dirty="0"/>
          </a:p>
        </p:txBody>
      </p:sp>
      <p:sp>
        <p:nvSpPr>
          <p:cNvPr id="15" name="badge-196"/>
          <p:cNvSpPr/>
          <p:nvPr/>
        </p:nvSpPr>
        <p:spPr>
          <a:xfrm>
            <a:off x="5728256" y="2468880"/>
            <a:ext cx="420624" cy="420624"/>
          </a:xfrm>
          <a:prstGeom prst="ellipse">
            <a:avLst/>
          </a:prstGeom>
          <a:solidFill>
            <a:srgbClr val="E0690C"/>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197"/>
          <p:cNvSpPr txBox="1"/>
          <p:nvPr/>
        </p:nvSpPr>
        <p:spPr>
          <a:xfrm>
            <a:off x="6322616" y="2404872"/>
            <a:ext cx="5320439"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CoAtNet carries 60% of each score</a:t>
            </a:r>
            <a:endParaRPr lang="en-US" sz="2000" dirty="0"/>
          </a:p>
        </p:txBody>
      </p:sp>
      <p:sp>
        <p:nvSpPr>
          <p:cNvPr id="17" name="text-198"/>
          <p:cNvSpPr txBox="1"/>
          <p:nvPr/>
        </p:nvSpPr>
        <p:spPr>
          <a:xfrm>
            <a:off x="6322616" y="2788920"/>
            <a:ext cx="5320439" cy="36576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100% for the lateral meniscus.</a:t>
            </a:r>
            <a:endParaRPr lang="en-US" sz="1600" dirty="0"/>
          </a:p>
        </p:txBody>
      </p:sp>
      <p:sp>
        <p:nvSpPr>
          <p:cNvPr id="18" name="text-199"/>
          <p:cNvSpPr txBox="1"/>
          <p:nvPr/>
        </p:nvSpPr>
        <p:spPr>
          <a:xfrm>
            <a:off x="5728256" y="3383280"/>
            <a:ext cx="5486400" cy="365760"/>
          </a:xfrm>
          <a:prstGeom prst="rect">
            <a:avLst/>
          </a:prstGeom>
          <a:noFill/>
          <a:ln/>
        </p:spPr>
        <p:txBody>
          <a:bodyPr wrap="square" lIns="0" tIns="0" rIns="0" bIns="0" rtlCol="0" anchor="t"/>
          <a:lstStyle/>
          <a:p>
            <a:pPr algn="l" indent="0" marL="0">
              <a:buNone/>
            </a:pPr>
            <a:r>
              <a:rPr lang="en-US" sz="1900" b="1" dirty="0">
                <a:solidFill>
                  <a:srgbClr val="0F2740"/>
                </a:solidFill>
                <a:latin typeface="Cambria" pitchFamily="34" charset="0"/>
                <a:ea typeface="Cambria" pitchFamily="34" charset="-122"/>
                <a:cs typeface="Cambria" pitchFamily="34" charset="-120"/>
              </a:rPr>
              <a:t>Share of the final score</a:t>
            </a:r>
            <a:endParaRPr lang="en-US" sz="1900" dirty="0"/>
          </a:p>
        </p:txBody>
      </p:sp>
      <p:pic>
        <p:nvPicPr>
          <p:cNvPr id="19" name="img-200" descr="Nominal share of each branch in the final score">    </p:cNvPr>
          <p:cNvPicPr>
            <a:picLocks noChangeAspect="1"/>
          </p:cNvPicPr>
          <p:nvPr/>
        </p:nvPicPr>
        <p:blipFill>
          <a:blip r:embed="rId2"/>
          <a:stretch>
            <a:fillRect/>
          </a:stretch>
        </p:blipFill>
        <p:spPr>
          <a:xfrm>
            <a:off x="5728256" y="3767328"/>
            <a:ext cx="5120640" cy="2166425"/>
          </a:xfrm>
          <a:prstGeom prst="rect">
            <a:avLst/>
          </a:prstGeom>
        </p:spPr>
      </p:pic>
      <p:sp>
        <p:nvSpPr>
          <p:cNvPr id="20" name="text-201"/>
          <p:cNvSpPr txBox="1"/>
          <p:nvPr/>
        </p:nvSpPr>
        <p:spPr>
          <a:xfrm>
            <a:off x="5728256" y="5989320"/>
            <a:ext cx="5914799" cy="365760"/>
          </a:xfrm>
          <a:prstGeom prst="rect">
            <a:avLst/>
          </a:prstGeom>
          <a:noFill/>
          <a:ln/>
        </p:spPr>
        <p:txBody>
          <a:bodyPr wrap="square" lIns="0" tIns="0" rIns="0" bIns="0" rtlCol="0" anchor="t"/>
          <a:lstStyle/>
          <a:p>
            <a:pPr algn="l" indent="0" marL="0">
              <a:buNone/>
            </a:pPr>
            <a:r>
              <a:rPr lang="en-US" sz="1400" i="1" dirty="0">
                <a:solidFill>
                  <a:srgbClr val="5C6B7A"/>
                </a:solidFill>
                <a:latin typeface="Calibri" pitchFamily="34" charset="0"/>
                <a:ea typeface="Calibri" pitchFamily="34" charset="-122"/>
                <a:cs typeface="Calibri" pitchFamily="34" charset="-120"/>
              </a:rPr>
              <a:t>Stage 4 is drawn schematically: we blend ranks, and no new network is trained.</a:t>
            </a:r>
            <a:endParaRPr lang="en-US" sz="14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Our experiment layer: ABG</a:t>
            </a:r>
            <a:endParaRPr lang="en-US" sz="3400" dirty="0"/>
          </a:p>
        </p:txBody>
      </p:sp>
      <p:sp>
        <p:nvSpPr>
          <p:cNvPr id="3" name="chev-202"/>
          <p:cNvSpPr/>
          <p:nvPr/>
        </p:nvSpPr>
        <p:spPr>
          <a:xfrm>
            <a:off x="548640" y="246888"/>
            <a:ext cx="137160" cy="201168"/>
          </a:xfrm>
          <a:prstGeom prst="chevron">
            <a:avLst/>
          </a:prstGeom>
          <a:solidFill>
            <a:srgbClr val="E0690C"/>
          </a:solidFill>
          <a:ln/>
        </p:spPr>
      </p:sp>
      <p:sp>
        <p:nvSpPr>
          <p:cNvPr id="4" name="text-203"/>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EXPERIMENTS</a:t>
            </a:r>
            <a:endParaRPr lang="en-US" sz="1200" dirty="0"/>
          </a:p>
        </p:txBody>
      </p:sp>
      <p:sp>
        <p:nvSpPr>
          <p:cNvPr id="6" name="card-204"/>
          <p:cNvSpPr/>
          <p:nvPr/>
        </p:nvSpPr>
        <p:spPr>
          <a:xfrm>
            <a:off x="548640" y="1481328"/>
            <a:ext cx="3596335" cy="4069080"/>
          </a:xfrm>
          <a:prstGeom prst="roundRect">
            <a:avLst>
              <a:gd name="adj" fmla="val 3560"/>
            </a:avLst>
          </a:prstGeom>
          <a:solidFill>
            <a:srgbClr val="F2F6FA"/>
          </a:solidFill>
          <a:ln/>
        </p:spPr>
      </p:sp>
      <p:sp>
        <p:nvSpPr>
          <p:cNvPr id="7" name="badge-205"/>
          <p:cNvSpPr/>
          <p:nvPr/>
        </p:nvSpPr>
        <p:spPr>
          <a:xfrm>
            <a:off x="822960" y="1737360"/>
            <a:ext cx="713232" cy="713232"/>
          </a:xfrm>
          <a:prstGeom prst="ellipse">
            <a:avLst/>
          </a:prstGeom>
          <a:solidFill>
            <a:srgbClr val="E0690C"/>
          </a:solid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8" name="text-206"/>
          <p:cNvSpPr txBox="1"/>
          <p:nvPr/>
        </p:nvSpPr>
        <p:spPr>
          <a:xfrm>
            <a:off x="1737360" y="1737360"/>
            <a:ext cx="2270455" cy="713232"/>
          </a:xfrm>
          <a:prstGeom prst="rect">
            <a:avLst/>
          </a:prstGeom>
          <a:noFill/>
          <a:ln/>
        </p:spPr>
        <p:txBody>
          <a:bodyPr wrap="square" lIns="0" tIns="0" rIns="0" bIns="0" rtlCol="0" anchor="ctr"/>
          <a:lstStyle/>
          <a:p>
            <a:pPr algn="l" indent="0" marL="0">
              <a:buNone/>
            </a:pPr>
            <a:r>
              <a:rPr lang="en-US" sz="2100" b="1" dirty="0">
                <a:solidFill>
                  <a:srgbClr val="0F2740"/>
                </a:solidFill>
                <a:latin typeface="Calibri" pitchFamily="34" charset="0"/>
                <a:ea typeface="Calibri" pitchFamily="34" charset="-122"/>
                <a:cs typeface="Calibri" pitchFamily="34" charset="-120"/>
              </a:rPr>
              <a:t>Native E11 residual</a:t>
            </a:r>
            <a:endParaRPr lang="en-US" sz="2100" dirty="0"/>
          </a:p>
        </p:txBody>
      </p:sp>
      <p:sp>
        <p:nvSpPr>
          <p:cNvPr id="9" name="text-207"/>
          <p:cNvSpPr txBox="1"/>
          <p:nvPr/>
        </p:nvSpPr>
        <p:spPr>
          <a:xfrm>
            <a:off x="822960" y="2697480"/>
            <a:ext cx="3047695" cy="685800"/>
          </a:xfrm>
          <a:prstGeom prst="rect">
            <a:avLst/>
          </a:prstGeom>
          <a:noFill/>
          <a:ln/>
        </p:spPr>
        <p:txBody>
          <a:bodyPr wrap="square" lIns="0" tIns="0" rIns="0" bIns="0" rtlCol="0" anchor="t"/>
          <a:lstStyle/>
          <a:p>
            <a:pPr algn="l" indent="0" marL="0">
              <a:buNone/>
            </a:pPr>
            <a:r>
              <a:rPr lang="en-US" sz="4000" b="1" dirty="0">
                <a:solidFill>
                  <a:srgbClr val="E0690C"/>
                </a:solidFill>
                <a:latin typeface="Cambria" pitchFamily="34" charset="0"/>
                <a:ea typeface="Cambria" pitchFamily="34" charset="-122"/>
                <a:cs typeface="Cambria" pitchFamily="34" charset="-120"/>
              </a:rPr>
              <a:t>0.15</a:t>
            </a:r>
            <a:endParaRPr lang="en-US" sz="4000" dirty="0"/>
          </a:p>
        </p:txBody>
      </p:sp>
      <p:sp>
        <p:nvSpPr>
          <p:cNvPr id="10" name="text-208"/>
          <p:cNvSpPr txBox="1"/>
          <p:nvPr/>
        </p:nvSpPr>
        <p:spPr>
          <a:xfrm>
            <a:off x="822960" y="3383280"/>
            <a:ext cx="3047695" cy="50292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residual scale</a:t>
            </a:r>
            <a:endParaRPr lang="en-US" sz="1400" dirty="0"/>
          </a:p>
        </p:txBody>
      </p:sp>
      <p:sp>
        <p:nvSpPr>
          <p:cNvPr id="11" name="text-209"/>
          <p:cNvSpPr txBox="1"/>
          <p:nvPr/>
        </p:nvSpPr>
        <p:spPr>
          <a:xfrm>
            <a:off x="822960" y="4023360"/>
            <a:ext cx="3047695" cy="137160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Five E11 heads give a second opinion; their difference to E13 is added after calibration.</a:t>
            </a:r>
            <a:endParaRPr lang="en-US" sz="1800" dirty="0"/>
          </a:p>
        </p:txBody>
      </p:sp>
      <p:sp>
        <p:nvSpPr>
          <p:cNvPr id="12" name="card-210"/>
          <p:cNvSpPr/>
          <p:nvPr/>
        </p:nvSpPr>
        <p:spPr>
          <a:xfrm>
            <a:off x="4297680" y="1481328"/>
            <a:ext cx="3596335" cy="4069080"/>
          </a:xfrm>
          <a:prstGeom prst="roundRect">
            <a:avLst>
              <a:gd name="adj" fmla="val 3560"/>
            </a:avLst>
          </a:prstGeom>
          <a:solidFill>
            <a:srgbClr val="F2F6FA"/>
          </a:solidFill>
          <a:ln/>
        </p:spPr>
      </p:sp>
      <p:sp>
        <p:nvSpPr>
          <p:cNvPr id="13" name="badge-211"/>
          <p:cNvSpPr/>
          <p:nvPr/>
        </p:nvSpPr>
        <p:spPr>
          <a:xfrm>
            <a:off x="4572000" y="1737360"/>
            <a:ext cx="713232" cy="713232"/>
          </a:xfrm>
          <a:prstGeom prst="ellipse">
            <a:avLst/>
          </a:prstGeom>
          <a:solidFill>
            <a:srgbClr val="E0690C"/>
          </a:solid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4" name="text-212"/>
          <p:cNvSpPr txBox="1"/>
          <p:nvPr/>
        </p:nvSpPr>
        <p:spPr>
          <a:xfrm>
            <a:off x="5486400" y="1737360"/>
            <a:ext cx="2270455" cy="713232"/>
          </a:xfrm>
          <a:prstGeom prst="rect">
            <a:avLst/>
          </a:prstGeom>
          <a:noFill/>
          <a:ln/>
        </p:spPr>
        <p:txBody>
          <a:bodyPr wrap="square" lIns="0" tIns="0" rIns="0" bIns="0" rtlCol="0" anchor="ctr"/>
          <a:lstStyle/>
          <a:p>
            <a:pPr algn="l" indent="0" marL="0">
              <a:buNone/>
            </a:pPr>
            <a:r>
              <a:rPr lang="en-US" sz="2100" b="1" dirty="0">
                <a:solidFill>
                  <a:srgbClr val="0F2740"/>
                </a:solidFill>
                <a:latin typeface="Calibri" pitchFamily="34" charset="0"/>
                <a:ea typeface="Calibri" pitchFamily="34" charset="-122"/>
                <a:cs typeface="Calibri" pitchFamily="34" charset="-120"/>
              </a:rPr>
              <a:t>Alternate Rad residual</a:t>
            </a:r>
            <a:endParaRPr lang="en-US" sz="2100" dirty="0"/>
          </a:p>
        </p:txBody>
      </p:sp>
      <p:sp>
        <p:nvSpPr>
          <p:cNvPr id="15" name="text-213"/>
          <p:cNvSpPr txBox="1"/>
          <p:nvPr/>
        </p:nvSpPr>
        <p:spPr>
          <a:xfrm>
            <a:off x="4572000" y="2697480"/>
            <a:ext cx="3047695" cy="685800"/>
          </a:xfrm>
          <a:prstGeom prst="rect">
            <a:avLst/>
          </a:prstGeom>
          <a:noFill/>
          <a:ln/>
        </p:spPr>
        <p:txBody>
          <a:bodyPr wrap="square" lIns="0" tIns="0" rIns="0" bIns="0" rtlCol="0" anchor="t"/>
          <a:lstStyle/>
          <a:p>
            <a:pPr algn="l" indent="0" marL="0">
              <a:buNone/>
            </a:pPr>
            <a:r>
              <a:rPr lang="en-US" sz="4000" b="1" dirty="0">
                <a:solidFill>
                  <a:srgbClr val="E0690C"/>
                </a:solidFill>
                <a:latin typeface="Cambria" pitchFamily="34" charset="0"/>
                <a:ea typeface="Cambria" pitchFamily="34" charset="-122"/>
                <a:cs typeface="Cambria" pitchFamily="34" charset="-120"/>
              </a:rPr>
              <a:t>0.425</a:t>
            </a:r>
            <a:endParaRPr lang="en-US" sz="4000" dirty="0"/>
          </a:p>
        </p:txBody>
      </p:sp>
      <p:sp>
        <p:nvSpPr>
          <p:cNvPr id="16" name="text-214"/>
          <p:cNvSpPr txBox="1"/>
          <p:nvPr/>
        </p:nvSpPr>
        <p:spPr>
          <a:xfrm>
            <a:off x="4572000" y="3383280"/>
            <a:ext cx="3047695" cy="50292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residual scale</a:t>
            </a:r>
            <a:endParaRPr lang="en-US" sz="1400" dirty="0"/>
          </a:p>
        </p:txBody>
      </p:sp>
      <p:sp>
        <p:nvSpPr>
          <p:cNvPr id="17" name="text-215"/>
          <p:cNvSpPr txBox="1"/>
          <p:nvPr/>
        </p:nvSpPr>
        <p:spPr>
          <a:xfrm>
            <a:off x="4572000" y="4023360"/>
            <a:ext cx="3047695" cy="137160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Another RadImageNet head family adds a small correction, with no extra encoder pass.</a:t>
            </a:r>
            <a:endParaRPr lang="en-US" sz="1800" dirty="0"/>
          </a:p>
        </p:txBody>
      </p:sp>
      <p:sp>
        <p:nvSpPr>
          <p:cNvPr id="18" name="card-216"/>
          <p:cNvSpPr/>
          <p:nvPr/>
        </p:nvSpPr>
        <p:spPr>
          <a:xfrm>
            <a:off x="8046720" y="1481328"/>
            <a:ext cx="3596335" cy="4069080"/>
          </a:xfrm>
          <a:prstGeom prst="roundRect">
            <a:avLst>
              <a:gd name="adj" fmla="val 3560"/>
            </a:avLst>
          </a:prstGeom>
          <a:solidFill>
            <a:srgbClr val="F2F6FA"/>
          </a:solidFill>
          <a:ln/>
        </p:spPr>
      </p:sp>
      <p:sp>
        <p:nvSpPr>
          <p:cNvPr id="19" name="badge-217"/>
          <p:cNvSpPr/>
          <p:nvPr/>
        </p:nvSpPr>
        <p:spPr>
          <a:xfrm>
            <a:off x="8321040" y="1737360"/>
            <a:ext cx="713232" cy="713232"/>
          </a:xfrm>
          <a:prstGeom prst="ellipse">
            <a:avLst/>
          </a:prstGeom>
          <a:solidFill>
            <a:srgbClr val="E0690C"/>
          </a:solid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G</a:t>
            </a:r>
            <a:endParaRPr lang="en-US" sz="3000" dirty="0"/>
          </a:p>
        </p:txBody>
      </p:sp>
      <p:sp>
        <p:nvSpPr>
          <p:cNvPr id="20" name="text-218"/>
          <p:cNvSpPr txBox="1"/>
          <p:nvPr/>
        </p:nvSpPr>
        <p:spPr>
          <a:xfrm>
            <a:off x="9235440" y="1737360"/>
            <a:ext cx="2270455" cy="713232"/>
          </a:xfrm>
          <a:prstGeom prst="rect">
            <a:avLst/>
          </a:prstGeom>
          <a:noFill/>
          <a:ln/>
        </p:spPr>
        <p:txBody>
          <a:bodyPr wrap="square" lIns="0" tIns="0" rIns="0" bIns="0" rtlCol="0" anchor="ctr"/>
          <a:lstStyle/>
          <a:p>
            <a:pPr algn="l" indent="0" marL="0">
              <a:buNone/>
            </a:pPr>
            <a:r>
              <a:rPr lang="en-US" sz="2100" b="1" dirty="0">
                <a:solidFill>
                  <a:srgbClr val="0F2740"/>
                </a:solidFill>
                <a:latin typeface="Calibri" pitchFamily="34" charset="0"/>
                <a:ea typeface="Calibri" pitchFamily="34" charset="-122"/>
                <a:cs typeface="Calibri" pitchFamily="34" charset="-120"/>
              </a:rPr>
              <a:t>Gain averaging</a:t>
            </a:r>
            <a:endParaRPr lang="en-US" sz="2100" dirty="0"/>
          </a:p>
        </p:txBody>
      </p:sp>
      <p:sp>
        <p:nvSpPr>
          <p:cNvPr id="21" name="text-219"/>
          <p:cNvSpPr txBox="1"/>
          <p:nvPr/>
        </p:nvSpPr>
        <p:spPr>
          <a:xfrm>
            <a:off x="8321040" y="2697480"/>
            <a:ext cx="3047695" cy="685800"/>
          </a:xfrm>
          <a:prstGeom prst="rect">
            <a:avLst/>
          </a:prstGeom>
          <a:noFill/>
          <a:ln/>
        </p:spPr>
        <p:txBody>
          <a:bodyPr wrap="square" lIns="0" tIns="0" rIns="0" bIns="0" rtlCol="0" anchor="t"/>
          <a:lstStyle/>
          <a:p>
            <a:pPr algn="l" indent="0" marL="0">
              <a:buNone/>
            </a:pPr>
            <a:r>
              <a:rPr lang="en-US" sz="4000" b="1" dirty="0">
                <a:solidFill>
                  <a:srgbClr val="E0690C"/>
                </a:solidFill>
                <a:latin typeface="Cambria" pitchFamily="34" charset="0"/>
                <a:ea typeface="Cambria" pitchFamily="34" charset="-122"/>
                <a:cs typeface="Cambria" pitchFamily="34" charset="-120"/>
              </a:rPr>
              <a:t>3 views</a:t>
            </a:r>
            <a:endParaRPr lang="en-US" sz="4000" dirty="0"/>
          </a:p>
        </p:txBody>
      </p:sp>
      <p:sp>
        <p:nvSpPr>
          <p:cNvPr id="22" name="text-220"/>
          <p:cNvSpPr txBox="1"/>
          <p:nvPr/>
        </p:nvSpPr>
        <p:spPr>
          <a:xfrm>
            <a:off x="8321040" y="3383280"/>
            <a:ext cx="3047695" cy="50292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brightness 0.9 · 1.0 · 1.1  (weights 1/6, 4/6, 1/6)</a:t>
            </a:r>
            <a:endParaRPr lang="en-US" sz="1400" dirty="0"/>
          </a:p>
        </p:txBody>
      </p:sp>
      <p:sp>
        <p:nvSpPr>
          <p:cNvPr id="23" name="text-221"/>
          <p:cNvSpPr txBox="1"/>
          <p:nvPr/>
        </p:nvSpPr>
        <p:spPr>
          <a:xfrm>
            <a:off x="8321040" y="4023360"/>
            <a:ext cx="3047695" cy="137160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Each CoAtNet arm is averaged over three brightness gains for robustness.</a:t>
            </a:r>
            <a:endParaRPr lang="en-US" sz="1800" dirty="0"/>
          </a:p>
        </p:txBody>
      </p:sp>
      <p:sp>
        <p:nvSpPr>
          <p:cNvPr id="24" name="Shape 21"/>
          <p:cNvSpPr/>
          <p:nvPr/>
        </p:nvSpPr>
        <p:spPr>
          <a:xfrm>
            <a:off x="548640" y="5715000"/>
            <a:ext cx="11094415" cy="566928"/>
          </a:xfrm>
          <a:prstGeom prst="roundRect">
            <a:avLst>
              <a:gd name="adj" fmla="val 22581"/>
            </a:avLst>
          </a:prstGeom>
          <a:solidFill>
            <a:srgbClr val="0F2740"/>
          </a:solidFill>
          <a:ln/>
        </p:spPr>
      </p:sp>
      <p:sp>
        <p:nvSpPr>
          <p:cNvPr id="25" name="text-222"/>
          <p:cNvSpPr txBox="1"/>
          <p:nvPr/>
        </p:nvSpPr>
        <p:spPr>
          <a:xfrm>
            <a:off x="548640" y="5715000"/>
            <a:ext cx="11094415"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 new training   ·   Scales inherited, not fitted   ·   Fixed before any score</a:t>
            </a:r>
            <a:endParaRPr lang="en-US" sz="18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How we ran it, and how we checked it</a:t>
            </a:r>
            <a:endParaRPr lang="en-US" sz="3400" dirty="0"/>
          </a:p>
        </p:txBody>
      </p:sp>
      <p:sp>
        <p:nvSpPr>
          <p:cNvPr id="3" name="chev-223"/>
          <p:cNvSpPr/>
          <p:nvPr/>
        </p:nvSpPr>
        <p:spPr>
          <a:xfrm>
            <a:off x="548640" y="246888"/>
            <a:ext cx="137160" cy="201168"/>
          </a:xfrm>
          <a:prstGeom prst="chevron">
            <a:avLst/>
          </a:prstGeom>
          <a:solidFill>
            <a:srgbClr val="E0690C"/>
          </a:solidFill>
          <a:ln/>
        </p:spPr>
      </p:sp>
      <p:sp>
        <p:nvSpPr>
          <p:cNvPr id="4" name="text-224"/>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EXPERIMENTS</a:t>
            </a:r>
            <a:endParaRPr lang="en-US" sz="1200" dirty="0"/>
          </a:p>
        </p:txBody>
      </p:sp>
      <p:sp>
        <p:nvSpPr>
          <p:cNvPr id="6" name="card-225"/>
          <p:cNvSpPr/>
          <p:nvPr/>
        </p:nvSpPr>
        <p:spPr>
          <a:xfrm>
            <a:off x="548640" y="1508760"/>
            <a:ext cx="3429000" cy="1371600"/>
          </a:xfrm>
          <a:prstGeom prst="roundRect">
            <a:avLst>
              <a:gd name="adj" fmla="val 9333"/>
            </a:avLst>
          </a:prstGeom>
          <a:solidFill>
            <a:srgbClr val="F2F6FA"/>
          </a:solidFill>
          <a:ln/>
        </p:spPr>
      </p:sp>
      <p:sp>
        <p:nvSpPr>
          <p:cNvPr id="7" name="dot-226"/>
          <p:cNvSpPr/>
          <p:nvPr/>
        </p:nvSpPr>
        <p:spPr>
          <a:xfrm>
            <a:off x="822960" y="1920240"/>
            <a:ext cx="640080" cy="640080"/>
          </a:xfrm>
          <a:prstGeom prst="ellipse">
            <a:avLst/>
          </a:prstGeom>
          <a:solidFill>
            <a:srgbClr val="2B7BC4"/>
          </a:solidFill>
          <a:ln/>
        </p:spPr>
      </p:sp>
      <p:pic>
        <p:nvPicPr>
          <p:cNvPr id="8" name="icon-227" descr="icon">    </p:cNvPr>
          <p:cNvPicPr>
            <a:picLocks noChangeAspect="1"/>
          </p:cNvPicPr>
          <p:nvPr/>
        </p:nvPicPr>
        <p:blipFill>
          <a:blip r:embed="rId1"/>
          <a:stretch>
            <a:fillRect/>
          </a:stretch>
        </p:blipFill>
        <p:spPr>
          <a:xfrm>
            <a:off x="995782" y="2093062"/>
            <a:ext cx="294437" cy="294437"/>
          </a:xfrm>
          <a:prstGeom prst="rect">
            <a:avLst/>
          </a:prstGeom>
        </p:spPr>
      </p:pic>
      <p:sp>
        <p:nvSpPr>
          <p:cNvPr id="9" name="text-228"/>
          <p:cNvSpPr txBox="1"/>
          <p:nvPr/>
        </p:nvSpPr>
        <p:spPr>
          <a:xfrm>
            <a:off x="1645920" y="1810512"/>
            <a:ext cx="224028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Kaggle notebook</a:t>
            </a:r>
            <a:endParaRPr lang="en-US" sz="2000" dirty="0"/>
          </a:p>
        </p:txBody>
      </p:sp>
      <p:sp>
        <p:nvSpPr>
          <p:cNvPr id="10" name="text-229"/>
          <p:cNvSpPr txBox="1"/>
          <p:nvPr/>
        </p:nvSpPr>
        <p:spPr>
          <a:xfrm>
            <a:off x="1645920" y="2212848"/>
            <a:ext cx="2240280" cy="36576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2 × T4, offline</a:t>
            </a:r>
            <a:endParaRPr lang="en-US" sz="1600" dirty="0"/>
          </a:p>
        </p:txBody>
      </p:sp>
      <p:sp>
        <p:nvSpPr>
          <p:cNvPr id="11" name="Shape 7"/>
          <p:cNvSpPr/>
          <p:nvPr/>
        </p:nvSpPr>
        <p:spPr>
          <a:xfrm>
            <a:off x="4041648" y="1993392"/>
            <a:ext cx="274320" cy="402336"/>
          </a:xfrm>
          <a:prstGeom prst="chevron">
            <a:avLst/>
          </a:prstGeom>
          <a:solidFill>
            <a:srgbClr val="E0690C"/>
          </a:solidFill>
          <a:ln/>
        </p:spPr>
      </p:sp>
      <p:sp>
        <p:nvSpPr>
          <p:cNvPr id="12" name="card-230"/>
          <p:cNvSpPr/>
          <p:nvPr/>
        </p:nvSpPr>
        <p:spPr>
          <a:xfrm>
            <a:off x="4379976" y="1508760"/>
            <a:ext cx="3429000" cy="1371600"/>
          </a:xfrm>
          <a:prstGeom prst="roundRect">
            <a:avLst>
              <a:gd name="adj" fmla="val 9333"/>
            </a:avLst>
          </a:prstGeom>
          <a:solidFill>
            <a:srgbClr val="F2F6FA"/>
          </a:solidFill>
          <a:ln/>
        </p:spPr>
      </p:sp>
      <p:sp>
        <p:nvSpPr>
          <p:cNvPr id="13" name="dot-231"/>
          <p:cNvSpPr/>
          <p:nvPr/>
        </p:nvSpPr>
        <p:spPr>
          <a:xfrm>
            <a:off x="4654296" y="1920240"/>
            <a:ext cx="640080" cy="640080"/>
          </a:xfrm>
          <a:prstGeom prst="ellipse">
            <a:avLst/>
          </a:prstGeom>
          <a:solidFill>
            <a:srgbClr val="2B7BC4"/>
          </a:solidFill>
          <a:ln/>
        </p:spPr>
      </p:sp>
      <p:pic>
        <p:nvPicPr>
          <p:cNvPr id="14" name="icon-232" descr="icon">    </p:cNvPr>
          <p:cNvPicPr>
            <a:picLocks noChangeAspect="1"/>
          </p:cNvPicPr>
          <p:nvPr/>
        </p:nvPicPr>
        <p:blipFill>
          <a:blip r:embed="rId2"/>
          <a:stretch>
            <a:fillRect/>
          </a:stretch>
        </p:blipFill>
        <p:spPr>
          <a:xfrm>
            <a:off x="4827118" y="2093062"/>
            <a:ext cx="294437" cy="294437"/>
          </a:xfrm>
          <a:prstGeom prst="rect">
            <a:avLst/>
          </a:prstGeom>
        </p:spPr>
      </p:pic>
      <p:sp>
        <p:nvSpPr>
          <p:cNvPr id="15" name="text-233"/>
          <p:cNvSpPr txBox="1"/>
          <p:nvPr/>
        </p:nvSpPr>
        <p:spPr>
          <a:xfrm>
            <a:off x="5477256" y="1810512"/>
            <a:ext cx="224028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Hidden test set</a:t>
            </a:r>
            <a:endParaRPr lang="en-US" sz="2000" dirty="0"/>
          </a:p>
        </p:txBody>
      </p:sp>
      <p:sp>
        <p:nvSpPr>
          <p:cNvPr id="16" name="text-234"/>
          <p:cNvSpPr txBox="1"/>
          <p:nvPr/>
        </p:nvSpPr>
        <p:spPr>
          <a:xfrm>
            <a:off x="5477256" y="2212848"/>
            <a:ext cx="2240280" cy="36576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re-run by Kaggle</a:t>
            </a:r>
            <a:endParaRPr lang="en-US" sz="1600" dirty="0"/>
          </a:p>
        </p:txBody>
      </p:sp>
      <p:sp>
        <p:nvSpPr>
          <p:cNvPr id="17" name="Shape 12"/>
          <p:cNvSpPr/>
          <p:nvPr/>
        </p:nvSpPr>
        <p:spPr>
          <a:xfrm>
            <a:off x="7872984" y="1993392"/>
            <a:ext cx="274320" cy="402336"/>
          </a:xfrm>
          <a:prstGeom prst="chevron">
            <a:avLst/>
          </a:prstGeom>
          <a:solidFill>
            <a:srgbClr val="E0690C"/>
          </a:solidFill>
          <a:ln/>
        </p:spPr>
      </p:sp>
      <p:sp>
        <p:nvSpPr>
          <p:cNvPr id="18" name="card-235"/>
          <p:cNvSpPr/>
          <p:nvPr/>
        </p:nvSpPr>
        <p:spPr>
          <a:xfrm>
            <a:off x="8211312" y="1508760"/>
            <a:ext cx="3429000" cy="1371600"/>
          </a:xfrm>
          <a:prstGeom prst="roundRect">
            <a:avLst>
              <a:gd name="adj" fmla="val 9333"/>
            </a:avLst>
          </a:prstGeom>
          <a:solidFill>
            <a:srgbClr val="F2F6FA"/>
          </a:solidFill>
          <a:ln/>
        </p:spPr>
      </p:sp>
      <p:sp>
        <p:nvSpPr>
          <p:cNvPr id="19" name="dot-236"/>
          <p:cNvSpPr/>
          <p:nvPr/>
        </p:nvSpPr>
        <p:spPr>
          <a:xfrm>
            <a:off x="8485632" y="1920240"/>
            <a:ext cx="640080" cy="640080"/>
          </a:xfrm>
          <a:prstGeom prst="ellipse">
            <a:avLst/>
          </a:prstGeom>
          <a:solidFill>
            <a:srgbClr val="2B7BC4"/>
          </a:solidFill>
          <a:ln/>
        </p:spPr>
      </p:sp>
      <p:pic>
        <p:nvPicPr>
          <p:cNvPr id="20" name="icon-237" descr="icon">    </p:cNvPr>
          <p:cNvPicPr>
            <a:picLocks noChangeAspect="1"/>
          </p:cNvPicPr>
          <p:nvPr/>
        </p:nvPicPr>
        <p:blipFill>
          <a:blip r:embed="rId3"/>
          <a:stretch>
            <a:fillRect/>
          </a:stretch>
        </p:blipFill>
        <p:spPr>
          <a:xfrm>
            <a:off x="8658454" y="2093062"/>
            <a:ext cx="294437" cy="294437"/>
          </a:xfrm>
          <a:prstGeom prst="rect">
            <a:avLst/>
          </a:prstGeom>
        </p:spPr>
      </p:pic>
      <p:sp>
        <p:nvSpPr>
          <p:cNvPr id="21" name="text-238"/>
          <p:cNvSpPr txBox="1"/>
          <p:nvPr/>
        </p:nvSpPr>
        <p:spPr>
          <a:xfrm>
            <a:off x="9308592" y="1810512"/>
            <a:ext cx="2240280" cy="365760"/>
          </a:xfrm>
          <a:prstGeom prst="rect">
            <a:avLst/>
          </a:prstGeom>
          <a:noFill/>
          <a:ln/>
        </p:spPr>
        <p:txBody>
          <a:bodyPr wrap="square" lIns="0" tIns="0" rIns="0" bIns="0" rtlCol="0" anchor="t"/>
          <a:lstStyle/>
          <a:p>
            <a:pPr algn="l" indent="0" marL="0">
              <a:buNone/>
            </a:pPr>
            <a:r>
              <a:rPr lang="en-US" sz="2000" b="1" dirty="0">
                <a:solidFill>
                  <a:srgbClr val="0F2740"/>
                </a:solidFill>
                <a:latin typeface="Calibri" pitchFamily="34" charset="0"/>
                <a:ea typeface="Calibri" pitchFamily="34" charset="-122"/>
                <a:cs typeface="Calibri" pitchFamily="34" charset="-120"/>
              </a:rPr>
              <a:t>Public leaderboard</a:t>
            </a:r>
            <a:endParaRPr lang="en-US" sz="2000" dirty="0"/>
          </a:p>
        </p:txBody>
      </p:sp>
      <p:sp>
        <p:nvSpPr>
          <p:cNvPr id="22" name="text-239"/>
          <p:cNvSpPr txBox="1"/>
          <p:nvPr/>
        </p:nvSpPr>
        <p:spPr>
          <a:xfrm>
            <a:off x="9308592" y="2212848"/>
            <a:ext cx="2240280" cy="365760"/>
          </a:xfrm>
          <a:prstGeom prst="rect">
            <a:avLst/>
          </a:prstGeom>
          <a:noFill/>
          <a:ln/>
        </p:spPr>
        <p:txBody>
          <a:bodyPr wrap="square" lIns="0" tIns="0" rIns="0" bIns="0" rtlCol="0" anchor="t"/>
          <a:lstStyle/>
          <a:p>
            <a:pPr algn="l" indent="0" marL="0">
              <a:buNone/>
            </a:pPr>
            <a:r>
              <a:rPr lang="en-US" sz="1600" dirty="0">
                <a:solidFill>
                  <a:srgbClr val="5C6B7A"/>
                </a:solidFill>
                <a:latin typeface="Calibri" pitchFamily="34" charset="0"/>
                <a:ea typeface="Calibri" pitchFamily="34" charset="-122"/>
                <a:cs typeface="Calibri" pitchFamily="34" charset="-120"/>
              </a:rPr>
              <a:t>mean of 12 AUCs</a:t>
            </a:r>
            <a:endParaRPr lang="en-US" sz="1600" dirty="0"/>
          </a:p>
        </p:txBody>
      </p:sp>
      <p:sp>
        <p:nvSpPr>
          <p:cNvPr id="23" name="text-240"/>
          <p:cNvSpPr txBox="1"/>
          <p:nvPr/>
        </p:nvSpPr>
        <p:spPr>
          <a:xfrm>
            <a:off x="548640" y="3246120"/>
            <a:ext cx="5486400" cy="274320"/>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VERIFICATION CHECKS</a:t>
            </a:r>
            <a:endParaRPr lang="en-US" sz="1200" dirty="0"/>
          </a:p>
        </p:txBody>
      </p:sp>
      <p:sp>
        <p:nvSpPr>
          <p:cNvPr id="24" name="dot-241"/>
          <p:cNvSpPr/>
          <p:nvPr/>
        </p:nvSpPr>
        <p:spPr>
          <a:xfrm>
            <a:off x="548640" y="3657600"/>
            <a:ext cx="457200" cy="457200"/>
          </a:xfrm>
          <a:prstGeom prst="ellipse">
            <a:avLst/>
          </a:prstGeom>
          <a:solidFill>
            <a:srgbClr val="2E9E6B"/>
          </a:solidFill>
          <a:ln/>
        </p:spPr>
      </p:sp>
      <p:pic>
        <p:nvPicPr>
          <p:cNvPr id="25" name="icon-242" descr="icon">    </p:cNvPr>
          <p:cNvPicPr>
            <a:picLocks noChangeAspect="1"/>
          </p:cNvPicPr>
          <p:nvPr/>
        </p:nvPicPr>
        <p:blipFill>
          <a:blip r:embed="rId4"/>
          <a:stretch>
            <a:fillRect/>
          </a:stretch>
        </p:blipFill>
        <p:spPr>
          <a:xfrm>
            <a:off x="672084" y="3781044"/>
            <a:ext cx="210312" cy="210312"/>
          </a:xfrm>
          <a:prstGeom prst="rect">
            <a:avLst/>
          </a:prstGeom>
        </p:spPr>
      </p:pic>
      <p:sp>
        <p:nvSpPr>
          <p:cNvPr id="26" name="text-243"/>
          <p:cNvSpPr txBox="1"/>
          <p:nvPr/>
        </p:nvSpPr>
        <p:spPr>
          <a:xfrm>
            <a:off x="1188720" y="3611880"/>
            <a:ext cx="4754880" cy="548640"/>
          </a:xfrm>
          <a:prstGeom prst="rect">
            <a:avLst/>
          </a:prstGeom>
          <a:noFill/>
          <a:ln/>
        </p:spPr>
        <p:txBody>
          <a:bodyPr wrap="square" lIns="0" tIns="0" rIns="0" bIns="0" rtlCol="0" anchor="ctr"/>
          <a:lstStyle/>
          <a:p>
            <a:pPr algn="l" indent="0" marL="0">
              <a:buNone/>
            </a:pPr>
            <a:r>
              <a:rPr lang="en-US" sz="1800" dirty="0">
                <a:solidFill>
                  <a:srgbClr val="14253A"/>
                </a:solidFill>
                <a:latin typeface="Calibri" pitchFamily="34" charset="0"/>
                <a:ea typeface="Calibri" pitchFamily="34" charset="-122"/>
                <a:cs typeface="Calibri" pitchFamily="34" charset="-120"/>
              </a:rPr>
              <a:t>2 × T4 GPUs detected, CUDA probes passed</a:t>
            </a:r>
            <a:endParaRPr lang="en-US" sz="1800" dirty="0"/>
          </a:p>
        </p:txBody>
      </p:sp>
      <p:sp>
        <p:nvSpPr>
          <p:cNvPr id="27" name="dot-244"/>
          <p:cNvSpPr/>
          <p:nvPr/>
        </p:nvSpPr>
        <p:spPr>
          <a:xfrm>
            <a:off x="6172200" y="3657600"/>
            <a:ext cx="457200" cy="457200"/>
          </a:xfrm>
          <a:prstGeom prst="ellipse">
            <a:avLst/>
          </a:prstGeom>
          <a:solidFill>
            <a:srgbClr val="2E9E6B"/>
          </a:solidFill>
          <a:ln/>
        </p:spPr>
      </p:sp>
      <p:pic>
        <p:nvPicPr>
          <p:cNvPr id="28" name="icon-245" descr="icon">    </p:cNvPr>
          <p:cNvPicPr>
            <a:picLocks noChangeAspect="1"/>
          </p:cNvPicPr>
          <p:nvPr/>
        </p:nvPicPr>
        <p:blipFill>
          <a:blip r:embed="rId5"/>
          <a:stretch>
            <a:fillRect/>
          </a:stretch>
        </p:blipFill>
        <p:spPr>
          <a:xfrm>
            <a:off x="6295644" y="3781044"/>
            <a:ext cx="210312" cy="210312"/>
          </a:xfrm>
          <a:prstGeom prst="rect">
            <a:avLst/>
          </a:prstGeom>
        </p:spPr>
      </p:pic>
      <p:sp>
        <p:nvSpPr>
          <p:cNvPr id="29" name="text-246"/>
          <p:cNvSpPr txBox="1"/>
          <p:nvPr/>
        </p:nvSpPr>
        <p:spPr>
          <a:xfrm>
            <a:off x="6812280" y="3611880"/>
            <a:ext cx="4754880" cy="548640"/>
          </a:xfrm>
          <a:prstGeom prst="rect">
            <a:avLst/>
          </a:prstGeom>
          <a:noFill/>
          <a:ln/>
        </p:spPr>
        <p:txBody>
          <a:bodyPr wrap="square" lIns="0" tIns="0" rIns="0" bIns="0" rtlCol="0" anchor="ctr"/>
          <a:lstStyle/>
          <a:p>
            <a:pPr algn="l" indent="0" marL="0">
              <a:buNone/>
            </a:pPr>
            <a:r>
              <a:rPr lang="en-US" sz="1800" dirty="0">
                <a:solidFill>
                  <a:srgbClr val="14253A"/>
                </a:solidFill>
                <a:latin typeface="Calibri" pitchFamily="34" charset="0"/>
                <a:ea typeface="Calibri" pitchFamily="34" charset="-122"/>
                <a:cs typeface="Calibri" pitchFamily="34" charset="-120"/>
              </a:rPr>
              <a:t>20 of 20 DINO weights matched</a:t>
            </a:r>
            <a:endParaRPr lang="en-US" sz="1800" dirty="0"/>
          </a:p>
        </p:txBody>
      </p:sp>
      <p:sp>
        <p:nvSpPr>
          <p:cNvPr id="30" name="dot-247"/>
          <p:cNvSpPr/>
          <p:nvPr/>
        </p:nvSpPr>
        <p:spPr>
          <a:xfrm>
            <a:off x="548640" y="4407408"/>
            <a:ext cx="457200" cy="457200"/>
          </a:xfrm>
          <a:prstGeom prst="ellipse">
            <a:avLst/>
          </a:prstGeom>
          <a:solidFill>
            <a:srgbClr val="2E9E6B"/>
          </a:solidFill>
          <a:ln/>
        </p:spPr>
      </p:sp>
      <p:pic>
        <p:nvPicPr>
          <p:cNvPr id="31" name="icon-248" descr="icon">    </p:cNvPr>
          <p:cNvPicPr>
            <a:picLocks noChangeAspect="1"/>
          </p:cNvPicPr>
          <p:nvPr/>
        </p:nvPicPr>
        <p:blipFill>
          <a:blip r:embed="rId6"/>
          <a:stretch>
            <a:fillRect/>
          </a:stretch>
        </p:blipFill>
        <p:spPr>
          <a:xfrm>
            <a:off x="672084" y="4530852"/>
            <a:ext cx="210312" cy="210312"/>
          </a:xfrm>
          <a:prstGeom prst="rect">
            <a:avLst/>
          </a:prstGeom>
        </p:spPr>
      </p:pic>
      <p:sp>
        <p:nvSpPr>
          <p:cNvPr id="32" name="text-249"/>
          <p:cNvSpPr txBox="1"/>
          <p:nvPr/>
        </p:nvSpPr>
        <p:spPr>
          <a:xfrm>
            <a:off x="1188720" y="4361688"/>
            <a:ext cx="4754880" cy="548640"/>
          </a:xfrm>
          <a:prstGeom prst="rect">
            <a:avLst/>
          </a:prstGeom>
          <a:noFill/>
          <a:ln/>
        </p:spPr>
        <p:txBody>
          <a:bodyPr wrap="square" lIns="0" tIns="0" rIns="0" bIns="0" rtlCol="0" anchor="ctr"/>
          <a:lstStyle/>
          <a:p>
            <a:pPr algn="l" indent="0" marL="0">
              <a:buNone/>
            </a:pPr>
            <a:r>
              <a:rPr lang="en-US" sz="1800" dirty="0">
                <a:solidFill>
                  <a:srgbClr val="14253A"/>
                </a:solidFill>
                <a:latin typeface="Calibri" pitchFamily="34" charset="0"/>
                <a:ea typeface="Calibri" pitchFamily="34" charset="-122"/>
                <a:cs typeface="Calibri" pitchFamily="34" charset="-120"/>
              </a:rPr>
              <a:t>Shapes, IDs and ranges checked at every stage</a:t>
            </a:r>
            <a:endParaRPr lang="en-US" sz="1800" dirty="0"/>
          </a:p>
        </p:txBody>
      </p:sp>
      <p:sp>
        <p:nvSpPr>
          <p:cNvPr id="33" name="dot-250"/>
          <p:cNvSpPr/>
          <p:nvPr/>
        </p:nvSpPr>
        <p:spPr>
          <a:xfrm>
            <a:off x="6172200" y="4407408"/>
            <a:ext cx="457200" cy="457200"/>
          </a:xfrm>
          <a:prstGeom prst="ellipse">
            <a:avLst/>
          </a:prstGeom>
          <a:solidFill>
            <a:srgbClr val="2E9E6B"/>
          </a:solidFill>
          <a:ln/>
        </p:spPr>
      </p:sp>
      <p:pic>
        <p:nvPicPr>
          <p:cNvPr id="34" name="icon-251" descr="icon">    </p:cNvPr>
          <p:cNvPicPr>
            <a:picLocks noChangeAspect="1"/>
          </p:cNvPicPr>
          <p:nvPr/>
        </p:nvPicPr>
        <p:blipFill>
          <a:blip r:embed="rId7"/>
          <a:stretch>
            <a:fillRect/>
          </a:stretch>
        </p:blipFill>
        <p:spPr>
          <a:xfrm>
            <a:off x="6295644" y="4530852"/>
            <a:ext cx="210312" cy="210312"/>
          </a:xfrm>
          <a:prstGeom prst="rect">
            <a:avLst/>
          </a:prstGeom>
        </p:spPr>
      </p:pic>
      <p:sp>
        <p:nvSpPr>
          <p:cNvPr id="35" name="text-252"/>
          <p:cNvSpPr txBox="1"/>
          <p:nvPr/>
        </p:nvSpPr>
        <p:spPr>
          <a:xfrm>
            <a:off x="6812280" y="4361688"/>
            <a:ext cx="4754880" cy="548640"/>
          </a:xfrm>
          <a:prstGeom prst="rect">
            <a:avLst/>
          </a:prstGeom>
          <a:noFill/>
          <a:ln/>
        </p:spPr>
        <p:txBody>
          <a:bodyPr wrap="square" lIns="0" tIns="0" rIns="0" bIns="0" rtlCol="0" anchor="ctr"/>
          <a:lstStyle/>
          <a:p>
            <a:pPr algn="l" indent="0" marL="0">
              <a:buNone/>
            </a:pPr>
            <a:r>
              <a:rPr lang="en-US" sz="1800" dirty="0">
                <a:solidFill>
                  <a:srgbClr val="14253A"/>
                </a:solidFill>
                <a:latin typeface="Calibri" pitchFamily="34" charset="0"/>
                <a:ea typeface="Calibri" pitchFamily="34" charset="-122"/>
                <a:cs typeface="Calibri" pitchFamily="34" charset="-120"/>
              </a:rPr>
              <a:t>4 CoAtNet arms completed</a:t>
            </a:r>
            <a:endParaRPr lang="en-US" sz="1800" dirty="0"/>
          </a:p>
        </p:txBody>
      </p:sp>
      <p:sp>
        <p:nvSpPr>
          <p:cNvPr id="36" name="dot-253"/>
          <p:cNvSpPr/>
          <p:nvPr/>
        </p:nvSpPr>
        <p:spPr>
          <a:xfrm>
            <a:off x="548640" y="5157216"/>
            <a:ext cx="457200" cy="457200"/>
          </a:xfrm>
          <a:prstGeom prst="ellipse">
            <a:avLst/>
          </a:prstGeom>
          <a:solidFill>
            <a:srgbClr val="2E9E6B"/>
          </a:solidFill>
          <a:ln/>
        </p:spPr>
      </p:sp>
      <p:pic>
        <p:nvPicPr>
          <p:cNvPr id="37" name="icon-254" descr="icon">    </p:cNvPr>
          <p:cNvPicPr>
            <a:picLocks noChangeAspect="1"/>
          </p:cNvPicPr>
          <p:nvPr/>
        </p:nvPicPr>
        <p:blipFill>
          <a:blip r:embed="rId8"/>
          <a:stretch>
            <a:fillRect/>
          </a:stretch>
        </p:blipFill>
        <p:spPr>
          <a:xfrm>
            <a:off x="672084" y="5280660"/>
            <a:ext cx="210312" cy="210312"/>
          </a:xfrm>
          <a:prstGeom prst="rect">
            <a:avLst/>
          </a:prstGeom>
        </p:spPr>
      </p:pic>
      <p:sp>
        <p:nvSpPr>
          <p:cNvPr id="38" name="text-255"/>
          <p:cNvSpPr txBox="1"/>
          <p:nvPr/>
        </p:nvSpPr>
        <p:spPr>
          <a:xfrm>
            <a:off x="1188720" y="5111496"/>
            <a:ext cx="4754880" cy="548640"/>
          </a:xfrm>
          <a:prstGeom prst="rect">
            <a:avLst/>
          </a:prstGeom>
          <a:noFill/>
          <a:ln/>
        </p:spPr>
        <p:txBody>
          <a:bodyPr wrap="square" lIns="0" tIns="0" rIns="0" bIns="0" rtlCol="0" anchor="ctr"/>
          <a:lstStyle/>
          <a:p>
            <a:pPr algn="l" indent="0" marL="0">
              <a:buNone/>
            </a:pPr>
            <a:r>
              <a:rPr lang="en-US" sz="1800" dirty="0">
                <a:solidFill>
                  <a:srgbClr val="14253A"/>
                </a:solidFill>
                <a:latin typeface="Calibri" pitchFamily="34" charset="0"/>
                <a:ea typeface="Calibri" pitchFamily="34" charset="-122"/>
                <a:cs typeface="Calibri" pitchFamily="34" charset="-120"/>
              </a:rPr>
              <a:t>Gain-view check reproduces the parent exactly</a:t>
            </a:r>
            <a:endParaRPr lang="en-US" sz="1800" dirty="0"/>
          </a:p>
        </p:txBody>
      </p:sp>
      <p:sp>
        <p:nvSpPr>
          <p:cNvPr id="39" name="dot-256"/>
          <p:cNvSpPr/>
          <p:nvPr/>
        </p:nvSpPr>
        <p:spPr>
          <a:xfrm>
            <a:off x="6172200" y="5157216"/>
            <a:ext cx="457200" cy="457200"/>
          </a:xfrm>
          <a:prstGeom prst="ellipse">
            <a:avLst/>
          </a:prstGeom>
          <a:solidFill>
            <a:srgbClr val="2E9E6B"/>
          </a:solidFill>
          <a:ln/>
        </p:spPr>
      </p:sp>
      <p:pic>
        <p:nvPicPr>
          <p:cNvPr id="40" name="icon-257" descr="icon">    </p:cNvPr>
          <p:cNvPicPr>
            <a:picLocks noChangeAspect="1"/>
          </p:cNvPicPr>
          <p:nvPr/>
        </p:nvPicPr>
        <p:blipFill>
          <a:blip r:embed="rId9"/>
          <a:stretch>
            <a:fillRect/>
          </a:stretch>
        </p:blipFill>
        <p:spPr>
          <a:xfrm>
            <a:off x="6295644" y="5280660"/>
            <a:ext cx="210312" cy="210312"/>
          </a:xfrm>
          <a:prstGeom prst="rect">
            <a:avLst/>
          </a:prstGeom>
        </p:spPr>
      </p:pic>
      <p:sp>
        <p:nvSpPr>
          <p:cNvPr id="41" name="text-258"/>
          <p:cNvSpPr txBox="1"/>
          <p:nvPr/>
        </p:nvSpPr>
        <p:spPr>
          <a:xfrm>
            <a:off x="6812280" y="5111496"/>
            <a:ext cx="4754880" cy="548640"/>
          </a:xfrm>
          <a:prstGeom prst="rect">
            <a:avLst/>
          </a:prstGeom>
          <a:noFill/>
          <a:ln/>
        </p:spPr>
        <p:txBody>
          <a:bodyPr wrap="square" lIns="0" tIns="0" rIns="0" bIns="0" rtlCol="0" anchor="ctr"/>
          <a:lstStyle/>
          <a:p>
            <a:pPr algn="l" indent="0" marL="0">
              <a:buNone/>
            </a:pPr>
            <a:r>
              <a:rPr lang="en-US" sz="1800" dirty="0">
                <a:solidFill>
                  <a:srgbClr val="14253A"/>
                </a:solidFill>
                <a:latin typeface="Calibri" pitchFamily="34" charset="0"/>
                <a:ea typeface="Calibri" pitchFamily="34" charset="-122"/>
                <a:cs typeface="Calibri" pitchFamily="34" charset="-120"/>
              </a:rPr>
              <a:t>Final file hashed (SHA-256)</a:t>
            </a:r>
            <a:endParaRPr lang="en-US" sz="1800" dirty="0"/>
          </a:p>
        </p:txBody>
      </p:sp>
      <p:sp>
        <p:nvSpPr>
          <p:cNvPr id="42" name="text-259"/>
          <p:cNvSpPr txBox="1"/>
          <p:nvPr/>
        </p:nvSpPr>
        <p:spPr>
          <a:xfrm>
            <a:off x="548640" y="5943600"/>
            <a:ext cx="11094415" cy="365760"/>
          </a:xfrm>
          <a:prstGeom prst="rect">
            <a:avLst/>
          </a:prstGeom>
          <a:noFill/>
          <a:ln/>
        </p:spPr>
        <p:txBody>
          <a:bodyPr wrap="square" lIns="0" tIns="0" rIns="0" bIns="0" rtlCol="0" anchor="t"/>
          <a:lstStyle/>
          <a:p>
            <a:pPr algn="l" indent="0" marL="0">
              <a:buNone/>
            </a:pPr>
            <a:r>
              <a:rPr lang="en-US" sz="1500" dirty="0">
                <a:solidFill>
                  <a:srgbClr val="5C6B7A"/>
                </a:solidFill>
                <a:latin typeface="Calibri" pitchFamily="34" charset="0"/>
                <a:ea typeface="Calibri" pitchFamily="34" charset="-122"/>
                <a:cs typeface="Calibri" pitchFamily="34" charset="-120"/>
              </a:rPr>
              <a:t>The 3-study test run takes about 100 seconds end to end.</a:t>
            </a:r>
            <a:endParaRPr lang="en-US" sz="15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Ablation I: more models help, then flatten</a:t>
            </a:r>
            <a:endParaRPr lang="en-US" sz="3400" dirty="0"/>
          </a:p>
        </p:txBody>
      </p:sp>
      <p:sp>
        <p:nvSpPr>
          <p:cNvPr id="3" name="chev-260"/>
          <p:cNvSpPr/>
          <p:nvPr/>
        </p:nvSpPr>
        <p:spPr>
          <a:xfrm>
            <a:off x="548640" y="246888"/>
            <a:ext cx="137160" cy="201168"/>
          </a:xfrm>
          <a:prstGeom prst="chevron">
            <a:avLst/>
          </a:prstGeom>
          <a:solidFill>
            <a:srgbClr val="E0690C"/>
          </a:solidFill>
          <a:ln/>
        </p:spPr>
      </p:sp>
      <p:sp>
        <p:nvSpPr>
          <p:cNvPr id="4" name="text-261"/>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EXPERIMENTS</a:t>
            </a:r>
            <a:endParaRPr lang="en-US" sz="1200" dirty="0"/>
          </a:p>
        </p:txBody>
      </p:sp>
      <p:sp>
        <p:nvSpPr>
          <p:cNvPr id="6" name="pill-262"/>
          <p:cNvSpPr/>
          <p:nvPr/>
        </p:nvSpPr>
        <p:spPr>
          <a:xfrm>
            <a:off x="8732520" y="182880"/>
            <a:ext cx="2907792" cy="292608"/>
          </a:xfrm>
          <a:prstGeom prst="roundRect">
            <a:avLst>
              <a:gd name="adj" fmla="val 46875"/>
            </a:avLst>
          </a:prstGeom>
          <a:solidFill>
            <a:srgbClr val="FDEBDD"/>
          </a:solidFill>
          <a:ln/>
        </p:spPr>
        <p:txBody>
          <a:bodyPr wrap="square" lIns="0" tIns="0" rIns="0" bIns="0" rtlCol="0" anchor="ctr"/>
          <a:lstStyle/>
          <a:p>
            <a:pPr algn="ctr" indent="0" marL="0">
              <a:buNone/>
            </a:pPr>
            <a:r>
              <a:rPr lang="en-US" sz="1100" b="1" dirty="0">
                <a:solidFill>
                  <a:srgbClr val="B34E00"/>
                </a:solidFill>
                <a:latin typeface="Calibri" pitchFamily="34" charset="0"/>
                <a:ea typeface="Calibri" pitchFamily="34" charset="-122"/>
                <a:cs typeface="Calibri" pitchFamily="34" charset="-120"/>
              </a:rPr>
              <a:t>SIMULATION  ·  SYNTHETIC DATA</a:t>
            </a:r>
            <a:endParaRPr lang="en-US" sz="1100" dirty="0"/>
          </a:p>
        </p:txBody>
      </p:sp>
      <p:sp>
        <p:nvSpPr>
          <p:cNvPr id="7" name="text-263"/>
          <p:cNvSpPr txBox="1"/>
          <p:nvPr/>
        </p:nvSpPr>
        <p:spPr>
          <a:xfrm>
            <a:off x="548640" y="1417320"/>
            <a:ext cx="5486400" cy="365760"/>
          </a:xfrm>
          <a:prstGeom prst="rect">
            <a:avLst/>
          </a:prstGeom>
          <a:noFill/>
          <a:ln/>
        </p:spPr>
        <p:txBody>
          <a:bodyPr wrap="square" lIns="0" tIns="0" rIns="0" bIns="0" rtlCol="0" anchor="t"/>
          <a:lstStyle/>
          <a:p>
            <a:pPr algn="l" indent="0" marL="0">
              <a:buNone/>
            </a:pPr>
            <a:r>
              <a:rPr lang="en-US" sz="1900" b="1" dirty="0">
                <a:solidFill>
                  <a:srgbClr val="0F2740"/>
                </a:solidFill>
                <a:latin typeface="Cambria" pitchFamily="34" charset="0"/>
                <a:ea typeface="Cambria" pitchFamily="34" charset="-122"/>
                <a:cs typeface="Cambria" pitchFamily="34" charset="-120"/>
              </a:rPr>
              <a:t>Macro AUC vs ensemble size</a:t>
            </a:r>
            <a:endParaRPr lang="en-US" sz="1900" dirty="0"/>
          </a:p>
        </p:txBody>
      </p:sp>
      <p:sp>
        <p:nvSpPr>
          <p:cNvPr id="8" name="text-264"/>
          <p:cNvSpPr txBox="1"/>
          <p:nvPr/>
        </p:nvSpPr>
        <p:spPr>
          <a:xfrm>
            <a:off x="6172200" y="1417320"/>
            <a:ext cx="5486400" cy="365760"/>
          </a:xfrm>
          <a:prstGeom prst="rect">
            <a:avLst/>
          </a:prstGeom>
          <a:noFill/>
          <a:ln/>
        </p:spPr>
        <p:txBody>
          <a:bodyPr wrap="square" lIns="0" tIns="0" rIns="0" bIns="0" rtlCol="0" anchor="t"/>
          <a:lstStyle/>
          <a:p>
            <a:pPr algn="l" indent="0" marL="0">
              <a:buNone/>
            </a:pPr>
            <a:r>
              <a:rPr lang="en-US" sz="1900" b="1" dirty="0">
                <a:solidFill>
                  <a:srgbClr val="0F2740"/>
                </a:solidFill>
                <a:latin typeface="Cambria" pitchFamily="34" charset="0"/>
                <a:ea typeface="Cambria" pitchFamily="34" charset="-122"/>
                <a:cs typeface="Cambria" pitchFamily="34" charset="-120"/>
              </a:rPr>
              <a:t>Blend vs error correlation</a:t>
            </a:r>
            <a:endParaRPr lang="en-US" sz="1900" dirty="0"/>
          </a:p>
        </p:txBody>
      </p:sp>
      <p:pic>
        <p:nvPicPr>
          <p:cNvPr id="9" name="img-265" descr="Line chart: macro AUC against number of ensemble members">    </p:cNvPr>
          <p:cNvPicPr>
            <a:picLocks noChangeAspect="1"/>
          </p:cNvPicPr>
          <p:nvPr/>
        </p:nvPicPr>
        <p:blipFill>
          <a:blip r:embed="rId1"/>
          <a:stretch>
            <a:fillRect/>
          </a:stretch>
        </p:blipFill>
        <p:spPr>
          <a:xfrm>
            <a:off x="548640" y="1828800"/>
            <a:ext cx="5486400" cy="3794760"/>
          </a:xfrm>
          <a:prstGeom prst="rect">
            <a:avLst/>
          </a:prstGeom>
        </p:spPr>
      </p:pic>
      <p:pic>
        <p:nvPicPr>
          <p:cNvPr id="10" name="img-266" descr="Line chart: three-family blend versus DINO ensemble across error correlation">    </p:cNvPr>
          <p:cNvPicPr>
            <a:picLocks noChangeAspect="1"/>
          </p:cNvPicPr>
          <p:nvPr/>
        </p:nvPicPr>
        <p:blipFill>
          <a:blip r:embed="rId2"/>
          <a:stretch>
            <a:fillRect/>
          </a:stretch>
        </p:blipFill>
        <p:spPr>
          <a:xfrm>
            <a:off x="6172200" y="1828800"/>
            <a:ext cx="5470855" cy="3798618"/>
          </a:xfrm>
          <a:prstGeom prst="rect">
            <a:avLst/>
          </a:prstGeom>
        </p:spPr>
      </p:pic>
      <p:sp>
        <p:nvSpPr>
          <p:cNvPr id="11" name="text-267"/>
          <p:cNvSpPr txBox="1"/>
          <p:nvPr/>
        </p:nvSpPr>
        <p:spPr>
          <a:xfrm>
            <a:off x="548640" y="5742432"/>
            <a:ext cx="11094415" cy="411480"/>
          </a:xfrm>
          <a:prstGeom prst="rect">
            <a:avLst/>
          </a:prstGeom>
          <a:noFill/>
          <a:ln/>
        </p:spPr>
        <p:txBody>
          <a:bodyPr wrap="square" lIns="0" tIns="0" rIns="0" bIns="0" rtlCol="0" anchor="t"/>
          <a:lstStyle/>
          <a:p>
            <a:pPr algn="l" indent="0" marL="0">
              <a:buNone/>
            </a:pPr>
            <a:r>
              <a:rPr lang="en-US" sz="2100" b="1" dirty="0">
                <a:solidFill>
                  <a:srgbClr val="0F2740"/>
                </a:solidFill>
                <a:latin typeface="Calibri" pitchFamily="34" charset="0"/>
                <a:ea typeface="Calibri" pitchFamily="34" charset="-122"/>
                <a:cs typeface="Calibri" pitchFamily="34" charset="-120"/>
              </a:rPr>
              <a:t>10 → 20 members adds only +0.002.  Blending helps when errors differ (ρ = 0.2: +0.028).</a:t>
            </a:r>
            <a:endParaRPr lang="en-US" sz="2100" dirty="0"/>
          </a:p>
        </p:txBody>
      </p:sp>
      <p:sp>
        <p:nvSpPr>
          <p:cNvPr id="12" name="text-268"/>
          <p:cNvSpPr txBox="1"/>
          <p:nvPr/>
        </p:nvSpPr>
        <p:spPr>
          <a:xfrm>
            <a:off x="548640" y="6199632"/>
            <a:ext cx="11094415" cy="256032"/>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Synthetic data: 1,500 studies × 12 findings × 40 runs, assumed parameters, not RSNA data.</a:t>
            </a:r>
            <a:endParaRPr lang="en-US" sz="12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Ablation II: switching A, B and G on and off</a:t>
            </a:r>
            <a:endParaRPr lang="en-US" sz="3400" dirty="0"/>
          </a:p>
        </p:txBody>
      </p:sp>
      <p:sp>
        <p:nvSpPr>
          <p:cNvPr id="3" name="chev-269"/>
          <p:cNvSpPr/>
          <p:nvPr/>
        </p:nvSpPr>
        <p:spPr>
          <a:xfrm>
            <a:off x="548640" y="246888"/>
            <a:ext cx="137160" cy="201168"/>
          </a:xfrm>
          <a:prstGeom prst="chevron">
            <a:avLst/>
          </a:prstGeom>
          <a:solidFill>
            <a:srgbClr val="E0690C"/>
          </a:solidFill>
          <a:ln/>
        </p:spPr>
      </p:sp>
      <p:sp>
        <p:nvSpPr>
          <p:cNvPr id="4" name="text-270"/>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EXPERIMENTS</a:t>
            </a:r>
            <a:endParaRPr lang="en-US" sz="1200" dirty="0"/>
          </a:p>
        </p:txBody>
      </p:sp>
      <p:sp>
        <p:nvSpPr>
          <p:cNvPr id="6" name="pill-271"/>
          <p:cNvSpPr/>
          <p:nvPr/>
        </p:nvSpPr>
        <p:spPr>
          <a:xfrm>
            <a:off x="8732520" y="182880"/>
            <a:ext cx="2907792" cy="292608"/>
          </a:xfrm>
          <a:prstGeom prst="roundRect">
            <a:avLst>
              <a:gd name="adj" fmla="val 46875"/>
            </a:avLst>
          </a:prstGeom>
          <a:solidFill>
            <a:srgbClr val="FDEBDD"/>
          </a:solidFill>
          <a:ln/>
        </p:spPr>
        <p:txBody>
          <a:bodyPr wrap="square" lIns="0" tIns="0" rIns="0" bIns="0" rtlCol="0" anchor="ctr"/>
          <a:lstStyle/>
          <a:p>
            <a:pPr algn="ctr" indent="0" marL="0">
              <a:buNone/>
            </a:pPr>
            <a:r>
              <a:rPr lang="en-US" sz="1100" b="1" dirty="0">
                <a:solidFill>
                  <a:srgbClr val="B34E00"/>
                </a:solidFill>
                <a:latin typeface="Calibri" pitchFamily="34" charset="0"/>
                <a:ea typeface="Calibri" pitchFamily="34" charset="-122"/>
                <a:cs typeface="Calibri" pitchFamily="34" charset="-120"/>
              </a:rPr>
              <a:t>SIMULATION  ·  SYNTHETIC DATA</a:t>
            </a:r>
            <a:endParaRPr lang="en-US" sz="1100" dirty="0"/>
          </a:p>
        </p:txBody>
      </p:sp>
      <p:sp>
        <p:nvSpPr>
          <p:cNvPr id="7" name="card-272"/>
          <p:cNvSpPr/>
          <p:nvPr/>
        </p:nvSpPr>
        <p:spPr>
          <a:xfrm>
            <a:off x="548640" y="1463040"/>
            <a:ext cx="7132320" cy="4434840"/>
          </a:xfrm>
          <a:prstGeom prst="roundRect">
            <a:avLst>
              <a:gd name="adj" fmla="val 2887"/>
            </a:avLst>
          </a:prstGeom>
          <a:solidFill>
            <a:srgbClr val="FFFFFF"/>
          </a:solidFill>
          <a:ln w="9525">
            <a:solidFill>
              <a:srgbClr val="D5DEE7"/>
            </a:solidFill>
            <a:prstDash val="solid"/>
          </a:ln>
        </p:spPr>
      </p:sp>
      <p:pic>
        <p:nvPicPr>
          <p:cNvPr id="8" name="img-273" descr="Bars and whiskers: simulated change in macro AUC for A, B, G, A+B and ABG">    </p:cNvPr>
          <p:cNvPicPr>
            <a:picLocks noChangeAspect="1"/>
          </p:cNvPicPr>
          <p:nvPr/>
        </p:nvPicPr>
        <p:blipFill>
          <a:blip r:embed="rId1"/>
          <a:stretch>
            <a:fillRect/>
          </a:stretch>
        </p:blipFill>
        <p:spPr>
          <a:xfrm>
            <a:off x="640080" y="1536192"/>
            <a:ext cx="6949440" cy="4160520"/>
          </a:xfrm>
          <a:prstGeom prst="rect">
            <a:avLst/>
          </a:prstGeom>
        </p:spPr>
      </p:pic>
      <p:sp>
        <p:nvSpPr>
          <p:cNvPr id="9" name="badge-274"/>
          <p:cNvSpPr/>
          <p:nvPr/>
        </p:nvSpPr>
        <p:spPr>
          <a:xfrm>
            <a:off x="8001000" y="1536192"/>
            <a:ext cx="384048" cy="384048"/>
          </a:xfrm>
          <a:prstGeom prst="ellipse">
            <a:avLst/>
          </a:prstGeom>
          <a:solidFill>
            <a:srgbClr val="2B7BC4"/>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0" name="text-275"/>
          <p:cNvSpPr txBox="1"/>
          <p:nvPr/>
        </p:nvSpPr>
        <p:spPr>
          <a:xfrm>
            <a:off x="8549640" y="1490472"/>
            <a:ext cx="3090672" cy="640080"/>
          </a:xfrm>
          <a:prstGeom prst="rect">
            <a:avLst/>
          </a:prstGeom>
          <a:noFill/>
          <a:ln/>
        </p:spPr>
        <p:txBody>
          <a:bodyPr wrap="square" lIns="0" tIns="0" rIns="0" bIns="0" rtlCol="0" anchor="t"/>
          <a:lstStyle/>
          <a:p>
            <a:pPr algn="l" indent="0" marL="0">
              <a:buNone/>
            </a:pPr>
            <a:r>
              <a:rPr lang="en-US" sz="1800" b="1" dirty="0">
                <a:solidFill>
                  <a:srgbClr val="0F2740"/>
                </a:solidFill>
                <a:latin typeface="Calibri" pitchFamily="34" charset="0"/>
                <a:ea typeface="Calibri" pitchFamily="34" charset="-122"/>
                <a:cs typeface="Calibri" pitchFamily="34" charset="-120"/>
              </a:rPr>
              <a:t>Thousandths, not hundredths</a:t>
            </a:r>
            <a:endParaRPr lang="en-US" sz="1800" dirty="0"/>
          </a:p>
        </p:txBody>
      </p:sp>
      <p:sp>
        <p:nvSpPr>
          <p:cNvPr id="11" name="text-276"/>
          <p:cNvSpPr txBox="1"/>
          <p:nvPr/>
        </p:nvSpPr>
        <p:spPr>
          <a:xfrm>
            <a:off x="8549640" y="2075688"/>
            <a:ext cx="3090672" cy="64008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Every combination moves the score by less than 0.005.</a:t>
            </a:r>
            <a:endParaRPr lang="en-US" sz="1400" dirty="0"/>
          </a:p>
        </p:txBody>
      </p:sp>
      <p:sp>
        <p:nvSpPr>
          <p:cNvPr id="12" name="badge-277"/>
          <p:cNvSpPr/>
          <p:nvPr/>
        </p:nvSpPr>
        <p:spPr>
          <a:xfrm>
            <a:off x="8001000" y="2770632"/>
            <a:ext cx="384048" cy="384048"/>
          </a:xfrm>
          <a:prstGeom prst="ellipse">
            <a:avLst/>
          </a:prstGeom>
          <a:solidFill>
            <a:srgbClr val="2B7BC4"/>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278"/>
          <p:cNvSpPr txBox="1"/>
          <p:nvPr/>
        </p:nvSpPr>
        <p:spPr>
          <a:xfrm>
            <a:off x="8549640" y="2724912"/>
            <a:ext cx="3090672" cy="640080"/>
          </a:xfrm>
          <a:prstGeom prst="rect">
            <a:avLst/>
          </a:prstGeom>
          <a:noFill/>
          <a:ln/>
        </p:spPr>
        <p:txBody>
          <a:bodyPr wrap="square" lIns="0" tIns="0" rIns="0" bIns="0" rtlCol="0" anchor="t"/>
          <a:lstStyle/>
          <a:p>
            <a:pPr algn="l" indent="0" marL="0">
              <a:buNone/>
            </a:pPr>
            <a:r>
              <a:rPr lang="en-US" sz="1800" b="1" dirty="0">
                <a:solidFill>
                  <a:srgbClr val="0F2740"/>
                </a:solidFill>
                <a:latin typeface="Calibri" pitchFamily="34" charset="0"/>
                <a:ea typeface="Calibri" pitchFamily="34" charset="-122"/>
                <a:cs typeface="Calibri" pitchFamily="34" charset="-120"/>
              </a:rPr>
              <a:t>Head quality sets the sign</a:t>
            </a:r>
            <a:endParaRPr lang="en-US" sz="1800" dirty="0"/>
          </a:p>
        </p:txBody>
      </p:sp>
      <p:sp>
        <p:nvSpPr>
          <p:cNvPr id="14" name="text-279"/>
          <p:cNvSpPr txBox="1"/>
          <p:nvPr/>
        </p:nvSpPr>
        <p:spPr>
          <a:xfrm>
            <a:off x="8549640" y="3310128"/>
            <a:ext cx="3090672" cy="64008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Better added heads help; worse ones hurt, B most (−0.0032 at 0.03 worse).</a:t>
            </a:r>
            <a:endParaRPr lang="en-US" sz="1400" dirty="0"/>
          </a:p>
        </p:txBody>
      </p:sp>
      <p:sp>
        <p:nvSpPr>
          <p:cNvPr id="15" name="badge-280"/>
          <p:cNvSpPr/>
          <p:nvPr/>
        </p:nvSpPr>
        <p:spPr>
          <a:xfrm>
            <a:off x="8001000" y="4005072"/>
            <a:ext cx="384048" cy="384048"/>
          </a:xfrm>
          <a:prstGeom prst="ellipse">
            <a:avLst/>
          </a:prstGeom>
          <a:solidFill>
            <a:srgbClr val="2B7BC4"/>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281"/>
          <p:cNvSpPr txBox="1"/>
          <p:nvPr/>
        </p:nvSpPr>
        <p:spPr>
          <a:xfrm>
            <a:off x="8549640" y="3959352"/>
            <a:ext cx="3090672" cy="640080"/>
          </a:xfrm>
          <a:prstGeom prst="rect">
            <a:avLst/>
          </a:prstGeom>
          <a:noFill/>
          <a:ln/>
        </p:spPr>
        <p:txBody>
          <a:bodyPr wrap="square" lIns="0" tIns="0" rIns="0" bIns="0" rtlCol="0" anchor="t"/>
          <a:lstStyle/>
          <a:p>
            <a:pPr algn="l" indent="0" marL="0">
              <a:buNone/>
            </a:pPr>
            <a:r>
              <a:rPr lang="en-US" sz="1800" b="1" dirty="0">
                <a:solidFill>
                  <a:srgbClr val="0F2740"/>
                </a:solidFill>
                <a:latin typeface="Calibri" pitchFamily="34" charset="0"/>
                <a:ea typeface="Calibri" pitchFamily="34" charset="-122"/>
                <a:cs typeface="Calibri" pitchFamily="34" charset="-120"/>
              </a:rPr>
              <a:t>Gain averaging is neutral here</a:t>
            </a:r>
            <a:endParaRPr lang="en-US" sz="1800" dirty="0"/>
          </a:p>
        </p:txBody>
      </p:sp>
      <p:sp>
        <p:nvSpPr>
          <p:cNvPr id="17" name="text-282"/>
          <p:cNvSpPr txBox="1"/>
          <p:nvPr/>
        </p:nvSpPr>
        <p:spPr>
          <a:xfrm>
            <a:off x="8549640" y="4544568"/>
            <a:ext cx="3090672" cy="64008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G changes the score by about zero.</a:t>
            </a:r>
            <a:endParaRPr lang="en-US" sz="1400" dirty="0"/>
          </a:p>
        </p:txBody>
      </p:sp>
      <p:sp>
        <p:nvSpPr>
          <p:cNvPr id="18" name="card-283"/>
          <p:cNvSpPr/>
          <p:nvPr/>
        </p:nvSpPr>
        <p:spPr>
          <a:xfrm>
            <a:off x="8001000" y="5029200"/>
            <a:ext cx="3642055" cy="868680"/>
          </a:xfrm>
          <a:prstGeom prst="roundRect">
            <a:avLst>
              <a:gd name="adj" fmla="val 14737"/>
            </a:avLst>
          </a:prstGeom>
          <a:solidFill>
            <a:srgbClr val="FDEBDD"/>
          </a:solidFill>
          <a:ln/>
        </p:spPr>
      </p:sp>
      <p:sp>
        <p:nvSpPr>
          <p:cNvPr id="19" name="text-284"/>
          <p:cNvSpPr txBox="1"/>
          <p:nvPr/>
        </p:nvSpPr>
        <p:spPr>
          <a:xfrm>
            <a:off x="8183880" y="5029200"/>
            <a:ext cx="3291840" cy="868680"/>
          </a:xfrm>
          <a:prstGeom prst="rect">
            <a:avLst/>
          </a:prstGeom>
          <a:noFill/>
          <a:ln/>
        </p:spPr>
        <p:txBody>
          <a:bodyPr wrap="square" lIns="0" tIns="0" rIns="0" bIns="0" rtlCol="0" anchor="ctr"/>
          <a:lstStyle/>
          <a:p>
            <a:pPr algn="l" indent="0" marL="0">
              <a:buNone/>
            </a:pPr>
            <a:r>
              <a:rPr lang="en-US" sz="1500" b="1" dirty="0">
                <a:solidFill>
                  <a:srgbClr val="B34E00"/>
                </a:solidFill>
                <a:latin typeface="Calibri" pitchFamily="34" charset="0"/>
                <a:ea typeface="Calibri" pitchFamily="34" charset="-122"/>
                <a:cs typeface="Calibri" pitchFamily="34" charset="-120"/>
              </a:rPr>
              <a:t>Stress test: losing 0.018 needs heads about 0.15 AUC worse (−0.019).</a:t>
            </a:r>
            <a:endParaRPr lang="en-US" sz="1500" dirty="0"/>
          </a:p>
        </p:txBody>
      </p:sp>
      <p:sp>
        <p:nvSpPr>
          <p:cNvPr id="20" name="text-285"/>
          <p:cNvSpPr txBox="1"/>
          <p:nvPr/>
        </p:nvSpPr>
        <p:spPr>
          <a:xfrm>
            <a:off x="548640" y="6053328"/>
            <a:ext cx="11064240" cy="27432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Toy replica of our fusion graph on synthetic data, assumed parameters; same-quality bars, whiskers = heads 0.03 AUC worse / 0.02 AUC better.</a:t>
            </a:r>
            <a:endParaRPr lang="en-US" sz="12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Ideas we tried and dropped</a:t>
            </a:r>
            <a:endParaRPr lang="en-US" sz="3400" dirty="0"/>
          </a:p>
        </p:txBody>
      </p:sp>
      <p:sp>
        <p:nvSpPr>
          <p:cNvPr id="3" name="chev-286"/>
          <p:cNvSpPr/>
          <p:nvPr/>
        </p:nvSpPr>
        <p:spPr>
          <a:xfrm>
            <a:off x="548640" y="246888"/>
            <a:ext cx="137160" cy="201168"/>
          </a:xfrm>
          <a:prstGeom prst="chevron">
            <a:avLst/>
          </a:prstGeom>
          <a:solidFill>
            <a:srgbClr val="E0690C"/>
          </a:solidFill>
          <a:ln/>
        </p:spPr>
      </p:sp>
      <p:sp>
        <p:nvSpPr>
          <p:cNvPr id="4" name="text-287"/>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EXPERIMENTS</a:t>
            </a:r>
            <a:endParaRPr lang="en-US" sz="1200" dirty="0"/>
          </a:p>
        </p:txBody>
      </p:sp>
      <p:sp>
        <p:nvSpPr>
          <p:cNvPr id="6" name="card-288"/>
          <p:cNvSpPr/>
          <p:nvPr/>
        </p:nvSpPr>
        <p:spPr>
          <a:xfrm>
            <a:off x="548640" y="1463040"/>
            <a:ext cx="5394960" cy="4297680"/>
          </a:xfrm>
          <a:prstGeom prst="roundRect">
            <a:avLst>
              <a:gd name="adj" fmla="val 2979"/>
            </a:avLst>
          </a:prstGeom>
          <a:solidFill>
            <a:srgbClr val="FFFFFF"/>
          </a:solidFill>
          <a:ln w="9525">
            <a:solidFill>
              <a:srgbClr val="D5DEE7"/>
            </a:solidFill>
            <a:prstDash val="solid"/>
          </a:ln>
        </p:spPr>
      </p:sp>
      <p:pic>
        <p:nvPicPr>
          <p:cNvPr id="7" name="img-289" descr="Bar chart of recorded ACL AUC change for three retired ideas">    </p:cNvPr>
          <p:cNvPicPr>
            <a:picLocks noChangeAspect="1"/>
          </p:cNvPicPr>
          <p:nvPr/>
        </p:nvPicPr>
        <p:blipFill>
          <a:blip r:embed="rId1"/>
          <a:stretch>
            <a:fillRect/>
          </a:stretch>
        </p:blipFill>
        <p:spPr>
          <a:xfrm>
            <a:off x="731520" y="1600200"/>
            <a:ext cx="5029200" cy="3970421"/>
          </a:xfrm>
          <a:prstGeom prst="rect">
            <a:avLst/>
          </a:prstGeom>
        </p:spPr>
      </p:pic>
      <p:sp>
        <p:nvSpPr>
          <p:cNvPr id="8" name="card-290"/>
          <p:cNvSpPr/>
          <p:nvPr/>
        </p:nvSpPr>
        <p:spPr>
          <a:xfrm>
            <a:off x="6263640" y="1463040"/>
            <a:ext cx="5379415" cy="1325880"/>
          </a:xfrm>
          <a:prstGeom prst="roundRect">
            <a:avLst>
              <a:gd name="adj" fmla="val 9655"/>
            </a:avLst>
          </a:prstGeom>
          <a:solidFill>
            <a:srgbClr val="F2F6FA"/>
          </a:solidFill>
          <a:ln/>
        </p:spPr>
      </p:sp>
      <p:sp>
        <p:nvSpPr>
          <p:cNvPr id="9" name="text-291"/>
          <p:cNvSpPr txBox="1"/>
          <p:nvPr/>
        </p:nvSpPr>
        <p:spPr>
          <a:xfrm>
            <a:off x="6492240" y="1609344"/>
            <a:ext cx="2148840" cy="594360"/>
          </a:xfrm>
          <a:prstGeom prst="rect">
            <a:avLst/>
          </a:prstGeom>
          <a:noFill/>
          <a:ln/>
        </p:spPr>
        <p:txBody>
          <a:bodyPr wrap="square" lIns="0" tIns="0" rIns="0" bIns="0" rtlCol="0" anchor="t"/>
          <a:lstStyle/>
          <a:p>
            <a:pPr algn="l" indent="0" marL="0">
              <a:buNone/>
            </a:pPr>
            <a:r>
              <a:rPr lang="en-US" sz="3200" b="1" dirty="0">
                <a:solidFill>
                  <a:srgbClr val="D64545"/>
                </a:solidFill>
                <a:latin typeface="Cambria" pitchFamily="34" charset="0"/>
                <a:ea typeface="Cambria" pitchFamily="34" charset="-122"/>
                <a:cs typeface="Cambria" pitchFamily="34" charset="-120"/>
              </a:rPr>
              <a:t>0.677</a:t>
            </a:r>
            <a:endParaRPr lang="en-US" sz="3200" dirty="0"/>
          </a:p>
        </p:txBody>
      </p:sp>
      <p:sp>
        <p:nvSpPr>
          <p:cNvPr id="10" name="text-292"/>
          <p:cNvSpPr txBox="1"/>
          <p:nvPr/>
        </p:nvSpPr>
        <p:spPr>
          <a:xfrm>
            <a:off x="6492240" y="2240280"/>
            <a:ext cx="2148840" cy="32004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needed 0.80</a:t>
            </a:r>
            <a:endParaRPr lang="en-US" sz="1400" dirty="0"/>
          </a:p>
        </p:txBody>
      </p:sp>
      <p:sp>
        <p:nvSpPr>
          <p:cNvPr id="11" name="text-293"/>
          <p:cNvSpPr txBox="1"/>
          <p:nvPr/>
        </p:nvSpPr>
        <p:spPr>
          <a:xfrm>
            <a:off x="8686800" y="1645920"/>
            <a:ext cx="2834640" cy="1005840"/>
          </a:xfrm>
          <a:prstGeom prst="rect">
            <a:avLst/>
          </a:prstGeom>
          <a:noFill/>
          <a:ln/>
        </p:spPr>
        <p:txBody>
          <a:bodyPr wrap="square" lIns="0" tIns="0" rIns="0" bIns="0" rtlCol="0" anchor="ctr"/>
          <a:lstStyle/>
          <a:p>
            <a:pPr algn="l" indent="0" marL="0">
              <a:buNone/>
            </a:pPr>
            <a:r>
              <a:rPr lang="en-US" sz="1500" dirty="0">
                <a:solidFill>
                  <a:srgbClr val="14253A"/>
                </a:solidFill>
                <a:latin typeface="Calibri" pitchFamily="34" charset="0"/>
                <a:ea typeface="Calibri" pitchFamily="34" charset="-122"/>
                <a:cs typeface="Calibri" pitchFamily="34" charset="-120"/>
              </a:rPr>
              <a:t>OrthoDiffusion ACL overlay: confidence fell short; MCL and menisci were negative.</a:t>
            </a:r>
            <a:endParaRPr lang="en-US" sz="1500" dirty="0"/>
          </a:p>
        </p:txBody>
      </p:sp>
      <p:sp>
        <p:nvSpPr>
          <p:cNvPr id="12" name="card-294"/>
          <p:cNvSpPr/>
          <p:nvPr/>
        </p:nvSpPr>
        <p:spPr>
          <a:xfrm>
            <a:off x="6263640" y="2926080"/>
            <a:ext cx="5379415" cy="1325880"/>
          </a:xfrm>
          <a:prstGeom prst="roundRect">
            <a:avLst>
              <a:gd name="adj" fmla="val 9655"/>
            </a:avLst>
          </a:prstGeom>
          <a:solidFill>
            <a:srgbClr val="F2F6FA"/>
          </a:solidFill>
          <a:ln/>
        </p:spPr>
      </p:sp>
      <p:sp>
        <p:nvSpPr>
          <p:cNvPr id="13" name="text-295"/>
          <p:cNvSpPr txBox="1"/>
          <p:nvPr/>
        </p:nvSpPr>
        <p:spPr>
          <a:xfrm>
            <a:off x="6492240" y="3072384"/>
            <a:ext cx="2148840" cy="594360"/>
          </a:xfrm>
          <a:prstGeom prst="rect">
            <a:avLst/>
          </a:prstGeom>
          <a:noFill/>
          <a:ln/>
        </p:spPr>
        <p:txBody>
          <a:bodyPr wrap="square" lIns="0" tIns="0" rIns="0" bIns="0" rtlCol="0" anchor="t"/>
          <a:lstStyle/>
          <a:p>
            <a:pPr algn="l" indent="0" marL="0">
              <a:buNone/>
            </a:pPr>
            <a:r>
              <a:rPr lang="en-US" sz="3200" b="1" dirty="0">
                <a:solidFill>
                  <a:srgbClr val="D64545"/>
                </a:solidFill>
                <a:latin typeface="Cambria" pitchFamily="34" charset="0"/>
                <a:ea typeface="Cambria" pitchFamily="34" charset="-122"/>
                <a:cs typeface="Cambria" pitchFamily="34" charset="-120"/>
              </a:rPr>
              <a:t>+0.00008</a:t>
            </a:r>
            <a:endParaRPr lang="en-US" sz="3200" dirty="0"/>
          </a:p>
        </p:txBody>
      </p:sp>
      <p:sp>
        <p:nvSpPr>
          <p:cNvPr id="14" name="text-296"/>
          <p:cNvSpPr txBox="1"/>
          <p:nvPr/>
        </p:nvSpPr>
        <p:spPr>
          <a:xfrm>
            <a:off x="6492240" y="3703320"/>
            <a:ext cx="2148840" cy="32004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macro gain</a:t>
            </a:r>
            <a:endParaRPr lang="en-US" sz="1400" dirty="0"/>
          </a:p>
        </p:txBody>
      </p:sp>
      <p:sp>
        <p:nvSpPr>
          <p:cNvPr id="15" name="text-297"/>
          <p:cNvSpPr txBox="1"/>
          <p:nvPr/>
        </p:nvSpPr>
        <p:spPr>
          <a:xfrm>
            <a:off x="8686800" y="3108960"/>
            <a:ext cx="2834640" cy="1005840"/>
          </a:xfrm>
          <a:prstGeom prst="rect">
            <a:avLst/>
          </a:prstGeom>
          <a:noFill/>
          <a:ln/>
        </p:spPr>
        <p:txBody>
          <a:bodyPr wrap="square" lIns="0" tIns="0" rIns="0" bIns="0" rtlCol="0" anchor="ctr"/>
          <a:lstStyle/>
          <a:p>
            <a:pPr algn="l" indent="0" marL="0">
              <a:buNone/>
            </a:pPr>
            <a:r>
              <a:rPr lang="en-US" sz="1500" dirty="0">
                <a:solidFill>
                  <a:srgbClr val="14253A"/>
                </a:solidFill>
                <a:latin typeface="Calibri" pitchFamily="34" charset="0"/>
                <a:ea typeface="Calibri" pitchFamily="34" charset="-122"/>
                <a:cs typeface="Calibri" pitchFamily="34" charset="-120"/>
              </a:rPr>
              <a:t>Anchor-bilinear residual: below its pre-set floor.</a:t>
            </a:r>
            <a:endParaRPr lang="en-US" sz="1500" dirty="0"/>
          </a:p>
        </p:txBody>
      </p:sp>
      <p:sp>
        <p:nvSpPr>
          <p:cNvPr id="16" name="card-298"/>
          <p:cNvSpPr/>
          <p:nvPr/>
        </p:nvSpPr>
        <p:spPr>
          <a:xfrm>
            <a:off x="6263640" y="4389120"/>
            <a:ext cx="5379415" cy="1325880"/>
          </a:xfrm>
          <a:prstGeom prst="roundRect">
            <a:avLst>
              <a:gd name="adj" fmla="val 9655"/>
            </a:avLst>
          </a:prstGeom>
          <a:solidFill>
            <a:srgbClr val="F2F6FA"/>
          </a:solidFill>
          <a:ln/>
        </p:spPr>
      </p:sp>
      <p:sp>
        <p:nvSpPr>
          <p:cNvPr id="17" name="text-299"/>
          <p:cNvSpPr txBox="1"/>
          <p:nvPr/>
        </p:nvSpPr>
        <p:spPr>
          <a:xfrm>
            <a:off x="6492240" y="4535424"/>
            <a:ext cx="2148840" cy="594360"/>
          </a:xfrm>
          <a:prstGeom prst="rect">
            <a:avLst/>
          </a:prstGeom>
          <a:noFill/>
          <a:ln/>
        </p:spPr>
        <p:txBody>
          <a:bodyPr wrap="square" lIns="0" tIns="0" rIns="0" bIns="0" rtlCol="0" anchor="t"/>
          <a:lstStyle/>
          <a:p>
            <a:pPr algn="l" indent="0" marL="0">
              <a:buNone/>
            </a:pPr>
            <a:r>
              <a:rPr lang="en-US" sz="3200" b="1" dirty="0">
                <a:solidFill>
                  <a:srgbClr val="D64545"/>
                </a:solidFill>
                <a:latin typeface="Cambria" pitchFamily="34" charset="0"/>
                <a:ea typeface="Cambria" pitchFamily="34" charset="-122"/>
                <a:cs typeface="Cambria" pitchFamily="34" charset="-120"/>
              </a:rPr>
              <a:t>0 of 6</a:t>
            </a:r>
            <a:endParaRPr lang="en-US" sz="3200" dirty="0"/>
          </a:p>
        </p:txBody>
      </p:sp>
      <p:sp>
        <p:nvSpPr>
          <p:cNvPr id="18" name="text-300"/>
          <p:cNvSpPr txBox="1"/>
          <p:nvPr/>
        </p:nvSpPr>
        <p:spPr>
          <a:xfrm>
            <a:off x="6492240" y="5166360"/>
            <a:ext cx="2148840" cy="32004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gates passed</a:t>
            </a:r>
            <a:endParaRPr lang="en-US" sz="1400" dirty="0"/>
          </a:p>
        </p:txBody>
      </p:sp>
      <p:sp>
        <p:nvSpPr>
          <p:cNvPr id="19" name="text-301"/>
          <p:cNvSpPr txBox="1"/>
          <p:nvPr/>
        </p:nvSpPr>
        <p:spPr>
          <a:xfrm>
            <a:off x="8686800" y="4572000"/>
            <a:ext cx="2834640" cy="1005840"/>
          </a:xfrm>
          <a:prstGeom prst="rect">
            <a:avLst/>
          </a:prstGeom>
          <a:noFill/>
          <a:ln/>
        </p:spPr>
        <p:txBody>
          <a:bodyPr wrap="square" lIns="0" tIns="0" rIns="0" bIns="0" rtlCol="0" anchor="ctr"/>
          <a:lstStyle/>
          <a:p>
            <a:pPr algn="l" indent="0" marL="0">
              <a:buNone/>
            </a:pPr>
            <a:r>
              <a:rPr lang="en-US" sz="1500" dirty="0">
                <a:solidFill>
                  <a:srgbClr val="14253A"/>
                </a:solidFill>
                <a:latin typeface="Calibri" pitchFamily="34" charset="0"/>
                <a:ea typeface="Calibri" pitchFamily="34" charset="-122"/>
                <a:cs typeface="Calibri" pitchFamily="34" charset="-120"/>
              </a:rPr>
              <a:t>LCSE anatomical residual: no submission was made.</a:t>
            </a:r>
            <a:endParaRPr lang="en-US" sz="1500" dirty="0"/>
          </a:p>
        </p:txBody>
      </p:sp>
      <p:sp>
        <p:nvSpPr>
          <p:cNvPr id="20" name="text-302"/>
          <p:cNvSpPr txBox="1"/>
          <p:nvPr/>
        </p:nvSpPr>
        <p:spPr>
          <a:xfrm>
            <a:off x="548640" y="5897880"/>
            <a:ext cx="11094415" cy="411480"/>
          </a:xfrm>
          <a:prstGeom prst="rect">
            <a:avLst/>
          </a:prstGeom>
          <a:noFill/>
          <a:ln/>
        </p:spPr>
        <p:txBody>
          <a:bodyPr wrap="square" lIns="0" tIns="0" rIns="0" bIns="0" rtlCol="0" anchor="t"/>
          <a:lstStyle/>
          <a:p>
            <a:pPr algn="l" indent="0" marL="0">
              <a:buNone/>
            </a:pPr>
            <a:r>
              <a:rPr lang="en-US" sz="1900" b="1" dirty="0">
                <a:solidFill>
                  <a:srgbClr val="0F2740"/>
                </a:solidFill>
                <a:latin typeface="Calibri" pitchFamily="34" charset="0"/>
                <a:ea typeface="Calibri" pitchFamily="34" charset="-122"/>
                <a:cs typeface="Calibri" pitchFamily="34" charset="-120"/>
              </a:rPr>
              <a:t>Gates were fixed in advance; a later public score never overrules a failed gate.</a:t>
            </a:r>
            <a:endParaRPr lang="en-US" sz="19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Results: parent vs ABG on the public leaderboard</a:t>
            </a:r>
            <a:endParaRPr lang="en-US" sz="3400" dirty="0"/>
          </a:p>
        </p:txBody>
      </p:sp>
      <p:sp>
        <p:nvSpPr>
          <p:cNvPr id="3" name="chev-303"/>
          <p:cNvSpPr/>
          <p:nvPr/>
        </p:nvSpPr>
        <p:spPr>
          <a:xfrm>
            <a:off x="548640" y="246888"/>
            <a:ext cx="137160" cy="201168"/>
          </a:xfrm>
          <a:prstGeom prst="chevron">
            <a:avLst/>
          </a:prstGeom>
          <a:solidFill>
            <a:srgbClr val="E0690C"/>
          </a:solidFill>
          <a:ln/>
        </p:spPr>
      </p:sp>
      <p:sp>
        <p:nvSpPr>
          <p:cNvPr id="4" name="text-304"/>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RESULTS</a:t>
            </a:r>
            <a:endParaRPr lang="en-US" sz="1200" dirty="0"/>
          </a:p>
        </p:txBody>
      </p:sp>
      <p:sp>
        <p:nvSpPr>
          <p:cNvPr id="6" name="card-305"/>
          <p:cNvSpPr/>
          <p:nvPr/>
        </p:nvSpPr>
        <p:spPr>
          <a:xfrm>
            <a:off x="548640" y="1463040"/>
            <a:ext cx="4160520" cy="4572000"/>
          </a:xfrm>
          <a:prstGeom prst="roundRect">
            <a:avLst>
              <a:gd name="adj" fmla="val 3077"/>
            </a:avLst>
          </a:prstGeom>
          <a:solidFill>
            <a:srgbClr val="F2F6FA"/>
          </a:solidFill>
          <a:ln/>
        </p:spPr>
      </p:sp>
      <p:sp>
        <p:nvSpPr>
          <p:cNvPr id="7" name="text-306"/>
          <p:cNvSpPr txBox="1"/>
          <p:nvPr/>
        </p:nvSpPr>
        <p:spPr>
          <a:xfrm>
            <a:off x="868680" y="1664208"/>
            <a:ext cx="3657600" cy="274320"/>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OUR TWO GRADED SUBMISSIONS</a:t>
            </a:r>
            <a:endParaRPr lang="en-US" sz="1200" dirty="0"/>
          </a:p>
        </p:txBody>
      </p:sp>
      <p:sp>
        <p:nvSpPr>
          <p:cNvPr id="8" name="text-307"/>
          <p:cNvSpPr txBox="1"/>
          <p:nvPr/>
        </p:nvSpPr>
        <p:spPr>
          <a:xfrm>
            <a:off x="868680" y="2011680"/>
            <a:ext cx="3474720" cy="960120"/>
          </a:xfrm>
          <a:prstGeom prst="rect">
            <a:avLst/>
          </a:prstGeom>
          <a:noFill/>
          <a:ln/>
        </p:spPr>
        <p:txBody>
          <a:bodyPr wrap="square" lIns="0" tIns="0" rIns="0" bIns="0" rtlCol="0" anchor="t"/>
          <a:lstStyle/>
          <a:p>
            <a:pPr algn="l" indent="0" marL="0">
              <a:buNone/>
            </a:pPr>
            <a:r>
              <a:rPr lang="en-US" sz="6600" b="1" dirty="0">
                <a:solidFill>
                  <a:srgbClr val="0F2740"/>
                </a:solidFill>
                <a:latin typeface="Cambria" pitchFamily="34" charset="0"/>
                <a:ea typeface="Cambria" pitchFamily="34" charset="-122"/>
                <a:cs typeface="Cambria" pitchFamily="34" charset="-120"/>
              </a:rPr>
              <a:t>0.940</a:t>
            </a:r>
            <a:endParaRPr lang="en-US" sz="6600" dirty="0"/>
          </a:p>
        </p:txBody>
      </p:sp>
      <p:sp>
        <p:nvSpPr>
          <p:cNvPr id="9" name="text-308"/>
          <p:cNvSpPr txBox="1"/>
          <p:nvPr/>
        </p:nvSpPr>
        <p:spPr>
          <a:xfrm>
            <a:off x="868680" y="3017520"/>
            <a:ext cx="3474720" cy="365760"/>
          </a:xfrm>
          <a:prstGeom prst="rect">
            <a:avLst/>
          </a:prstGeom>
          <a:noFill/>
          <a:ln/>
        </p:spPr>
        <p:txBody>
          <a:bodyPr wrap="square" lIns="0" tIns="0" rIns="0" bIns="0" rtlCol="0" anchor="t"/>
          <a:lstStyle/>
          <a:p>
            <a:pPr algn="l" indent="0" marL="0">
              <a:buNone/>
            </a:pPr>
            <a:r>
              <a:rPr lang="en-US" sz="1800" dirty="0">
                <a:solidFill>
                  <a:srgbClr val="5C6B7A"/>
                </a:solidFill>
                <a:latin typeface="Calibri" pitchFamily="34" charset="0"/>
                <a:ea typeface="Calibri" pitchFamily="34" charset="-122"/>
                <a:cs typeface="Calibri" pitchFamily="34" charset="-120"/>
              </a:rPr>
              <a:t>Parent recipe (V17)</a:t>
            </a:r>
            <a:endParaRPr lang="en-US" sz="1800" dirty="0"/>
          </a:p>
        </p:txBody>
      </p:sp>
      <p:sp>
        <p:nvSpPr>
          <p:cNvPr id="10" name="text-309"/>
          <p:cNvSpPr txBox="1"/>
          <p:nvPr/>
        </p:nvSpPr>
        <p:spPr>
          <a:xfrm>
            <a:off x="868680" y="3611880"/>
            <a:ext cx="3474720" cy="960120"/>
          </a:xfrm>
          <a:prstGeom prst="rect">
            <a:avLst/>
          </a:prstGeom>
          <a:noFill/>
          <a:ln/>
        </p:spPr>
        <p:txBody>
          <a:bodyPr wrap="square" lIns="0" tIns="0" rIns="0" bIns="0" rtlCol="0" anchor="t"/>
          <a:lstStyle/>
          <a:p>
            <a:pPr algn="l" indent="0" marL="0">
              <a:buNone/>
            </a:pPr>
            <a:r>
              <a:rPr lang="en-US" sz="6600" b="1" dirty="0">
                <a:solidFill>
                  <a:srgbClr val="E0690C"/>
                </a:solidFill>
                <a:latin typeface="Cambria" pitchFamily="34" charset="0"/>
                <a:ea typeface="Cambria" pitchFamily="34" charset="-122"/>
                <a:cs typeface="Cambria" pitchFamily="34" charset="-120"/>
              </a:rPr>
              <a:t>0.922</a:t>
            </a:r>
            <a:endParaRPr lang="en-US" sz="6600" dirty="0"/>
          </a:p>
        </p:txBody>
      </p:sp>
      <p:sp>
        <p:nvSpPr>
          <p:cNvPr id="11" name="text-310"/>
          <p:cNvSpPr txBox="1"/>
          <p:nvPr/>
        </p:nvSpPr>
        <p:spPr>
          <a:xfrm>
            <a:off x="868680" y="4617720"/>
            <a:ext cx="3474720" cy="365760"/>
          </a:xfrm>
          <a:prstGeom prst="rect">
            <a:avLst/>
          </a:prstGeom>
          <a:noFill/>
          <a:ln/>
        </p:spPr>
        <p:txBody>
          <a:bodyPr wrap="square" lIns="0" tIns="0" rIns="0" bIns="0" rtlCol="0" anchor="t"/>
          <a:lstStyle/>
          <a:p>
            <a:pPr algn="l" indent="0" marL="0">
              <a:buNone/>
            </a:pPr>
            <a:r>
              <a:rPr lang="en-US" sz="1800" dirty="0">
                <a:solidFill>
                  <a:srgbClr val="5C6B7A"/>
                </a:solidFill>
                <a:latin typeface="Calibri" pitchFamily="34" charset="0"/>
                <a:ea typeface="Calibri" pitchFamily="34" charset="-122"/>
                <a:cs typeface="Calibri" pitchFamily="34" charset="-120"/>
              </a:rPr>
              <a:t>ABG: parent + three additions</a:t>
            </a:r>
            <a:endParaRPr lang="en-US" sz="1800" dirty="0"/>
          </a:p>
        </p:txBody>
      </p:sp>
      <p:sp>
        <p:nvSpPr>
          <p:cNvPr id="12" name="pill-311"/>
          <p:cNvSpPr/>
          <p:nvPr/>
        </p:nvSpPr>
        <p:spPr>
          <a:xfrm>
            <a:off x="868680" y="5257800"/>
            <a:ext cx="3200400" cy="457200"/>
          </a:xfrm>
          <a:prstGeom prst="roundRect">
            <a:avLst>
              <a:gd name="adj" fmla="val 32000"/>
            </a:avLst>
          </a:prstGeom>
          <a:solidFill>
            <a:srgbClr val="FDEBDD"/>
          </a:solidFill>
          <a:ln/>
        </p:spPr>
        <p:txBody>
          <a:bodyPr wrap="square" lIns="0" tIns="0" rIns="0" bIns="0" rtlCol="0" anchor="ctr"/>
          <a:lstStyle/>
          <a:p>
            <a:pPr algn="ctr" indent="0" marL="0">
              <a:buNone/>
            </a:pPr>
            <a:r>
              <a:rPr lang="en-US" sz="1600" b="1" dirty="0">
                <a:solidFill>
                  <a:srgbClr val="B34E00"/>
                </a:solidFill>
                <a:latin typeface="Calibri" pitchFamily="34" charset="0"/>
                <a:ea typeface="Calibri" pitchFamily="34" charset="-122"/>
                <a:cs typeface="Calibri" pitchFamily="34" charset="-120"/>
              </a:rPr>
              <a:t>ABG vs parent: −0.018</a:t>
            </a:r>
            <a:endParaRPr lang="en-US" sz="1600" dirty="0"/>
          </a:p>
        </p:txBody>
      </p:sp>
      <p:sp>
        <p:nvSpPr>
          <p:cNvPr id="13" name="text-312"/>
          <p:cNvSpPr txBox="1"/>
          <p:nvPr/>
        </p:nvSpPr>
        <p:spPr>
          <a:xfrm>
            <a:off x="5074920" y="1463040"/>
            <a:ext cx="6583680" cy="365760"/>
          </a:xfrm>
          <a:prstGeom prst="rect">
            <a:avLst/>
          </a:prstGeom>
          <a:noFill/>
          <a:ln/>
        </p:spPr>
        <p:txBody>
          <a:bodyPr wrap="square" lIns="0" tIns="0" rIns="0" bIns="0" rtlCol="0" anchor="t"/>
          <a:lstStyle/>
          <a:p>
            <a:pPr algn="l" indent="0" marL="0">
              <a:buNone/>
            </a:pPr>
            <a:r>
              <a:rPr lang="en-US" sz="1900" b="1" dirty="0">
                <a:solidFill>
                  <a:srgbClr val="0F2740"/>
                </a:solidFill>
                <a:latin typeface="Cambria" pitchFamily="34" charset="0"/>
                <a:ea typeface="Cambria" pitchFamily="34" charset="-122"/>
                <a:cs typeface="Cambria" pitchFamily="34" charset="-120"/>
              </a:rPr>
              <a:t>Public leaderboard, mean AUC of 12 findings</a:t>
            </a:r>
            <a:endParaRPr lang="en-US" sz="1900" dirty="0"/>
          </a:p>
        </p:txBody>
      </p:sp>
      <p:pic>
        <p:nvPicPr>
          <p:cNvPr id="14" name="img-313" descr="Bar chart: our parent and ABG submissions against public reference points">    </p:cNvPr>
          <p:cNvPicPr>
            <a:picLocks noChangeAspect="1"/>
          </p:cNvPicPr>
          <p:nvPr/>
        </p:nvPicPr>
        <p:blipFill>
          <a:blip r:embed="rId1"/>
          <a:stretch>
            <a:fillRect/>
          </a:stretch>
        </p:blipFill>
        <p:spPr>
          <a:xfrm>
            <a:off x="5074920" y="1874520"/>
            <a:ext cx="6565392" cy="4068694"/>
          </a:xfrm>
          <a:prstGeom prst="rect">
            <a:avLst/>
          </a:prstGeom>
        </p:spPr>
      </p:pic>
      <p:sp>
        <p:nvSpPr>
          <p:cNvPr id="15" name="text-314"/>
          <p:cNvSpPr txBox="1"/>
          <p:nvPr/>
        </p:nvSpPr>
        <p:spPr>
          <a:xfrm>
            <a:off x="5074920" y="5989320"/>
            <a:ext cx="6565392" cy="32004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Mid-August values are from the Kaggle discussion forum; the leaderboard has moved since.</a:t>
            </a:r>
            <a:endParaRPr lang="en-US" sz="12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What we learned, and what limits it</a:t>
            </a:r>
            <a:endParaRPr lang="en-US" sz="3400" dirty="0"/>
          </a:p>
        </p:txBody>
      </p:sp>
      <p:sp>
        <p:nvSpPr>
          <p:cNvPr id="3" name="chev-315"/>
          <p:cNvSpPr/>
          <p:nvPr/>
        </p:nvSpPr>
        <p:spPr>
          <a:xfrm>
            <a:off x="548640" y="246888"/>
            <a:ext cx="137160" cy="201168"/>
          </a:xfrm>
          <a:prstGeom prst="chevron">
            <a:avLst/>
          </a:prstGeom>
          <a:solidFill>
            <a:srgbClr val="E0690C"/>
          </a:solidFill>
          <a:ln/>
        </p:spPr>
      </p:sp>
      <p:sp>
        <p:nvSpPr>
          <p:cNvPr id="4" name="text-316"/>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RESULTS</a:t>
            </a:r>
            <a:endParaRPr lang="en-US" sz="1200" dirty="0"/>
          </a:p>
        </p:txBody>
      </p:sp>
      <p:sp>
        <p:nvSpPr>
          <p:cNvPr id="6" name="card-317"/>
          <p:cNvSpPr/>
          <p:nvPr/>
        </p:nvSpPr>
        <p:spPr>
          <a:xfrm>
            <a:off x="548640" y="1463040"/>
            <a:ext cx="5452567" cy="4800600"/>
          </a:xfrm>
          <a:prstGeom prst="roundRect">
            <a:avLst>
              <a:gd name="adj" fmla="val 2667"/>
            </a:avLst>
          </a:prstGeom>
          <a:solidFill>
            <a:srgbClr val="DCEBFA"/>
          </a:solidFill>
          <a:ln/>
        </p:spPr>
      </p:sp>
      <p:sp>
        <p:nvSpPr>
          <p:cNvPr id="7" name="text-318"/>
          <p:cNvSpPr txBox="1"/>
          <p:nvPr/>
        </p:nvSpPr>
        <p:spPr>
          <a:xfrm>
            <a:off x="868680" y="1664208"/>
            <a:ext cx="4572000" cy="274320"/>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WHAT THE SCORES SAY</a:t>
            </a:r>
            <a:endParaRPr lang="en-US" sz="1200" dirty="0"/>
          </a:p>
        </p:txBody>
      </p:sp>
      <p:sp>
        <p:nvSpPr>
          <p:cNvPr id="8" name="dot-319"/>
          <p:cNvSpPr/>
          <p:nvPr/>
        </p:nvSpPr>
        <p:spPr>
          <a:xfrm>
            <a:off x="868680" y="2194560"/>
            <a:ext cx="566928" cy="566928"/>
          </a:xfrm>
          <a:prstGeom prst="ellipse">
            <a:avLst/>
          </a:prstGeom>
          <a:solidFill>
            <a:srgbClr val="2B7BC4"/>
          </a:solidFill>
          <a:ln/>
        </p:spPr>
      </p:sp>
      <p:pic>
        <p:nvPicPr>
          <p:cNvPr id="9" name="icon-320" descr="icon">    </p:cNvPr>
          <p:cNvPicPr>
            <a:picLocks noChangeAspect="1"/>
          </p:cNvPicPr>
          <p:nvPr/>
        </p:nvPicPr>
        <p:blipFill>
          <a:blip r:embed="rId1"/>
          <a:stretch>
            <a:fillRect/>
          </a:stretch>
        </p:blipFill>
        <p:spPr>
          <a:xfrm>
            <a:off x="1021751" y="2347631"/>
            <a:ext cx="260787" cy="260787"/>
          </a:xfrm>
          <a:prstGeom prst="rect">
            <a:avLst/>
          </a:prstGeom>
        </p:spPr>
      </p:pic>
      <p:sp>
        <p:nvSpPr>
          <p:cNvPr id="10" name="text-321"/>
          <p:cNvSpPr txBox="1"/>
          <p:nvPr/>
        </p:nvSpPr>
        <p:spPr>
          <a:xfrm>
            <a:off x="1645920" y="2103120"/>
            <a:ext cx="4114800" cy="118872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ABG scored 0.922, below our parent at 0.940: the additions did not help.</a:t>
            </a:r>
            <a:endParaRPr lang="en-US" sz="1800" dirty="0"/>
          </a:p>
        </p:txBody>
      </p:sp>
      <p:sp>
        <p:nvSpPr>
          <p:cNvPr id="11" name="dot-322"/>
          <p:cNvSpPr/>
          <p:nvPr/>
        </p:nvSpPr>
        <p:spPr>
          <a:xfrm>
            <a:off x="868680" y="3566160"/>
            <a:ext cx="566928" cy="566928"/>
          </a:xfrm>
          <a:prstGeom prst="ellipse">
            <a:avLst/>
          </a:prstGeom>
          <a:solidFill>
            <a:srgbClr val="2B7BC4"/>
          </a:solidFill>
          <a:ln/>
        </p:spPr>
      </p:sp>
      <p:pic>
        <p:nvPicPr>
          <p:cNvPr id="12" name="icon-323" descr="icon">    </p:cNvPr>
          <p:cNvPicPr>
            <a:picLocks noChangeAspect="1"/>
          </p:cNvPicPr>
          <p:nvPr/>
        </p:nvPicPr>
        <p:blipFill>
          <a:blip r:embed="rId2"/>
          <a:stretch>
            <a:fillRect/>
          </a:stretch>
        </p:blipFill>
        <p:spPr>
          <a:xfrm>
            <a:off x="1021751" y="3719231"/>
            <a:ext cx="260787" cy="260787"/>
          </a:xfrm>
          <a:prstGeom prst="rect">
            <a:avLst/>
          </a:prstGeom>
        </p:spPr>
      </p:pic>
      <p:sp>
        <p:nvSpPr>
          <p:cNvPr id="13" name="text-324"/>
          <p:cNvSpPr txBox="1"/>
          <p:nvPr/>
        </p:nvSpPr>
        <p:spPr>
          <a:xfrm>
            <a:off x="1645920" y="3474720"/>
            <a:ext cx="4114800" cy="118872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A, B and G were graded together, so the cause is not isolated.</a:t>
            </a:r>
            <a:endParaRPr lang="en-US" sz="1800" dirty="0"/>
          </a:p>
        </p:txBody>
      </p:sp>
      <p:sp>
        <p:nvSpPr>
          <p:cNvPr id="14" name="dot-325"/>
          <p:cNvSpPr/>
          <p:nvPr/>
        </p:nvSpPr>
        <p:spPr>
          <a:xfrm>
            <a:off x="868680" y="4937760"/>
            <a:ext cx="566928" cy="566928"/>
          </a:xfrm>
          <a:prstGeom prst="ellipse">
            <a:avLst/>
          </a:prstGeom>
          <a:solidFill>
            <a:srgbClr val="2B7BC4"/>
          </a:solidFill>
          <a:ln/>
        </p:spPr>
      </p:sp>
      <p:pic>
        <p:nvPicPr>
          <p:cNvPr id="15" name="icon-326" descr="icon">    </p:cNvPr>
          <p:cNvPicPr>
            <a:picLocks noChangeAspect="1"/>
          </p:cNvPicPr>
          <p:nvPr/>
        </p:nvPicPr>
        <p:blipFill>
          <a:blip r:embed="rId3"/>
          <a:stretch>
            <a:fillRect/>
          </a:stretch>
        </p:blipFill>
        <p:spPr>
          <a:xfrm>
            <a:off x="1021751" y="5090831"/>
            <a:ext cx="260787" cy="260787"/>
          </a:xfrm>
          <a:prstGeom prst="rect">
            <a:avLst/>
          </a:prstGeom>
        </p:spPr>
      </p:pic>
      <p:sp>
        <p:nvSpPr>
          <p:cNvPr id="16" name="text-327"/>
          <p:cNvSpPr txBox="1"/>
          <p:nvPr/>
        </p:nvSpPr>
        <p:spPr>
          <a:xfrm>
            <a:off x="1645920" y="4846320"/>
            <a:ext cx="4114800" cy="118872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In our toy model a 0.018 loss needs added heads about 0.15 AUC worse; design noise is far smaller.</a:t>
            </a:r>
            <a:endParaRPr lang="en-US" sz="1800" dirty="0"/>
          </a:p>
        </p:txBody>
      </p:sp>
      <p:sp>
        <p:nvSpPr>
          <p:cNvPr id="17" name="card-328"/>
          <p:cNvSpPr/>
          <p:nvPr/>
        </p:nvSpPr>
        <p:spPr>
          <a:xfrm>
            <a:off x="6190488" y="1463040"/>
            <a:ext cx="5452567" cy="4800600"/>
          </a:xfrm>
          <a:prstGeom prst="roundRect">
            <a:avLst>
              <a:gd name="adj" fmla="val 2667"/>
            </a:avLst>
          </a:prstGeom>
          <a:solidFill>
            <a:srgbClr val="E7ECF1"/>
          </a:solidFill>
          <a:ln/>
        </p:spPr>
      </p:sp>
      <p:sp>
        <p:nvSpPr>
          <p:cNvPr id="18" name="text-329"/>
          <p:cNvSpPr txBox="1"/>
          <p:nvPr/>
        </p:nvSpPr>
        <p:spPr>
          <a:xfrm>
            <a:off x="6510528" y="1664208"/>
            <a:ext cx="4572000" cy="274320"/>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LIMITS OF THIS WORK</a:t>
            </a:r>
            <a:endParaRPr lang="en-US" sz="1200" dirty="0"/>
          </a:p>
        </p:txBody>
      </p:sp>
      <p:sp>
        <p:nvSpPr>
          <p:cNvPr id="19" name="dot-330"/>
          <p:cNvSpPr/>
          <p:nvPr/>
        </p:nvSpPr>
        <p:spPr>
          <a:xfrm>
            <a:off x="6510528" y="2194560"/>
            <a:ext cx="566928" cy="566928"/>
          </a:xfrm>
          <a:prstGeom prst="ellipse">
            <a:avLst/>
          </a:prstGeom>
          <a:solidFill>
            <a:srgbClr val="5C6B7A"/>
          </a:solidFill>
          <a:ln/>
        </p:spPr>
      </p:sp>
      <p:pic>
        <p:nvPicPr>
          <p:cNvPr id="20" name="icon-331" descr="icon">    </p:cNvPr>
          <p:cNvPicPr>
            <a:picLocks noChangeAspect="1"/>
          </p:cNvPicPr>
          <p:nvPr/>
        </p:nvPicPr>
        <p:blipFill>
          <a:blip r:embed="rId4"/>
          <a:stretch>
            <a:fillRect/>
          </a:stretch>
        </p:blipFill>
        <p:spPr>
          <a:xfrm>
            <a:off x="6663599" y="2347631"/>
            <a:ext cx="260787" cy="260787"/>
          </a:xfrm>
          <a:prstGeom prst="rect">
            <a:avLst/>
          </a:prstGeom>
        </p:spPr>
      </p:pic>
      <p:sp>
        <p:nvSpPr>
          <p:cNvPr id="21" name="text-332"/>
          <p:cNvSpPr txBox="1"/>
          <p:nvPr/>
        </p:nvSpPr>
        <p:spPr>
          <a:xfrm>
            <a:off x="7287768" y="2103120"/>
            <a:ext cx="4114800" cy="118872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No new training and no held-out validation; a leaderboard score is not clinical evidence.</a:t>
            </a:r>
            <a:endParaRPr lang="en-US" sz="1800" dirty="0"/>
          </a:p>
        </p:txBody>
      </p:sp>
      <p:sp>
        <p:nvSpPr>
          <p:cNvPr id="22" name="dot-333"/>
          <p:cNvSpPr/>
          <p:nvPr/>
        </p:nvSpPr>
        <p:spPr>
          <a:xfrm>
            <a:off x="6510528" y="3566160"/>
            <a:ext cx="566928" cy="566928"/>
          </a:xfrm>
          <a:prstGeom prst="ellipse">
            <a:avLst/>
          </a:prstGeom>
          <a:solidFill>
            <a:srgbClr val="5C6B7A"/>
          </a:solidFill>
          <a:ln/>
        </p:spPr>
      </p:sp>
      <p:pic>
        <p:nvPicPr>
          <p:cNvPr id="23" name="icon-334" descr="icon">    </p:cNvPr>
          <p:cNvPicPr>
            <a:picLocks noChangeAspect="1"/>
          </p:cNvPicPr>
          <p:nvPr/>
        </p:nvPicPr>
        <p:blipFill>
          <a:blip r:embed="rId5"/>
          <a:stretch>
            <a:fillRect/>
          </a:stretch>
        </p:blipFill>
        <p:spPr>
          <a:xfrm>
            <a:off x="6663599" y="3719231"/>
            <a:ext cx="260787" cy="260787"/>
          </a:xfrm>
          <a:prstGeom prst="rect">
            <a:avLst/>
          </a:prstGeom>
        </p:spPr>
      </p:pic>
      <p:sp>
        <p:nvSpPr>
          <p:cNvPr id="24" name="text-335"/>
          <p:cNvSpPr txBox="1"/>
          <p:nvPr/>
        </p:nvSpPr>
        <p:spPr>
          <a:xfrm>
            <a:off x="7287768" y="3474720"/>
            <a:ext cx="4114800" cy="118872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Outputs are rank scores, not probabilities; RadImageNet heads are non-commercial (CC-BY-NC-SA).</a:t>
            </a:r>
            <a:endParaRPr lang="en-US" sz="1800" dirty="0"/>
          </a:p>
        </p:txBody>
      </p:sp>
      <p:sp>
        <p:nvSpPr>
          <p:cNvPr id="25" name="dot-336"/>
          <p:cNvSpPr/>
          <p:nvPr/>
        </p:nvSpPr>
        <p:spPr>
          <a:xfrm>
            <a:off x="6510528" y="4937760"/>
            <a:ext cx="566928" cy="566928"/>
          </a:xfrm>
          <a:prstGeom prst="ellipse">
            <a:avLst/>
          </a:prstGeom>
          <a:solidFill>
            <a:srgbClr val="5C6B7A"/>
          </a:solidFill>
          <a:ln/>
        </p:spPr>
      </p:sp>
      <p:pic>
        <p:nvPicPr>
          <p:cNvPr id="26" name="icon-337" descr="icon">    </p:cNvPr>
          <p:cNvPicPr>
            <a:picLocks noChangeAspect="1"/>
          </p:cNvPicPr>
          <p:nvPr/>
        </p:nvPicPr>
        <p:blipFill>
          <a:blip r:embed="rId6"/>
          <a:stretch>
            <a:fillRect/>
          </a:stretch>
        </p:blipFill>
        <p:spPr>
          <a:xfrm>
            <a:off x="6663599" y="5090831"/>
            <a:ext cx="260787" cy="260787"/>
          </a:xfrm>
          <a:prstGeom prst="rect">
            <a:avLst/>
          </a:prstGeom>
        </p:spPr>
      </p:pic>
      <p:sp>
        <p:nvSpPr>
          <p:cNvPr id="27" name="text-338"/>
          <p:cNvSpPr txBox="1"/>
          <p:nvPr/>
        </p:nvSpPr>
        <p:spPr>
          <a:xfrm>
            <a:off x="7287768" y="4846320"/>
            <a:ext cx="4114800" cy="1188720"/>
          </a:xfrm>
          <a:prstGeom prst="rect">
            <a:avLst/>
          </a:prstGeom>
          <a:noFill/>
          <a:ln/>
        </p:spPr>
        <p:txBody>
          <a:bodyPr wrap="square" lIns="0" tIns="0" rIns="0" bIns="0" rtlCol="0" anchor="t"/>
          <a:lstStyle/>
          <a:p>
            <a:pPr algn="l" indent="0" marL="0">
              <a:buNone/>
            </a:pPr>
            <a:r>
              <a:rPr lang="en-US" sz="1800" dirty="0">
                <a:solidFill>
                  <a:srgbClr val="14253A"/>
                </a:solidFill>
                <a:latin typeface="Calibri" pitchFamily="34" charset="0"/>
                <a:ea typeface="Calibri" pitchFamily="34" charset="-122"/>
                <a:cs typeface="Calibri" pitchFamily="34" charset="-120"/>
              </a:rPr>
              <a:t>Per-addition effects were studied in simulation, not on the real test set.</a:t>
            </a:r>
            <a:endParaRPr lang="en-US" sz="18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Conclusion and future work</a:t>
            </a:r>
            <a:endParaRPr lang="en-US" sz="3400" dirty="0"/>
          </a:p>
        </p:txBody>
      </p:sp>
      <p:sp>
        <p:nvSpPr>
          <p:cNvPr id="3" name="chev-339"/>
          <p:cNvSpPr/>
          <p:nvPr/>
        </p:nvSpPr>
        <p:spPr>
          <a:xfrm>
            <a:off x="548640" y="246888"/>
            <a:ext cx="137160" cy="201168"/>
          </a:xfrm>
          <a:prstGeom prst="chevron">
            <a:avLst/>
          </a:prstGeom>
          <a:solidFill>
            <a:srgbClr val="E0690C"/>
          </a:solidFill>
          <a:ln/>
        </p:spPr>
      </p:sp>
      <p:sp>
        <p:nvSpPr>
          <p:cNvPr id="4" name="text-340"/>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9FB3C6"/>
                </a:solidFill>
                <a:latin typeface="Calibri" pitchFamily="34" charset="0"/>
                <a:ea typeface="Calibri" pitchFamily="34" charset="-122"/>
                <a:cs typeface="Calibri" pitchFamily="34" charset="-120"/>
              </a:rPr>
              <a:t>CONCLUSION</a:t>
            </a:r>
            <a:endParaRPr lang="en-US" sz="1200" dirty="0"/>
          </a:p>
        </p:txBody>
      </p:sp>
      <p:sp>
        <p:nvSpPr>
          <p:cNvPr id="6" name="card-341"/>
          <p:cNvSpPr/>
          <p:nvPr/>
        </p:nvSpPr>
        <p:spPr>
          <a:xfrm>
            <a:off x="548640" y="1508760"/>
            <a:ext cx="5440680" cy="4663440"/>
          </a:xfrm>
          <a:prstGeom prst="roundRect">
            <a:avLst>
              <a:gd name="adj" fmla="val 2745"/>
            </a:avLst>
          </a:prstGeom>
          <a:solidFill>
            <a:srgbClr val="1B3652"/>
          </a:solidFill>
          <a:ln/>
        </p:spPr>
      </p:sp>
      <p:sp>
        <p:nvSpPr>
          <p:cNvPr id="7" name="text-342"/>
          <p:cNvSpPr txBox="1"/>
          <p:nvPr/>
        </p:nvSpPr>
        <p:spPr>
          <a:xfrm>
            <a:off x="868680" y="1737360"/>
            <a:ext cx="4572000" cy="274320"/>
          </a:xfrm>
          <a:prstGeom prst="rect">
            <a:avLst/>
          </a:prstGeom>
          <a:noFill/>
          <a:ln/>
        </p:spPr>
        <p:txBody>
          <a:bodyPr wrap="square" lIns="0" tIns="0" rIns="0" bIns="0" rtlCol="0" anchor="t"/>
          <a:lstStyle/>
          <a:p>
            <a:pPr algn="l" indent="0" marL="0">
              <a:buNone/>
            </a:pPr>
            <a:r>
              <a:rPr lang="en-US" sz="1200" b="1" spc="200" kern="0" dirty="0">
                <a:solidFill>
                  <a:srgbClr val="A9C4DD"/>
                </a:solidFill>
                <a:latin typeface="Calibri" pitchFamily="34" charset="0"/>
                <a:ea typeface="Calibri" pitchFamily="34" charset="-122"/>
                <a:cs typeface="Calibri" pitchFamily="34" charset="-120"/>
              </a:rPr>
              <a:t>WHAT WE SHOWED</a:t>
            </a:r>
            <a:endParaRPr lang="en-US" sz="1200" dirty="0"/>
          </a:p>
        </p:txBody>
      </p:sp>
      <p:sp>
        <p:nvSpPr>
          <p:cNvPr id="8" name="badge-343"/>
          <p:cNvSpPr/>
          <p:nvPr/>
        </p:nvSpPr>
        <p:spPr>
          <a:xfrm>
            <a:off x="868680" y="2258568"/>
            <a:ext cx="457200" cy="457200"/>
          </a:xfrm>
          <a:prstGeom prst="ellipse">
            <a:avLst/>
          </a:prstGeom>
          <a:solidFill>
            <a:srgbClr val="2B7BC4"/>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344"/>
          <p:cNvSpPr txBox="1"/>
          <p:nvPr/>
        </p:nvSpPr>
        <p:spPr>
          <a:xfrm>
            <a:off x="1554480" y="2203704"/>
            <a:ext cx="4160520" cy="118872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A three-family ensemble runs reproducibly inside Kaggle's offline, two-T4 budget.</a:t>
            </a:r>
            <a:endParaRPr lang="en-US" sz="1900" dirty="0"/>
          </a:p>
        </p:txBody>
      </p:sp>
      <p:sp>
        <p:nvSpPr>
          <p:cNvPr id="10" name="badge-345"/>
          <p:cNvSpPr/>
          <p:nvPr/>
        </p:nvSpPr>
        <p:spPr>
          <a:xfrm>
            <a:off x="868680" y="3538728"/>
            <a:ext cx="457200" cy="457200"/>
          </a:xfrm>
          <a:prstGeom prst="ellipse">
            <a:avLst/>
          </a:prstGeom>
          <a:solidFill>
            <a:srgbClr val="2B7BC4"/>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1" name="text-346"/>
          <p:cNvSpPr txBox="1"/>
          <p:nvPr/>
        </p:nvSpPr>
        <p:spPr>
          <a:xfrm>
            <a:off x="1554480" y="3483864"/>
            <a:ext cx="4160520" cy="118872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Parent 0.940 vs ABG 0.922: the extra layer did not help, a useful negative result.</a:t>
            </a:r>
            <a:endParaRPr lang="en-US" sz="1900" dirty="0"/>
          </a:p>
        </p:txBody>
      </p:sp>
      <p:sp>
        <p:nvSpPr>
          <p:cNvPr id="12" name="badge-347"/>
          <p:cNvSpPr/>
          <p:nvPr/>
        </p:nvSpPr>
        <p:spPr>
          <a:xfrm>
            <a:off x="868680" y="4818888"/>
            <a:ext cx="457200" cy="457200"/>
          </a:xfrm>
          <a:prstGeom prst="ellipse">
            <a:avLst/>
          </a:prstGeom>
          <a:solidFill>
            <a:srgbClr val="2B7BC4"/>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3" name="text-348"/>
          <p:cNvSpPr txBox="1"/>
          <p:nvPr/>
        </p:nvSpPr>
        <p:spPr>
          <a:xfrm>
            <a:off x="1554480" y="4764024"/>
            <a:ext cx="4160520" cy="118872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Simulation says such additions move scores by thousandths, so isolating each one matters.</a:t>
            </a:r>
            <a:endParaRPr lang="en-US" sz="1900" dirty="0"/>
          </a:p>
        </p:txBody>
      </p:sp>
      <p:sp>
        <p:nvSpPr>
          <p:cNvPr id="14" name="card-349"/>
          <p:cNvSpPr/>
          <p:nvPr/>
        </p:nvSpPr>
        <p:spPr>
          <a:xfrm>
            <a:off x="6199632" y="1508760"/>
            <a:ext cx="5443423" cy="4663440"/>
          </a:xfrm>
          <a:prstGeom prst="roundRect">
            <a:avLst>
              <a:gd name="adj" fmla="val 2745"/>
            </a:avLst>
          </a:prstGeom>
          <a:solidFill>
            <a:srgbClr val="1B3652"/>
          </a:solidFill>
          <a:ln/>
        </p:spPr>
      </p:sp>
      <p:sp>
        <p:nvSpPr>
          <p:cNvPr id="15" name="text-350"/>
          <p:cNvSpPr txBox="1"/>
          <p:nvPr/>
        </p:nvSpPr>
        <p:spPr>
          <a:xfrm>
            <a:off x="6519672" y="1737360"/>
            <a:ext cx="4572000" cy="274320"/>
          </a:xfrm>
          <a:prstGeom prst="rect">
            <a:avLst/>
          </a:prstGeom>
          <a:noFill/>
          <a:ln/>
        </p:spPr>
        <p:txBody>
          <a:bodyPr wrap="square" lIns="0" tIns="0" rIns="0" bIns="0" rtlCol="0" anchor="t"/>
          <a:lstStyle/>
          <a:p>
            <a:pPr algn="l" indent="0" marL="0">
              <a:buNone/>
            </a:pPr>
            <a:r>
              <a:rPr lang="en-US" sz="1200" b="1" spc="200" kern="0" dirty="0">
                <a:solidFill>
                  <a:srgbClr val="A9C4DD"/>
                </a:solidFill>
                <a:latin typeface="Calibri" pitchFamily="34" charset="0"/>
                <a:ea typeface="Calibri" pitchFamily="34" charset="-122"/>
                <a:cs typeface="Calibri" pitchFamily="34" charset="-120"/>
              </a:rPr>
              <a:t>FUTURE WORK</a:t>
            </a:r>
            <a:endParaRPr lang="en-US" sz="1200" dirty="0"/>
          </a:p>
        </p:txBody>
      </p:sp>
      <p:sp>
        <p:nvSpPr>
          <p:cNvPr id="16" name="badge-351"/>
          <p:cNvSpPr/>
          <p:nvPr/>
        </p:nvSpPr>
        <p:spPr>
          <a:xfrm>
            <a:off x="6519672" y="2258568"/>
            <a:ext cx="457200" cy="457200"/>
          </a:xfrm>
          <a:prstGeom prst="ellipse">
            <a:avLst/>
          </a:prstGeom>
          <a:solidFill>
            <a:srgbClr val="E0690C"/>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7" name="text-352"/>
          <p:cNvSpPr txBox="1"/>
          <p:nvPr/>
        </p:nvSpPr>
        <p:spPr>
          <a:xfrm>
            <a:off x="7223760" y="2221992"/>
            <a:ext cx="4160520" cy="86868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Isolate A, B and G on a labelled, patient-level held-out set.</a:t>
            </a:r>
            <a:endParaRPr lang="en-US" sz="1900" dirty="0"/>
          </a:p>
        </p:txBody>
      </p:sp>
      <p:sp>
        <p:nvSpPr>
          <p:cNvPr id="18" name="badge-353"/>
          <p:cNvSpPr/>
          <p:nvPr/>
        </p:nvSpPr>
        <p:spPr>
          <a:xfrm>
            <a:off x="6519672" y="3218688"/>
            <a:ext cx="457200" cy="457200"/>
          </a:xfrm>
          <a:prstGeom prst="ellipse">
            <a:avLst/>
          </a:prstGeom>
          <a:solidFill>
            <a:srgbClr val="E0690C"/>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9" name="text-354"/>
          <p:cNvSpPr txBox="1"/>
          <p:nvPr/>
        </p:nvSpPr>
        <p:spPr>
          <a:xfrm>
            <a:off x="7223760" y="3182112"/>
            <a:ext cx="4160520" cy="86868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Check the added heads for train–test preprocessing mismatch.</a:t>
            </a:r>
            <a:endParaRPr lang="en-US" sz="1900" dirty="0"/>
          </a:p>
        </p:txBody>
      </p:sp>
      <p:sp>
        <p:nvSpPr>
          <p:cNvPr id="20" name="badge-355"/>
          <p:cNvSpPr/>
          <p:nvPr/>
        </p:nvSpPr>
        <p:spPr>
          <a:xfrm>
            <a:off x="6519672" y="4178808"/>
            <a:ext cx="457200" cy="457200"/>
          </a:xfrm>
          <a:prstGeom prst="ellipse">
            <a:avLst/>
          </a:prstGeom>
          <a:solidFill>
            <a:srgbClr val="E0690C"/>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1" name="text-356"/>
          <p:cNvSpPr txBox="1"/>
          <p:nvPr/>
        </p:nvSpPr>
        <p:spPr>
          <a:xfrm>
            <a:off x="7223760" y="4142232"/>
            <a:ext cx="4160520" cy="86868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Calibrate the simulation to real per-finding behaviour.</a:t>
            </a:r>
            <a:endParaRPr lang="en-US" sz="1900" dirty="0"/>
          </a:p>
        </p:txBody>
      </p:sp>
      <p:sp>
        <p:nvSpPr>
          <p:cNvPr id="22" name="badge-357"/>
          <p:cNvSpPr/>
          <p:nvPr/>
        </p:nvSpPr>
        <p:spPr>
          <a:xfrm>
            <a:off x="6519672" y="5138928"/>
            <a:ext cx="457200" cy="457200"/>
          </a:xfrm>
          <a:prstGeom prst="ellipse">
            <a:avLst/>
          </a:prstGeom>
          <a:solidFill>
            <a:srgbClr val="E0690C"/>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3" name="text-358"/>
          <p:cNvSpPr txBox="1"/>
          <p:nvPr/>
        </p:nvSpPr>
        <p:spPr>
          <a:xfrm>
            <a:off x="7223760" y="5102352"/>
            <a:ext cx="4160520" cy="868680"/>
          </a:xfrm>
          <a:prstGeom prst="rect">
            <a:avLst/>
          </a:prstGeom>
          <a:noFill/>
          <a:ln/>
        </p:spPr>
        <p:txBody>
          <a:bodyPr wrap="square" lIns="0" tIns="0" rIns="0" bIns="0" rtlCol="0" anchor="t"/>
          <a:lstStyle/>
          <a:p>
            <a:pPr algn="l" indent="0" marL="0">
              <a:buNone/>
            </a:pPr>
            <a:r>
              <a:rPr lang="en-US" sz="1900" dirty="0">
                <a:solidFill>
                  <a:srgbClr val="FFFFFF"/>
                </a:solidFill>
                <a:latin typeface="Calibri" pitchFamily="34" charset="0"/>
                <a:ea typeface="Calibri" pitchFamily="34" charset="-122"/>
                <a:cs typeface="Calibri" pitchFamily="34" charset="-120"/>
              </a:rPr>
              <a:t>Write up the full project report.</a:t>
            </a:r>
            <a:endParaRPr lang="en-US" sz="19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9FB3C6"/>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References and credits</a:t>
            </a:r>
            <a:endParaRPr lang="en-US" sz="3400" dirty="0"/>
          </a:p>
        </p:txBody>
      </p:sp>
      <p:sp>
        <p:nvSpPr>
          <p:cNvPr id="3" name="chev-359"/>
          <p:cNvSpPr/>
          <p:nvPr/>
        </p:nvSpPr>
        <p:spPr>
          <a:xfrm>
            <a:off x="548640" y="246888"/>
            <a:ext cx="137160" cy="201168"/>
          </a:xfrm>
          <a:prstGeom prst="chevron">
            <a:avLst/>
          </a:prstGeom>
          <a:solidFill>
            <a:srgbClr val="E0690C"/>
          </a:solidFill>
          <a:ln/>
        </p:spPr>
      </p:sp>
      <p:sp>
        <p:nvSpPr>
          <p:cNvPr id="4" name="text-360"/>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CONCLUSION</a:t>
            </a:r>
            <a:endParaRPr lang="en-US" sz="1200" dirty="0"/>
          </a:p>
        </p:txBody>
      </p:sp>
      <p:sp>
        <p:nvSpPr>
          <p:cNvPr id="6" name="Text 3"/>
          <p:cNvSpPr txBox="1"/>
          <p:nvPr/>
        </p:nvSpPr>
        <p:spPr>
          <a:xfrm>
            <a:off x="548640" y="1463040"/>
            <a:ext cx="5486400" cy="4846320"/>
          </a:xfrm>
          <a:prstGeom prst="rect">
            <a:avLst/>
          </a:prstGeom>
          <a:noFill/>
          <a:ln/>
        </p:spPr>
        <p:txBody>
          <a:bodyPr wrap="square" lIns="0" tIns="0" rIns="0" bIns="0" rtlCol="0" anchor="t"/>
          <a:lstStyle/>
          <a:p>
            <a:pPr indent="0" marL="0">
              <a:spcBef>
                <a:spcPts val="800"/>
              </a:spcBef>
              <a:spcAft>
                <a:spcPts val="400"/>
              </a:spcAft>
              <a:buNone/>
            </a:pPr>
            <a:r>
              <a:rPr lang="en-US" sz="1400" b="1" dirty="0">
                <a:solidFill>
                  <a:srgbClr val="0F2740"/>
                </a:solidFill>
                <a:latin typeface="Calibri" pitchFamily="34" charset="0"/>
                <a:ea typeface="Calibri" pitchFamily="34" charset="-122"/>
                <a:cs typeface="Calibri" pitchFamily="34" charset="-120"/>
              </a:rPr>
              <a:t>Challenge and data</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RSNA Knee Abnormality Detection AI Challenge (2026), rsna.org/artificial-intelligence/ai-image-challenge/knee-mri-ai-challenge</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Kaggle competition: kaggle.com/competitions/rsna-knee-abnormality-detection</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RSNA News, “RSNA Launches Knee Abnormality Detection AI Challenge”, 5 Aug 2026</a:t>
            </a:r>
            <a:pPr indent="0" marL="0">
              <a:buNone/>
            </a:pPr>
            <a:endParaRPr lang="en-US" sz="1400" dirty="0"/>
          </a:p>
          <a:p>
            <a:pPr indent="0" marL="0">
              <a:spcBef>
                <a:spcPts val="800"/>
              </a:spcBef>
              <a:spcAft>
                <a:spcPts val="400"/>
              </a:spcAft>
              <a:buNone/>
            </a:pPr>
            <a:r>
              <a:rPr lang="en-US" sz="1400" b="1" dirty="0">
                <a:solidFill>
                  <a:srgbClr val="0F2740"/>
                </a:solidFill>
                <a:latin typeface="Calibri" pitchFamily="34" charset="0"/>
                <a:ea typeface="Calibri" pitchFamily="34" charset="-122"/>
                <a:cs typeface="Calibri" pitchFamily="34" charset="-120"/>
              </a:rPr>
              <a:t>Models and methods</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Siméoni et al., DINOv3, Meta AI, 2025 (arXiv:2508.10104)</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Oquab et al., DINOv2, 2023 (arXiv:2304.07193)</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Dosovitskiy et al., An Image is Worth 16×16 Words (ViT), ICLR 2021</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Dai et al., CoAtNet, NeurIPS 2021</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Mei et al., RadImageNet, Radiology: Artificial Intelligence, 2022</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He et al., Deep Residual Learning for Image Recognition, CVPR 2016</a:t>
            </a:r>
            <a:endParaRPr lang="en-US" sz="1400" dirty="0"/>
          </a:p>
        </p:txBody>
      </p:sp>
      <p:sp>
        <p:nvSpPr>
          <p:cNvPr id="7" name="Text 4"/>
          <p:cNvSpPr txBox="1"/>
          <p:nvPr/>
        </p:nvSpPr>
        <p:spPr>
          <a:xfrm>
            <a:off x="6309360" y="1463040"/>
            <a:ext cx="5330952" cy="4846320"/>
          </a:xfrm>
          <a:prstGeom prst="rect">
            <a:avLst/>
          </a:prstGeom>
          <a:noFill/>
          <a:ln/>
        </p:spPr>
        <p:txBody>
          <a:bodyPr wrap="square" lIns="0" tIns="0" rIns="0" bIns="0" rtlCol="0" anchor="t"/>
          <a:lstStyle/>
          <a:p>
            <a:pPr indent="0" marL="0">
              <a:spcBef>
                <a:spcPts val="800"/>
              </a:spcBef>
              <a:spcAft>
                <a:spcPts val="400"/>
              </a:spcAft>
              <a:buNone/>
            </a:pPr>
            <a:r>
              <a:rPr lang="en-US" sz="1400" b="1" dirty="0">
                <a:solidFill>
                  <a:srgbClr val="0F2740"/>
                </a:solidFill>
                <a:latin typeface="Calibri" pitchFamily="34" charset="0"/>
                <a:ea typeface="Calibri" pitchFamily="34" charset="-122"/>
                <a:cs typeface="Calibri" pitchFamily="34" charset="-120"/>
              </a:rPr>
              <a:t>Released components used (Kaggle)</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Mattia Angeli: V27 notebook, A5 fold weights, residual CoAtNet</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pilkwang: DINO MRI ensemble weights</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Johnathan Wagner / DreadDevelopment: Raptor CoAtNet</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Antoine (antoinegg1): reference Rad heads, E11 v20 heads</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Sofia Anjenje: E11 / E13 implementations</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Marwan: RadImageNet ResNet-50 mirror</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Bee V17 notebook lineage: our parent submission, public score 0.940</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Simulation study: simulation/fusion_simulation.py in the project repository</a:t>
            </a:r>
            <a:pPr indent="0" marL="0">
              <a:buNone/>
            </a:pPr>
            <a:endParaRPr lang="en-US" sz="1400" dirty="0"/>
          </a:p>
          <a:p>
            <a:pPr indent="0" marL="0">
              <a:spcBef>
                <a:spcPts val="800"/>
              </a:spcBef>
              <a:spcAft>
                <a:spcPts val="400"/>
              </a:spcAft>
              <a:buNone/>
            </a:pPr>
            <a:r>
              <a:rPr lang="en-US" sz="1400" b="1" dirty="0">
                <a:solidFill>
                  <a:srgbClr val="0F2740"/>
                </a:solidFill>
                <a:latin typeface="Calibri" pitchFamily="34" charset="0"/>
                <a:ea typeface="Calibri" pitchFamily="34" charset="-122"/>
                <a:cs typeface="Calibri" pitchFamily="34" charset="-120"/>
              </a:rPr>
              <a:t>Licences</a:t>
            </a:r>
            <a:endParaRPr lang="en-US" sz="1400" dirty="0"/>
          </a:p>
          <a:p>
            <a:pPr indent="0" marL="0">
              <a:spcAft>
                <a:spcPts val="500"/>
              </a:spcAft>
              <a:buNone/>
            </a:pPr>
            <a:r>
              <a:rPr lang="en-US" sz="1400" dirty="0">
                <a:solidFill>
                  <a:srgbClr val="14253A"/>
                </a:solidFill>
                <a:latin typeface="Calibri" pitchFamily="34" charset="0"/>
                <a:ea typeface="Calibri" pitchFamily="34" charset="-122"/>
                <a:cs typeface="Calibri" pitchFamily="34" charset="-120"/>
              </a:rPr>
              <a:t>Apache 2.0 notebook code; CC0 datasets; RadImageNet-based heads CC-BY-NC-SA 4.0; DINOv3 License (Meta)</a:t>
            </a:r>
            <a:endParaRPr lang="en-US" sz="14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hev-361"/>
          <p:cNvSpPr/>
          <p:nvPr/>
        </p:nvSpPr>
        <p:spPr>
          <a:xfrm>
            <a:off x="731520" y="1719072"/>
            <a:ext cx="155448" cy="228600"/>
          </a:xfrm>
          <a:prstGeom prst="chevron">
            <a:avLst/>
          </a:prstGeom>
          <a:solidFill>
            <a:srgbClr val="E0690C"/>
          </a:solidFill>
          <a:ln/>
        </p:spPr>
      </p:sp>
      <p:sp>
        <p:nvSpPr>
          <p:cNvPr id="3" name="text-362"/>
          <p:cNvSpPr txBox="1"/>
          <p:nvPr/>
        </p:nvSpPr>
        <p:spPr>
          <a:xfrm>
            <a:off x="1005840" y="1700784"/>
            <a:ext cx="6400800" cy="274320"/>
          </a:xfrm>
          <a:prstGeom prst="rect">
            <a:avLst/>
          </a:prstGeom>
          <a:noFill/>
          <a:ln/>
        </p:spPr>
        <p:txBody>
          <a:bodyPr wrap="square" lIns="0" tIns="0" rIns="0" bIns="0" rtlCol="0" anchor="t"/>
          <a:lstStyle/>
          <a:p>
            <a:pPr algn="l" indent="0" marL="0">
              <a:buNone/>
            </a:pPr>
            <a:r>
              <a:rPr lang="en-US" sz="1300" b="1" spc="300" kern="0" dirty="0">
                <a:solidFill>
                  <a:srgbClr val="A9C4DD"/>
                </a:solidFill>
                <a:latin typeface="Calibri" pitchFamily="34" charset="0"/>
                <a:ea typeface="Calibri" pitchFamily="34" charset="-122"/>
                <a:cs typeface="Calibri" pitchFamily="34" charset="-120"/>
              </a:rPr>
              <a:t>QUESTIONS</a:t>
            </a:r>
            <a:endParaRPr lang="en-US" sz="1300" dirty="0"/>
          </a:p>
        </p:txBody>
      </p:sp>
      <p:sp>
        <p:nvSpPr>
          <p:cNvPr id="4" name="Text 0"/>
          <p:cNvSpPr/>
          <p:nvPr>
            <p:ph idx="100" type="title" hasCustomPrompt="1"/>
          </p:nvPr>
        </p:nvSpPr>
        <p:spPr>
          <a:xfrm>
            <a:off x="731520" y="2148840"/>
            <a:ext cx="6675120" cy="1005840"/>
          </a:xfrm>
          <a:prstGeom prst="rect">
            <a:avLst/>
          </a:prstGeom>
          <a:noFill/>
          <a:ln/>
        </p:spPr>
        <p:txBody>
          <a:bodyPr wrap="square" lIns="0" tIns="0" rIns="0" bIns="0" rtlCol="0" anchor="t"/>
          <a:lstStyle/>
          <a:p>
            <a:pPr algn="l"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0"/>
          <p:cNvSpPr/>
          <p:nvPr>
            <p:ph idx="101" type="body" hasCustomPrompt="1"/>
          </p:nvPr>
        </p:nvSpPr>
        <p:spPr>
          <a:xfrm>
            <a:off x="731520" y="3291840"/>
            <a:ext cx="6675120" cy="1097280"/>
          </a:xfrm>
          <a:prstGeom prst="rect">
            <a:avLst/>
          </a:prstGeom>
          <a:noFill/>
          <a:ln/>
        </p:spPr>
        <p:txBody>
          <a:bodyPr wrap="square" lIns="0" tIns="0" rIns="0" bIns="0" rtlCol="0" anchor="t"/>
          <a:lstStyle/>
          <a:p>
            <a:pPr algn="l" indent="0" marL="0">
              <a:buNone/>
            </a:pPr>
            <a:r>
              <a:rPr lang="en-US" sz="2200" dirty="0">
                <a:solidFill>
                  <a:srgbClr val="D5E3F0"/>
                </a:solidFill>
                <a:latin typeface="Calibri" pitchFamily="34" charset="0"/>
                <a:ea typeface="Calibri" pitchFamily="34" charset="-122"/>
                <a:cs typeface="Calibri" pitchFamily="34" charset="-120"/>
              </a:rPr>
              <a:t>Auditable multi-model ensemble for knee MRI abnormality detection</a:t>
            </a:r>
            <a:endParaRPr lang="en-US" sz="2200" dirty="0"/>
          </a:p>
        </p:txBody>
      </p:sp>
      <p:pic>
        <p:nvPicPr>
          <p:cNvPr id="6" name="img-363" descr="Sagittal knee MRI slice">    </p:cNvPr>
          <p:cNvPicPr>
            <a:picLocks noChangeAspect="1"/>
          </p:cNvPicPr>
          <p:nvPr/>
        </p:nvPicPr>
        <p:blipFill>
          <a:blip r:embed="rId1"/>
          <a:stretch>
            <a:fillRect/>
          </a:stretch>
        </p:blipFill>
        <p:spPr>
          <a:xfrm>
            <a:off x="7909560" y="1371600"/>
            <a:ext cx="3611880" cy="378745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Appendix A · ABG in formulas</a:t>
            </a:r>
            <a:endParaRPr lang="en-US" sz="3400" dirty="0"/>
          </a:p>
        </p:txBody>
      </p:sp>
      <p:sp>
        <p:nvSpPr>
          <p:cNvPr id="3" name="chev-364"/>
          <p:cNvSpPr/>
          <p:nvPr/>
        </p:nvSpPr>
        <p:spPr>
          <a:xfrm>
            <a:off x="548640" y="246888"/>
            <a:ext cx="137160" cy="201168"/>
          </a:xfrm>
          <a:prstGeom prst="chevron">
            <a:avLst/>
          </a:prstGeom>
          <a:solidFill>
            <a:srgbClr val="E0690C"/>
          </a:solidFill>
          <a:ln/>
        </p:spPr>
      </p:sp>
      <p:sp>
        <p:nvSpPr>
          <p:cNvPr id="4" name="text-365"/>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APPENDIX</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097280"/>
                <a:gridCol w="3017520"/>
                <a:gridCol w="6979615"/>
              </a:tblGrid>
              <a:tr h="4572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Part</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 words</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Formula</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r>
              <a:tr h="777240">
                <a:tc>
                  <a:txBody>
                    <a:bodyPr/>
                    <a:lstStyle/>
                    <a:p>
                      <a:pPr indent="0" marL="0">
                        <a:buNone/>
                      </a:pPr>
                      <a:r>
                        <a:rPr lang="en-US" sz="1600" b="1" dirty="0">
                          <a:solidFill>
                            <a:srgbClr val="B34E00"/>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Native E11 head residual</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0F2740"/>
                          </a:solidFill>
                          <a:latin typeface="Cambria" pitchFamily="34" charset="0"/>
                          <a:ea typeface="Cambria" pitchFamily="34" charset="-122"/>
                          <a:cs typeface="Cambria" pitchFamily="34" charset="-120"/>
                        </a:rPr>
                        <a:t>R_A = 0.15 × ( rank(E11 native) − rank(E13 on E11 pixels) )</a:t>
                      </a:r>
                      <a:endParaRPr lang="en-US" sz="1600" dirty="0">
                        <a:latin typeface="Cambria" charset="0"/>
                        <a:ea typeface="Cambria" charset="0"/>
                        <a:cs typeface="Cambria"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r h="777240">
                <a:tc>
                  <a:txBody>
                    <a:bodyPr/>
                    <a:lstStyle/>
                    <a:p>
                      <a:pPr indent="0" marL="0">
                        <a:buNone/>
                      </a:pPr>
                      <a:r>
                        <a:rPr lang="en-US" sz="1600" b="1" dirty="0">
                          <a:solidFill>
                            <a:srgbClr val="B34E00"/>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Alternate Rad family residual</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0F2740"/>
                          </a:solidFill>
                          <a:latin typeface="Cambria" pitchFamily="34" charset="0"/>
                          <a:ea typeface="Cambria" pitchFamily="34" charset="-122"/>
                          <a:cs typeface="Cambria" pitchFamily="34" charset="-120"/>
                        </a:rPr>
                        <a:t>R_B = 0.85 × 0.500001 × ( rank(alt E10) − rank(ref E10) )</a:t>
                      </a:r>
                      <a:endParaRPr lang="en-US" sz="1600" dirty="0">
                        <a:latin typeface="Cambria" charset="0"/>
                        <a:ea typeface="Cambria" charset="0"/>
                        <a:cs typeface="Cambria"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r h="777240">
                <a:tc>
                  <a:txBody>
                    <a:bodyPr/>
                    <a:lstStyle/>
                    <a:p>
                      <a:pPr indent="0" marL="0">
                        <a:buNone/>
                      </a:pPr>
                      <a:r>
                        <a:rPr lang="en-US" sz="1600" b="1" dirty="0">
                          <a:solidFill>
                            <a:srgbClr val="B34E00"/>
                          </a:solidFill>
                          <a:latin typeface="Calibri" pitchFamily="34" charset="0"/>
                          <a:ea typeface="Calibri" pitchFamily="34" charset="-122"/>
                          <a:cs typeface="Calibri" pitchFamily="34" charset="-120"/>
                        </a:rPr>
                        <a:t>G</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Raptor gain marginalisation</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0F2740"/>
                          </a:solidFill>
                          <a:latin typeface="Cambria" pitchFamily="34" charset="0"/>
                          <a:ea typeface="Cambria" pitchFamily="34" charset="-122"/>
                          <a:cs typeface="Cambria" pitchFamily="34" charset="-120"/>
                        </a:rPr>
                        <a:t>p = ⅙·p(0.9) + ⅔·p(1.0) + ⅙·p(1.1)  for every Raptor arm</a:t>
                      </a:r>
                      <a:endParaRPr lang="en-US" sz="1600" dirty="0">
                        <a:latin typeface="Cambria" charset="0"/>
                        <a:ea typeface="Cambria" charset="0"/>
                        <a:cs typeface="Cambria"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r h="1234440">
                <a:tc>
                  <a:txBody>
                    <a:bodyPr/>
                    <a:lstStyle/>
                    <a:p>
                      <a:pPr indent="0" marL="0">
                        <a:buNone/>
                      </a:pPr>
                      <a:r>
                        <a:rPr lang="en-US" sz="1600" b="1" dirty="0">
                          <a:solidFill>
                            <a:srgbClr val="14253A"/>
                          </a:solidFill>
                          <a:latin typeface="Calibri" pitchFamily="34" charset="0"/>
                          <a:ea typeface="Calibri" pitchFamily="34" charset="-122"/>
                          <a:cs typeface="Calibri" pitchFamily="34" charset="-120"/>
                        </a:rPr>
                        <a:t>Fusion</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Rank blend of the two branches</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0F2740"/>
                          </a:solidFill>
                          <a:latin typeface="Cambria" pitchFamily="34" charset="0"/>
                          <a:ea typeface="Cambria" pitchFamily="34" charset="-122"/>
                          <a:cs typeface="Cambria" pitchFamily="34" charset="-120"/>
                        </a:rPr>
                        <a:t>final = rank( (1 − w)·T′ + w·H ),  T′ = rank(T + R_A + R_B),  H = 0.6·rank(Raptor) + 0.4·rank(CoAt_res),  w = 0.60 (1.00 for lateral meniscus)</a:t>
                      </a:r>
                      <a:endParaRPr lang="en-US" sz="1600" dirty="0">
                        <a:latin typeface="Cambria" charset="0"/>
                        <a:ea typeface="Cambria" charset="0"/>
                        <a:cs typeface="Cambria"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Appendix B · Input geometry per model family</a:t>
            </a:r>
            <a:endParaRPr lang="en-US" sz="3400" dirty="0"/>
          </a:p>
        </p:txBody>
      </p:sp>
      <p:sp>
        <p:nvSpPr>
          <p:cNvPr id="3" name="chev-366"/>
          <p:cNvSpPr/>
          <p:nvPr/>
        </p:nvSpPr>
        <p:spPr>
          <a:xfrm>
            <a:off x="548640" y="246888"/>
            <a:ext cx="137160" cy="201168"/>
          </a:xfrm>
          <a:prstGeom prst="chevron">
            <a:avLst/>
          </a:prstGeom>
          <a:solidFill>
            <a:srgbClr val="E0690C"/>
          </a:solidFill>
          <a:ln/>
        </p:spPr>
      </p:sp>
      <p:sp>
        <p:nvSpPr>
          <p:cNvPr id="4" name="text-367"/>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APPENDIX</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926080"/>
                <a:gridCol w="2011680"/>
                <a:gridCol w="2286000"/>
                <a:gridCol w="3870655"/>
              </a:tblGrid>
              <a:tr h="4572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Family</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Resolution</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Slices</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Notes</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0F2740"/>
                    </a:solidFill>
                  </a:tcPr>
                </a:tc>
              </a:tr>
              <a:tr h="685800">
                <a:tc>
                  <a:txBody>
                    <a:bodyPr/>
                    <a:lstStyle/>
                    <a:p>
                      <a:pPr indent="0" marL="0">
                        <a:buNone/>
                      </a:pPr>
                      <a:r>
                        <a:rPr lang="en-US" sz="1600" b="1" dirty="0">
                          <a:solidFill>
                            <a:srgbClr val="14253A"/>
                          </a:solidFill>
                          <a:latin typeface="Calibri" pitchFamily="34" charset="0"/>
                          <a:ea typeface="Calibri" pitchFamily="34" charset="-122"/>
                          <a:cs typeface="Calibri" pitchFamily="34" charset="-120"/>
                        </a:rPr>
                        <a:t>DINOv2 members (20)</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336 px</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12 per slot</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≈130 mm crop; 10 overlapping windows vote</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14253A"/>
                          </a:solidFill>
                          <a:latin typeface="Calibri" pitchFamily="34" charset="0"/>
                          <a:ea typeface="Calibri" pitchFamily="34" charset="-122"/>
                          <a:cs typeface="Calibri" pitchFamily="34" charset="-120"/>
                        </a:rPr>
                        <a:t>DINOv3 A5 folds (5)</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336 px</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16, band 12–88 %</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per-slice intensity scaling</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14253A"/>
                          </a:solidFill>
                          <a:latin typeface="Calibri" pitchFamily="34" charset="0"/>
                          <a:ea typeface="Calibri" pitchFamily="34" charset="-122"/>
                          <a:cs typeface="Calibri" pitchFamily="34" charset="-120"/>
                        </a:rPr>
                        <a:t>RadImageNet heads</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224 px</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per slot-series</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E10 layout: 8 slot-series; E11 layout: 7</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14253A"/>
                          </a:solidFill>
                          <a:latin typeface="Calibri" pitchFamily="34" charset="0"/>
                          <a:ea typeface="Calibri" pitchFamily="34" charset="-122"/>
                          <a:cs typeface="Calibri" pitchFamily="34" charset="-120"/>
                        </a:rPr>
                        <a:t>Raptor max-span arm</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336 px (res 384)</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64, span 2–98 %</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c>
                  <a:txBody>
                    <a:bodyPr/>
                    <a:lstStyle/>
                    <a:p>
                      <a:pPr indent="0" marL="0">
                        <a:buNone/>
                      </a:pPr>
                      <a:r>
                        <a:rPr lang="en-US" sz="1600" dirty="0">
                          <a:solidFill>
                            <a:srgbClr val="14253A"/>
                          </a:solidFill>
                          <a:latin typeface="Calibri" pitchFamily="34" charset="0"/>
                          <a:ea typeface="Calibri" pitchFamily="34" charset="-122"/>
                          <a:cs typeface="Calibri" pitchFamily="34" charset="-120"/>
                        </a:rPr>
                        <a:t>62 windows per study</a:t>
                      </a:r>
                      <a:endParaRPr lang="en-US" sz="1600" dirty="0">
                        <a:latin typeface="Calibri" charset="0"/>
                        <a:ea typeface="Calibri" charset="0"/>
                        <a:cs typeface="Calibri" charset="0"/>
                      </a:endParaRPr>
                    </a:p>
                  </a:txBody>
                  <a:tcPr marL="109728" marR="109728" marT="0" marB="0" anchor="ctr">
                    <a:lnL w="9525" cap="flat" cmpd="sng" algn="ctr">
                      <a:solidFill>
                        <a:srgbClr val="D5DEE7"/>
                      </a:solidFill>
                      <a:prstDash val="solid"/>
                      <a:round/>
                      <a:headEnd type="none" w="med" len="med"/>
                      <a:tailEnd type="none" w="med" len="med"/>
                    </a:lnL>
                    <a:lnR w="9525" cap="flat" cmpd="sng" algn="ctr">
                      <a:solidFill>
                        <a:srgbClr val="D5DEE7"/>
                      </a:solidFill>
                      <a:prstDash val="solid"/>
                      <a:round/>
                      <a:headEnd type="none" w="med" len="med"/>
                      <a:tailEnd type="none" w="med" len="med"/>
                    </a:lnR>
                    <a:lnT w="9525" cap="flat" cmpd="sng" algn="ctr">
                      <a:solidFill>
                        <a:srgbClr val="D5DEE7"/>
                      </a:solidFill>
                      <a:prstDash val="solid"/>
                      <a:round/>
                      <a:headEnd type="none" w="med" len="med"/>
                      <a:tailEnd type="none" w="med" len="med"/>
                    </a:lnT>
                    <a:lnB w="9525" cap="flat" cmpd="sng" algn="ctr">
                      <a:solidFill>
                        <a:srgbClr val="D5DE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749808"/>
          </a:xfrm>
          <a:prstGeom prst="rect">
            <a:avLst/>
          </a:prstGeom>
          <a:noFill/>
          <a:ln/>
        </p:spPr>
        <p:txBody>
          <a:bodyPr wrap="square" lIns="0" tIns="0" rIns="0" bIns="0" rtlCol="0" anchor="t"/>
          <a:lstStyle/>
          <a:p>
            <a:pPr algn="l" indent="0" marL="0">
              <a:buNone/>
            </a:pPr>
            <a:r>
              <a:rPr lang="en-US" sz="3400" b="1" dirty="0">
                <a:solidFill>
                  <a:srgbClr val="0F2740"/>
                </a:solidFill>
                <a:latin typeface="Cambria" pitchFamily="34" charset="0"/>
                <a:ea typeface="Cambria" pitchFamily="34" charset="-122"/>
                <a:cs typeface="Cambria" pitchFamily="34" charset="-120"/>
              </a:rPr>
              <a:t>Appendix C · Residual scale and gain weights</a:t>
            </a:r>
            <a:endParaRPr lang="en-US" sz="3400" dirty="0"/>
          </a:p>
        </p:txBody>
      </p:sp>
      <p:sp>
        <p:nvSpPr>
          <p:cNvPr id="3" name="chev-368"/>
          <p:cNvSpPr/>
          <p:nvPr/>
        </p:nvSpPr>
        <p:spPr>
          <a:xfrm>
            <a:off x="548640" y="246888"/>
            <a:ext cx="137160" cy="201168"/>
          </a:xfrm>
          <a:prstGeom prst="chevron">
            <a:avLst/>
          </a:prstGeom>
          <a:solidFill>
            <a:srgbClr val="E0690C"/>
          </a:solidFill>
          <a:ln/>
        </p:spPr>
      </p:sp>
      <p:sp>
        <p:nvSpPr>
          <p:cNvPr id="4" name="text-369"/>
          <p:cNvSpPr txBox="1"/>
          <p:nvPr/>
        </p:nvSpPr>
        <p:spPr>
          <a:xfrm>
            <a:off x="795528" y="228600"/>
            <a:ext cx="6400800" cy="237744"/>
          </a:xfrm>
          <a:prstGeom prst="rect">
            <a:avLst/>
          </a:prstGeom>
          <a:noFill/>
          <a:ln/>
        </p:spPr>
        <p:txBody>
          <a:bodyPr wrap="square" lIns="0" tIns="0" rIns="0" bIns="0" rtlCol="0" anchor="t"/>
          <a:lstStyle/>
          <a:p>
            <a:pPr algn="l" indent="0" marL="0">
              <a:buNone/>
            </a:pPr>
            <a:r>
              <a:rPr lang="en-US" sz="1200" b="1" spc="200" kern="0" dirty="0">
                <a:solidFill>
                  <a:srgbClr val="5C6B7A"/>
                </a:solidFill>
                <a:latin typeface="Calibri" pitchFamily="34" charset="0"/>
                <a:ea typeface="Calibri" pitchFamily="34" charset="-122"/>
                <a:cs typeface="Calibri" pitchFamily="34" charset="-120"/>
              </a:rPr>
              <a:t>APPENDIX</a:t>
            </a:r>
            <a:endParaRPr lang="en-US" sz="1200" dirty="0"/>
          </a:p>
        </p:txBody>
      </p:sp>
      <p:sp>
        <p:nvSpPr>
          <p:cNvPr id="6" name="pill-370"/>
          <p:cNvSpPr/>
          <p:nvPr/>
        </p:nvSpPr>
        <p:spPr>
          <a:xfrm>
            <a:off x="8732520" y="182880"/>
            <a:ext cx="2907792" cy="292608"/>
          </a:xfrm>
          <a:prstGeom prst="roundRect">
            <a:avLst>
              <a:gd name="adj" fmla="val 46875"/>
            </a:avLst>
          </a:prstGeom>
          <a:solidFill>
            <a:srgbClr val="FDEBDD"/>
          </a:solidFill>
          <a:ln/>
        </p:spPr>
        <p:txBody>
          <a:bodyPr wrap="square" lIns="0" tIns="0" rIns="0" bIns="0" rtlCol="0" anchor="ctr"/>
          <a:lstStyle/>
          <a:p>
            <a:pPr algn="ctr" indent="0" marL="0">
              <a:buNone/>
            </a:pPr>
            <a:r>
              <a:rPr lang="en-US" sz="1100" b="1" dirty="0">
                <a:solidFill>
                  <a:srgbClr val="B34E00"/>
                </a:solidFill>
                <a:latin typeface="Calibri" pitchFamily="34" charset="0"/>
                <a:ea typeface="Calibri" pitchFamily="34" charset="-122"/>
                <a:cs typeface="Calibri" pitchFamily="34" charset="-120"/>
              </a:rPr>
              <a:t>SIMULATION  ·  SYNTHETIC DATA</a:t>
            </a:r>
            <a:endParaRPr lang="en-US" sz="1100" dirty="0"/>
          </a:p>
        </p:txBody>
      </p:sp>
      <p:sp>
        <p:nvSpPr>
          <p:cNvPr id="7" name="text-371"/>
          <p:cNvSpPr txBox="1"/>
          <p:nvPr/>
        </p:nvSpPr>
        <p:spPr>
          <a:xfrm>
            <a:off x="548640" y="1417320"/>
            <a:ext cx="5486400" cy="365760"/>
          </a:xfrm>
          <a:prstGeom prst="rect">
            <a:avLst/>
          </a:prstGeom>
          <a:noFill/>
          <a:ln/>
        </p:spPr>
        <p:txBody>
          <a:bodyPr wrap="square" lIns="0" tIns="0" rIns="0" bIns="0" rtlCol="0" anchor="t"/>
          <a:lstStyle/>
          <a:p>
            <a:pPr algn="l" indent="0" marL="0">
              <a:buNone/>
            </a:pPr>
            <a:r>
              <a:rPr lang="en-US" sz="1900" b="1" dirty="0">
                <a:solidFill>
                  <a:srgbClr val="0F2740"/>
                </a:solidFill>
                <a:latin typeface="Cambria" pitchFamily="34" charset="0"/>
                <a:ea typeface="Cambria" pitchFamily="34" charset="-122"/>
                <a:cs typeface="Cambria" pitchFamily="34" charset="-120"/>
              </a:rPr>
              <a:t>Residual scale (as in A and B)</a:t>
            </a:r>
            <a:endParaRPr lang="en-US" sz="1900" dirty="0"/>
          </a:p>
        </p:txBody>
      </p:sp>
      <p:sp>
        <p:nvSpPr>
          <p:cNvPr id="8" name="text-372"/>
          <p:cNvSpPr txBox="1"/>
          <p:nvPr/>
        </p:nvSpPr>
        <p:spPr>
          <a:xfrm>
            <a:off x="6172200" y="1417320"/>
            <a:ext cx="5486400" cy="365760"/>
          </a:xfrm>
          <a:prstGeom prst="rect">
            <a:avLst/>
          </a:prstGeom>
          <a:noFill/>
          <a:ln/>
        </p:spPr>
        <p:txBody>
          <a:bodyPr wrap="square" lIns="0" tIns="0" rIns="0" bIns="0" rtlCol="0" anchor="t"/>
          <a:lstStyle/>
          <a:p>
            <a:pPr algn="l" indent="0" marL="0">
              <a:buNone/>
            </a:pPr>
            <a:r>
              <a:rPr lang="en-US" sz="1900" b="1" dirty="0">
                <a:solidFill>
                  <a:srgbClr val="0F2740"/>
                </a:solidFill>
                <a:latin typeface="Cambria" pitchFamily="34" charset="0"/>
                <a:ea typeface="Cambria" pitchFamily="34" charset="-122"/>
                <a:cs typeface="Cambria" pitchFamily="34" charset="-120"/>
              </a:rPr>
              <a:t>Gain-view weights (as in G)</a:t>
            </a:r>
            <a:endParaRPr lang="en-US" sz="1900" dirty="0"/>
          </a:p>
        </p:txBody>
      </p:sp>
      <p:pic>
        <p:nvPicPr>
          <p:cNvPr id="9" name="img-373" descr="Grouped bars: change in macro AUC by residual scale">    </p:cNvPr>
          <p:cNvPicPr>
            <a:picLocks noChangeAspect="1"/>
          </p:cNvPicPr>
          <p:nvPr/>
        </p:nvPicPr>
        <p:blipFill>
          <a:blip r:embed="rId1"/>
          <a:stretch>
            <a:fillRect/>
          </a:stretch>
        </p:blipFill>
        <p:spPr>
          <a:xfrm>
            <a:off x="548640" y="1828800"/>
            <a:ext cx="5486400" cy="3794760"/>
          </a:xfrm>
          <a:prstGeom prst="rect">
            <a:avLst/>
          </a:prstGeom>
        </p:spPr>
      </p:pic>
      <p:pic>
        <p:nvPicPr>
          <p:cNvPr id="10" name="img-374" descr="Grouped bars: change in macro AUC for 1:4:1 versus equal gain weights">    </p:cNvPr>
          <p:cNvPicPr>
            <a:picLocks noChangeAspect="1"/>
          </p:cNvPicPr>
          <p:nvPr/>
        </p:nvPicPr>
        <p:blipFill>
          <a:blip r:embed="rId2"/>
          <a:stretch>
            <a:fillRect/>
          </a:stretch>
        </p:blipFill>
        <p:spPr>
          <a:xfrm>
            <a:off x="6172200" y="1828800"/>
            <a:ext cx="5470855" cy="3798618"/>
          </a:xfrm>
          <a:prstGeom prst="rect">
            <a:avLst/>
          </a:prstGeom>
        </p:spPr>
      </p:pic>
      <p:sp>
        <p:nvSpPr>
          <p:cNvPr id="11" name="text-375"/>
          <p:cNvSpPr txBox="1"/>
          <p:nvPr/>
        </p:nvSpPr>
        <p:spPr>
          <a:xfrm>
            <a:off x="548640" y="5852160"/>
            <a:ext cx="11094415" cy="365760"/>
          </a:xfrm>
          <a:prstGeom prst="rect">
            <a:avLst/>
          </a:prstGeom>
          <a:noFill/>
          <a:ln/>
        </p:spPr>
        <p:txBody>
          <a:bodyPr wrap="square" lIns="0" tIns="0" rIns="0" bIns="0" rtlCol="0" anchor="t"/>
          <a:lstStyle/>
          <a:p>
            <a:pPr algn="l" indent="0" marL="0">
              <a:buNone/>
            </a:pPr>
            <a:r>
              <a:rPr lang="en-US" sz="1400" dirty="0">
                <a:solidFill>
                  <a:srgbClr val="5C6B7A"/>
                </a:solidFill>
                <a:latin typeface="Calibri" pitchFamily="34" charset="0"/>
                <a:ea typeface="Calibri" pitchFamily="34" charset="-122"/>
                <a:cs typeface="Calibri" pitchFamily="34" charset="-120"/>
              </a:rPr>
              <a:t>Standalone single-model simulation; the full fusion replica is on the Ablation II slide.</a:t>
            </a:r>
            <a:endParaRPr lang="en-US" sz="1400" dirty="0"/>
          </a:p>
        </p:txBody>
      </p:sp>
      <p:sp>
        <p:nvSpPr>
          <p:cNvPr id="25" name="Slide Number Placeholder 0"/>
          <p:cNvSpPr>
            <a:spLocks noGrp="1"/>
          </p:cNvSpPr>
          <p:nvPr>
            <p:ph type="sldNum" sz="quarter" idx="4294967295"/>
          </p:nvPr>
        </p:nvSpPr>
        <p:spPr>
          <a:xfrm>
            <a:off x="10972800" y="6455664"/>
            <a:ext cx="667512"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Knee MRI Navy">
  <a:themeElements>
    <a:clrScheme name="Knee MRI Navy">
      <a:dk1>
        <a:srgbClr val="14253A"/>
      </a:dk1>
      <a:lt1>
        <a:srgbClr val="FFFFFF"/>
      </a:lt1>
      <a:dk2>
        <a:srgbClr val="0F2740"/>
      </a:dk2>
      <a:lt2>
        <a:srgbClr val="F2F6FA"/>
      </a:lt2>
      <a:accent1>
        <a:srgbClr val="2B7BC4"/>
      </a:accent1>
      <a:accent2>
        <a:srgbClr val="2E9E6B"/>
      </a:accent2>
      <a:accent3>
        <a:srgbClr val="A24BA0"/>
      </a:accent3>
      <a:accent4>
        <a:srgbClr val="E0690C"/>
      </a:accent4>
      <a:accent5>
        <a:srgbClr val="5C6B7A"/>
      </a:accent5>
      <a:accent6>
        <a:srgbClr val="D64545"/>
      </a:accent6>
      <a:hlink>
        <a:srgbClr val="2B7BC4"/>
      </a:hlink>
      <a:folHlink>
        <a:srgbClr val="5C6B7A"/>
      </a:folHlink>
    </a:clrScheme>
    <a:fontScheme name="Knee MRI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Auditable Multi-Model Ensemble for Knee MRI Abnormality Detection</dc:title>
  <dc:subject>RSNA 2026 Knee Abnormality Detection AI Challenge: major project mid-semester evaluation</dc:subject>
  <dc:creator>Major project team</dc:creator>
  <cp:lastModifiedBy>Major project team</cp:lastModifiedBy>
  <cp:revision>1</cp:revision>
  <dcterms:created xsi:type="dcterms:W3CDTF">2026-10-07T16:04:14Z</dcterms:created>
  <dcterms:modified xsi:type="dcterms:W3CDTF">2026-10-07T16:04:14Z</dcterms:modified>
</cp:coreProperties>
</file>