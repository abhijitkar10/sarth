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9.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858853b-7852-f728-286b-443635f367fc}">
          <p14:sldIdLst>
            <p14:sldId id="256"/>
          </p14:sldIdLst>
        </p14:section>
        <p14:section name="Introduction" id="{bbd3b750-15ab-1101-2158-369ddc8c922a}">
          <p14:sldIdLst>
            <p14:sldId id="257"/>
            <p14:sldId id="258"/>
            <p14:sldId id="259"/>
          </p14:sldIdLst>
        </p14:section>
        <p14:section name="Problem &amp; data" id="{fab49e61-84f5-1a56-550a-b09b6c40a518}">
          <p14:sldIdLst>
            <p14:sldId id="260"/>
          </p14:sldIdLst>
        </p14:section>
        <p14:section name="Method" id="{ec247a62-da8f-3e7c-8d75-8293bdaabf00}">
          <p14:sldIdLst>
            <p14:sldId id="261"/>
            <p14:sldId id="262"/>
            <p14:sldId id="263"/>
            <p14:sldId id="264"/>
            <p14:sldId id="265"/>
            <p14:sldId id="266"/>
            <p14:sldId id="267"/>
          </p14:sldIdLst>
        </p14:section>
        <p14:section name="Experiments" id="{3bb06493-e7b7-efb0-8ff5-029317b9e672}">
          <p14:sldIdLst>
            <p14:sldId id="268"/>
            <p14:sldId id="269"/>
            <p14:sldId id="270"/>
            <p14:sldId id="271"/>
            <p14:sldId id="272"/>
            <p14:sldId id="273"/>
          </p14:sldIdLst>
        </p14:section>
        <p14:section name="Results" id="{1db4edc3-5414-9af0-900e-2a727a3f3b85}">
          <p14:sldIdLst>
            <p14:sldId id="274"/>
            <p14:sldId id="275"/>
            <p14:sldId id="276"/>
          </p14:sldIdLst>
        </p14:section>
        <p14:section name="Conclusion" id="{c31e6d89-48d5-bcee-4032-ec43b29e52d6}">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Nominal weight of each branch in the final blend (%)</a:t>
            </a:r>
          </a:p>
        </c:rich>
      </c:tx>
      <c:layout/>
      <c:overlay val="0"/>
    </c:title>
    <c:autoTitleDeleted val="0"/>
    <c:plotArea>
      <c:layout/>
      <c:barChart>
        <c:barDir val="bar"/>
        <c:grouping val="stacked"/>
        <c:varyColors val="0"/>
        <c:ser>
          <c:idx val="0"/>
          <c:order val="0"/>
          <c:tx>
            <c:strRef>
              <c:f>Sheet1!$B$1</c:f>
              <c:strCache>
                <c:ptCount val="1"/>
                <c:pt idx="0">
                  <c:v>DINO + A5 + Rad (calibrated)</c:v>
                </c:pt>
              </c:strCache>
            </c:strRef>
          </c:tx>
          <c:spPr>
            <a:solidFill>
              <a:srgbClr val="5B6B7A"/>
            </a:solidFill>
            <a:effectLst/>
          </c:spPr>
          <c:invertIfNegative val="0"/>
          <c:dLbls>
            <c:numFmt formatCode="0&quot;%&quot;;-0&quot;%&quot;;"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11 targets</c:v>
                  </c:pt>
                  <c:pt idx="1">
                    <c:v>Lateral meniscus</c:v>
                  </c:pt>
                </c:lvl>
              </c:multiLvlStrCache>
            </c:multiLvlStrRef>
          </c:cat>
          <c:val>
            <c:numRef>
              <c:f>Sheet1!$B$2:$B$3</c:f>
              <c:numCache>
                <c:formatCode>General</c:formatCode>
                <c:ptCount val="2"/>
                <c:pt idx="0">
                  <c:v>40</c:v>
                </c:pt>
                <c:pt idx="1">
                  <c:v>0</c:v>
                </c:pt>
              </c:numCache>
            </c:numRef>
          </c:val>
        </c:ser>
        <c:ser>
          <c:idx val="1"/>
          <c:order val="1"/>
          <c:tx>
            <c:strRef>
              <c:f>Sheet1!$C$1</c:f>
              <c:strCache>
                <c:ptCount val="1"/>
                <c:pt idx="0">
                  <c:v>Raptor (4 arms, gain-marginalised)</c:v>
                </c:pt>
              </c:strCache>
            </c:strRef>
          </c:tx>
          <c:spPr>
            <a:solidFill>
              <a:srgbClr val="C8403F"/>
            </a:solidFill>
            <a:effectLst/>
          </c:spPr>
          <c:invertIfNegative val="0"/>
          <c:dLbls>
            <c:numFmt formatCode="0&quot;%&quot;;-0&quot;%&quot;;"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11 targets</c:v>
                  </c:pt>
                  <c:pt idx="1">
                    <c:v>Lateral meniscus</c:v>
                  </c:pt>
                </c:lvl>
              </c:multiLvlStrCache>
            </c:multiLvlStrRef>
          </c:cat>
          <c:val>
            <c:numRef>
              <c:f>Sheet1!$C$2:$C$3</c:f>
              <c:numCache>
                <c:formatCode>General</c:formatCode>
                <c:ptCount val="2"/>
                <c:pt idx="0">
                  <c:v>36</c:v>
                </c:pt>
                <c:pt idx="1">
                  <c:v>60</c:v>
                </c:pt>
              </c:numCache>
            </c:numRef>
          </c:val>
        </c:ser>
        <c:ser>
          <c:idx val="2"/>
          <c:order val="2"/>
          <c:tx>
            <c:strRef>
              <c:f>Sheet1!$D$1</c:f>
              <c:strCache>
                <c:ptCount val="1"/>
                <c:pt idx="0">
                  <c:v>Residual CoAtNet</c:v>
                </c:pt>
              </c:strCache>
            </c:strRef>
          </c:tx>
          <c:spPr>
            <a:solidFill>
              <a:srgbClr val="8F2D2D"/>
            </a:solidFill>
            <a:effectLst/>
          </c:spPr>
          <c:invertIfNegative val="0"/>
          <c:dLbls>
            <c:numFmt formatCode="0&quot;%&quot;;-0&quot;%&quot;;"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11 targets</c:v>
                  </c:pt>
                  <c:pt idx="1">
                    <c:v>Lateral meniscus</c:v>
                  </c:pt>
                </c:lvl>
              </c:multiLvlStrCache>
            </c:multiLvlStrRef>
          </c:cat>
          <c:val>
            <c:numRef>
              <c:f>Sheet1!$D$2:$D$3</c:f>
              <c:numCache>
                <c:formatCode>General</c:formatCode>
                <c:ptCount val="2"/>
                <c:pt idx="0">
                  <c:v>24</c:v>
                </c:pt>
                <c:pt idx="1">
                  <c:v>40</c:v>
                </c:pt>
              </c:numCache>
            </c:numRef>
          </c:val>
        </c:ser>
        <c:dLbls>
          <c:numFmt formatCode="0&quot;%&quot;;-0&quot;%&quot;;"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342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Weight of each intensity-gain view (%)</a:t>
            </a:r>
          </a:p>
        </c:rich>
      </c:tx>
      <c:layout/>
      <c:overlay val="0"/>
    </c:title>
    <c:autoTitleDeleted val="0"/>
    <c:plotArea>
      <c:layout/>
      <c:barChart>
        <c:barDir val="col"/>
        <c:grouping val="clustered"/>
        <c:varyColors val="0"/>
        <c:ser>
          <c:idx val="0"/>
          <c:order val="0"/>
          <c:tx>
            <c:strRef>
              <c:f>Sheet1!$B$1</c:f>
              <c:strCache>
                <c:ptCount val="1"/>
                <c:pt idx="0">
                  <c:v>Weight</c:v>
                </c:pt>
              </c:strCache>
            </c:strRef>
          </c:tx>
          <c:spPr>
            <a:solidFill>
              <a:srgbClr val="6D5BD0"/>
            </a:solidFill>
            <a:effectLst/>
          </c:spPr>
          <c:invertIfNegative val="0"/>
          <c:dLbls>
            <c:numFmt formatCode="0.0&quot;%&quot;"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cat>
            <c:multiLvlStrRef>
              <c:f>Sheet1!$A$2:$A$4</c:f>
              <c:multiLvlStrCache>
                <c:ptCount val="3"/>
                <c:lvl>
                  <c:pt idx="0">
                    <c:v>Gain 0.9</c:v>
                  </c:pt>
                  <c:pt idx="1">
                    <c:v>Gain 1.0</c:v>
                  </c:pt>
                  <c:pt idx="2">
                    <c:v>Gain 1.1</c:v>
                  </c:pt>
                </c:lvl>
              </c:multiLvlStrCache>
            </c:multiLvlStrRef>
          </c:cat>
          <c:val>
            <c:numRef>
              <c:f>Sheet1!$B$2:$B$4</c:f>
              <c:numCache>
                <c:formatCode>General</c:formatCode>
                <c:ptCount val="3"/>
                <c:pt idx="0">
                  <c:v>16.7</c:v>
                </c:pt>
                <c:pt idx="1">
                  <c:v>66.7</c:v>
                </c:pt>
                <c:pt idx="2">
                  <c:v>16.7</c:v>
                </c:pt>
              </c:numCache>
            </c:numRef>
          </c:val>
        </c:ser>
        <c:dLbls>
          <c:numFmt formatCode="0.0&quot;%&quot;"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D5DD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Macro AUC vs ensemble size (one family)</a:t>
            </a:r>
          </a:p>
        </c:rich>
      </c:tx>
      <c:layout/>
      <c:overlay val="0"/>
    </c:title>
    <c:autoTitleDeleted val="0"/>
    <c:plotArea>
      <c:layout/>
      <c:barChart>
        <c:barDir val="col"/>
        <c:grouping val="clustered"/>
        <c:varyColors val="0"/>
        <c:ser>
          <c:idx val="0"/>
          <c:order val="0"/>
          <c:tx>
            <c:strRef>
              <c:f>Sheet1!$B$1</c:f>
              <c:strCache>
                <c:ptCount val="1"/>
                <c:pt idx="0">
                  <c:v>Macro AUC</c:v>
                </c:pt>
              </c:strCache>
            </c:strRef>
          </c:tx>
          <c:spPr>
            <a:solidFill>
              <a:srgbClr val="15857B"/>
            </a:solidFill>
            <a:effectLst/>
          </c:spPr>
          <c:invertIfNegative val="0"/>
          <c:dLbls>
            <c:numFmt formatCode="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cat>
            <c:multiLvlStrRef>
              <c:f>Sheet1!$A$2:$A$6</c:f>
              <c:multiLvlStrCache>
                <c:ptCount val="5"/>
                <c:lvl>
                  <c:pt idx="0">
                    <c:v>1 member</c:v>
                  </c:pt>
                  <c:pt idx="1">
                    <c:v>2 members</c:v>
                  </c:pt>
                  <c:pt idx="2">
                    <c:v>5 members</c:v>
                  </c:pt>
                  <c:pt idx="3">
                    <c:v>10 members</c:v>
                  </c:pt>
                  <c:pt idx="4">
                    <c:v>20 members</c:v>
                  </c:pt>
                </c:lvl>
              </c:multiLvlStrCache>
            </c:multiLvlStrRef>
          </c:cat>
          <c:val>
            <c:numRef>
              <c:f>Sheet1!$B$2:$B$6</c:f>
              <c:numCache>
                <c:formatCode>General</c:formatCode>
                <c:ptCount val="5"/>
                <c:pt idx="0">
                  <c:v>0.898906579801736</c:v>
                </c:pt>
                <c:pt idx="1">
                  <c:v>0.9165644265830523</c:v>
                </c:pt>
                <c:pt idx="2">
                  <c:v>0.927812463857216</c:v>
                </c:pt>
                <c:pt idx="3">
                  <c:v>0.9316650089682336</c:v>
                </c:pt>
                <c:pt idx="4">
                  <c:v>0.9336904389205836</c:v>
                </c:pt>
              </c:numCache>
            </c:numRef>
          </c:val>
        </c:ser>
        <c:dLbls>
          <c:numFmt formatCode="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0.95"/>
          <c:min val="0.88"/>
        </c:scaling>
        <c:delete val="0"/>
        <c:axPos val="l"/>
        <c:majorGridlines>
          <c:spPr>
            <a:ln w="9525" cap="flat">
              <a:solidFill>
                <a:srgbClr val="D5DDE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Macro AUC vs error correlation ρ between families</a:t>
            </a:r>
          </a:p>
        </c:rich>
      </c:tx>
      <c:layout/>
      <c:overlay val="0"/>
    </c:title>
    <c:autoTitleDeleted val="0"/>
    <c:plotArea>
      <c:layout/>
      <c:barChart>
        <c:barDir val="col"/>
        <c:grouping val="clustered"/>
        <c:varyColors val="0"/>
        <c:ser>
          <c:idx val="0"/>
          <c:order val="0"/>
          <c:tx>
            <c:strRef>
              <c:f>Sheet1!$B$1</c:f>
              <c:strCache>
                <c:ptCount val="1"/>
                <c:pt idx="0">
                  <c:v>DINO ensemble ×20 alone</c:v>
                </c:pt>
              </c:strCache>
            </c:strRef>
          </c:tx>
          <c:spPr>
            <a:solidFill>
              <a:srgbClr val="15857B"/>
            </a:solidFill>
            <a:effectLst/>
          </c:spPr>
          <c:invertIfNegative val="0"/>
          <c:dLbls>
            <c:numFmt formatCode="0.000" sourceLinked="0"/>
            <c:txPr>
              <a:bodyPr/>
              <a:lstStyle/>
              <a:p>
                <a:pPr>
                  <a:defRPr b="1" i="0" strike="noStrike" sz="1100" u="none">
                    <a:solidFill>
                      <a:srgbClr val="111A24"/>
                    </a:solidFill>
                    <a:latin typeface="+mn-lt"/>
                  </a:defRPr>
                </a:pPr>
              </a:p>
            </c:txPr>
            <c:showLegendKey val="0"/>
            <c:showVal val="1"/>
            <c:showCatName val="0"/>
            <c:showSerName val="0"/>
            <c:showPercent val="0"/>
            <c:showBubbleSize val="0"/>
            <c:showLeaderLines val="0"/>
          </c:dLbls>
          <c:cat>
            <c:multiLvlStrRef>
              <c:f>Sheet1!$A$2:$A$5</c:f>
              <c:multiLvlStrCache>
                <c:ptCount val="4"/>
                <c:lvl>
                  <c:pt idx="0">
                    <c:v>ρ = 0.2</c:v>
                  </c:pt>
                  <c:pt idx="1">
                    <c:v>ρ = 0.4</c:v>
                  </c:pt>
                  <c:pt idx="2">
                    <c:v>ρ = 0.6</c:v>
                  </c:pt>
                  <c:pt idx="3">
                    <c:v>ρ = 0.8</c:v>
                  </c:pt>
                </c:lvl>
              </c:multiLvlStrCache>
            </c:multiLvlStrRef>
          </c:cat>
          <c:val>
            <c:numRef>
              <c:f>Sheet1!$B$2:$B$5</c:f>
              <c:numCache>
                <c:formatCode>General</c:formatCode>
                <c:ptCount val="4"/>
                <c:pt idx="0">
                  <c:v>0.9342150100036417</c:v>
                </c:pt>
                <c:pt idx="1">
                  <c:v>0.9348756984893857</c:v>
                </c:pt>
                <c:pt idx="2">
                  <c:v>0.9347662478469576</c:v>
                </c:pt>
                <c:pt idx="3">
                  <c:v>0.9220373494613048</c:v>
                </c:pt>
              </c:numCache>
            </c:numRef>
          </c:val>
        </c:ser>
        <c:ser>
          <c:idx val="1"/>
          <c:order val="1"/>
          <c:tx>
            <c:strRef>
              <c:f>Sheet1!$C$1</c:f>
              <c:strCache>
                <c:ptCount val="1"/>
                <c:pt idx="0">
                  <c:v>Three-family blend</c:v>
                </c:pt>
              </c:strCache>
            </c:strRef>
          </c:tx>
          <c:spPr>
            <a:solidFill>
              <a:srgbClr val="6D5BD0"/>
            </a:solidFill>
            <a:effectLst/>
          </c:spPr>
          <c:invertIfNegative val="0"/>
          <c:dLbls>
            <c:numFmt formatCode="0.000" sourceLinked="0"/>
            <c:txPr>
              <a:bodyPr/>
              <a:lstStyle/>
              <a:p>
                <a:pPr>
                  <a:defRPr b="1" i="0" strike="noStrike" sz="1100" u="none">
                    <a:solidFill>
                      <a:srgbClr val="111A24"/>
                    </a:solidFill>
                    <a:latin typeface="+mn-lt"/>
                  </a:defRPr>
                </a:pPr>
              </a:p>
            </c:txPr>
            <c:showLegendKey val="0"/>
            <c:showVal val="1"/>
            <c:showCatName val="0"/>
            <c:showSerName val="0"/>
            <c:showPercent val="0"/>
            <c:showBubbleSize val="0"/>
            <c:showLeaderLines val="0"/>
          </c:dLbls>
          <c:cat>
            <c:multiLvlStrRef>
              <c:f>Sheet1!$A$2:$A$5</c:f>
              <c:multiLvlStrCache>
                <c:ptCount val="4"/>
                <c:lvl>
                  <c:pt idx="0">
                    <c:v>ρ = 0.2</c:v>
                  </c:pt>
                  <c:pt idx="1">
                    <c:v>ρ = 0.4</c:v>
                  </c:pt>
                  <c:pt idx="2">
                    <c:v>ρ = 0.6</c:v>
                  </c:pt>
                  <c:pt idx="3">
                    <c:v>ρ = 0.8</c:v>
                  </c:pt>
                </c:lvl>
              </c:multiLvlStrCache>
            </c:multiLvlStrRef>
          </c:cat>
          <c:val>
            <c:numRef>
              <c:f>Sheet1!$C$2:$C$5</c:f>
              <c:numCache>
                <c:formatCode>General</c:formatCode>
                <c:ptCount val="4"/>
                <c:pt idx="0">
                  <c:v>0.9626407338065768</c:v>
                </c:pt>
                <c:pt idx="1">
                  <c:v>0.9488053154786075</c:v>
                </c:pt>
                <c:pt idx="2">
                  <c:v>0.93352624831622</c:v>
                </c:pt>
                <c:pt idx="3">
                  <c:v>0.9187281890790688</c:v>
                </c:pt>
              </c:numCache>
            </c:numRef>
          </c:val>
        </c:ser>
        <c:dLbls>
          <c:numFmt formatCode="0.000" sourceLinked="0"/>
          <c:txPr>
            <a:bodyPr/>
            <a:lstStyle/>
            <a:p>
              <a:pPr>
                <a:defRPr b="1" i="0" strike="noStrike" sz="1100" u="none">
                  <a:solidFill>
                    <a:srgbClr val="111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0.98"/>
          <c:min val="0.88"/>
        </c:scaling>
        <c:delete val="0"/>
        <c:axPos val="l"/>
        <c:majorGridlines>
          <c:spPr>
            <a:ln w="9525" cap="flat">
              <a:solidFill>
                <a:srgbClr val="D5DDE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342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Change in macro AUC from a post-calibration residual</a:t>
            </a:r>
          </a:p>
        </c:rich>
      </c:tx>
      <c:layout/>
      <c:overlay val="0"/>
    </c:title>
    <c:autoTitleDeleted val="0"/>
    <c:plotArea>
      <c:layout/>
      <c:barChart>
        <c:barDir val="col"/>
        <c:grouping val="clustered"/>
        <c:varyColors val="0"/>
        <c:ser>
          <c:idx val="0"/>
          <c:order val="0"/>
          <c:tx>
            <c:strRef>
              <c:f>Sheet1!$B$1</c:f>
              <c:strCache>
                <c:ptCount val="1"/>
                <c:pt idx="0">
                  <c:v>Head 0.05 AUC worse</c:v>
                </c:pt>
              </c:strCache>
            </c:strRef>
          </c:tx>
          <c:spPr>
            <a:solidFill>
              <a:srgbClr val="C8403F"/>
            </a:solidFill>
            <a:effectLst/>
          </c:spPr>
          <c:invertIfNegative val="0"/>
          <c:dLbls>
            <c:numFmt formatCode="+0.0000;-0.0000" sourceLinked="0"/>
            <c:txPr>
              <a:bodyPr/>
              <a:lstStyle/>
              <a:p>
                <a:pPr>
                  <a:defRPr b="1" i="0" strike="noStrike" sz="1000" u="none">
                    <a:solidFill>
                      <a:srgbClr val="111A24"/>
                    </a:solidFill>
                    <a:latin typeface="+mn-lt"/>
                  </a:defRPr>
                </a:pPr>
              </a:p>
            </c:txPr>
            <c:showLegendKey val="0"/>
            <c:showVal val="1"/>
            <c:showCatName val="0"/>
            <c:showSerName val="0"/>
            <c:showPercent val="0"/>
            <c:showBubbleSize val="0"/>
            <c:showLeaderLines val="0"/>
          </c:dLbls>
          <c:cat>
            <c:multiLvlStrRef>
              <c:f>Sheet1!$A$2:$A$4</c:f>
              <c:multiLvlStrCache>
                <c:ptCount val="3"/>
                <c:lvl>
                  <c:pt idx="0">
                    <c:v>scale 0.05</c:v>
                  </c:pt>
                  <c:pt idx="1">
                    <c:v>scale 0.15 (inherited)</c:v>
                  </c:pt>
                  <c:pt idx="2">
                    <c:v>scale 0.30</c:v>
                  </c:pt>
                </c:lvl>
              </c:multiLvlStrCache>
            </c:multiLvlStrRef>
          </c:cat>
          <c:val>
            <c:numRef>
              <c:f>Sheet1!$B$2:$B$4</c:f>
              <c:numCache>
                <c:formatCode>General</c:formatCode>
                <c:ptCount val="3"/>
                <c:pt idx="0">
                  <c:v>-0.001693714327818313</c:v>
                </c:pt>
                <c:pt idx="1">
                  <c:v>-0.005626844960292937</c:v>
                </c:pt>
                <c:pt idx="2">
                  <c:v>-0.012549841782808971</c:v>
                </c:pt>
              </c:numCache>
            </c:numRef>
          </c:val>
        </c:ser>
        <c:ser>
          <c:idx val="1"/>
          <c:order val="1"/>
          <c:tx>
            <c:strRef>
              <c:f>Sheet1!$C$1</c:f>
              <c:strCache>
                <c:ptCount val="1"/>
                <c:pt idx="0">
                  <c:v>Same quality</c:v>
                </c:pt>
              </c:strCache>
            </c:strRef>
          </c:tx>
          <c:spPr>
            <a:solidFill>
              <a:srgbClr val="5B6B7A"/>
            </a:solidFill>
            <a:effectLst/>
          </c:spPr>
          <c:invertIfNegative val="0"/>
          <c:dLbls>
            <c:numFmt formatCode="+0.0000;-0.0000" sourceLinked="0"/>
            <c:txPr>
              <a:bodyPr/>
              <a:lstStyle/>
              <a:p>
                <a:pPr>
                  <a:defRPr b="1" i="0" strike="noStrike" sz="1000" u="none">
                    <a:solidFill>
                      <a:srgbClr val="111A24"/>
                    </a:solidFill>
                    <a:latin typeface="+mn-lt"/>
                  </a:defRPr>
                </a:pPr>
              </a:p>
            </c:txPr>
            <c:showLegendKey val="0"/>
            <c:showVal val="1"/>
            <c:showCatName val="0"/>
            <c:showSerName val="0"/>
            <c:showPercent val="0"/>
            <c:showBubbleSize val="0"/>
            <c:showLeaderLines val="0"/>
          </c:dLbls>
          <c:cat>
            <c:multiLvlStrRef>
              <c:f>Sheet1!$A$2:$A$4</c:f>
              <c:multiLvlStrCache>
                <c:ptCount val="3"/>
                <c:lvl>
                  <c:pt idx="0">
                    <c:v>scale 0.05</c:v>
                  </c:pt>
                  <c:pt idx="1">
                    <c:v>scale 0.15 (inherited)</c:v>
                  </c:pt>
                  <c:pt idx="2">
                    <c:v>scale 0.30</c:v>
                  </c:pt>
                </c:lvl>
              </c:multiLvlStrCache>
            </c:multiLvlStrRef>
          </c:cat>
          <c:val>
            <c:numRef>
              <c:f>Sheet1!$C$2:$C$4</c:f>
              <c:numCache>
                <c:formatCode>General</c:formatCode>
                <c:ptCount val="3"/>
                <c:pt idx="0">
                  <c:v>-0.00004719820411150655</c:v>
                </c:pt>
                <c:pt idx="1">
                  <c:v>-0.00046739530953021635</c:v>
                </c:pt>
                <c:pt idx="2">
                  <c:v>-0.0018314795703031268</c:v>
                </c:pt>
              </c:numCache>
            </c:numRef>
          </c:val>
        </c:ser>
        <c:ser>
          <c:idx val="2"/>
          <c:order val="2"/>
          <c:tx>
            <c:strRef>
              <c:f>Sheet1!$D$1</c:f>
              <c:strCache>
                <c:ptCount val="1"/>
                <c:pt idx="0">
                  <c:v>Head 0.02 AUC better</c:v>
                </c:pt>
              </c:strCache>
            </c:strRef>
          </c:tx>
          <c:spPr>
            <a:solidFill>
              <a:srgbClr val="15857B"/>
            </a:solidFill>
            <a:effectLst/>
          </c:spPr>
          <c:invertIfNegative val="0"/>
          <c:dLbls>
            <c:numFmt formatCode="+0.0000;-0.0000" sourceLinked="0"/>
            <c:txPr>
              <a:bodyPr/>
              <a:lstStyle/>
              <a:p>
                <a:pPr>
                  <a:defRPr b="1" i="0" strike="noStrike" sz="1000" u="none">
                    <a:solidFill>
                      <a:srgbClr val="111A24"/>
                    </a:solidFill>
                    <a:latin typeface="+mn-lt"/>
                  </a:defRPr>
                </a:pPr>
              </a:p>
            </c:txPr>
            <c:showLegendKey val="0"/>
            <c:showVal val="1"/>
            <c:showCatName val="0"/>
            <c:showSerName val="0"/>
            <c:showPercent val="0"/>
            <c:showBubbleSize val="0"/>
            <c:showLeaderLines val="0"/>
          </c:dLbls>
          <c:cat>
            <c:multiLvlStrRef>
              <c:f>Sheet1!$A$2:$A$4</c:f>
              <c:multiLvlStrCache>
                <c:ptCount val="3"/>
                <c:lvl>
                  <c:pt idx="0">
                    <c:v>scale 0.05</c:v>
                  </c:pt>
                  <c:pt idx="1">
                    <c:v>scale 0.15 (inherited)</c:v>
                  </c:pt>
                  <c:pt idx="2">
                    <c:v>scale 0.30</c:v>
                  </c:pt>
                </c:lvl>
              </c:multiLvlStrCache>
            </c:multiLvlStrRef>
          </c:cat>
          <c:val>
            <c:numRef>
              <c:f>Sheet1!$D$2:$D$4</c:f>
              <c:numCache>
                <c:formatCode>General</c:formatCode>
                <c:ptCount val="3"/>
                <c:pt idx="0">
                  <c:v>0.0006291256761388447</c:v>
                </c:pt>
                <c:pt idx="1">
                  <c:v>0.0016256623282187577</c:v>
                </c:pt>
                <c:pt idx="2">
                  <c:v>0.0023872991135916984</c:v>
                </c:pt>
              </c:numCache>
            </c:numRef>
          </c:val>
        </c:ser>
        <c:dLbls>
          <c:numFmt formatCode="+0.0000;-0.0000" sourceLinked="0"/>
          <c:txPr>
            <a:bodyPr/>
            <a:lstStyle/>
            <a:p>
              <a:pPr>
                <a:defRPr b="1" i="0" strike="noStrike" sz="1000" u="none">
                  <a:solidFill>
                    <a:srgbClr val="111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0.005"/>
          <c:min val="-0.015"/>
        </c:scaling>
        <c:delete val="0"/>
        <c:axPos val="l"/>
        <c:majorGridlines>
          <c:spPr>
            <a:ln w="9525" cap="flat">
              <a:solidFill>
                <a:srgbClr val="D5DDE3"/>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majorUnit val="0.005"/>
      </c:valAx>
      <c:spPr>
        <a:noFill/>
        <a:ln>
          <a:noFill/>
        </a:ln>
        <a:effectLst/>
      </c:spPr>
    </c:plotArea>
    <c:legend>
      <c:legendPos val="b"/>
      <c:overlay val="0"/>
      <c:txPr>
        <a:bodyPr/>
        <a:lstStyle/>
        <a:p>
          <a:pPr>
            <a:defRPr sz="1200">
              <a:solidFill>
                <a:srgbClr val="3342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Change in macro AUC vs centre view only</a:t>
            </a:r>
          </a:p>
        </c:rich>
      </c:tx>
      <c:layout/>
      <c:overlay val="0"/>
    </c:title>
    <c:autoTitleDeleted val="0"/>
    <c:plotArea>
      <c:layout/>
      <c:barChart>
        <c:barDir val="col"/>
        <c:grouping val="clustered"/>
        <c:varyColors val="0"/>
        <c:ser>
          <c:idx val="0"/>
          <c:order val="0"/>
          <c:tx>
            <c:strRef>
              <c:f>Sheet1!$B$1</c:f>
              <c:strCache>
                <c:ptCount val="1"/>
                <c:pt idx="0">
                  <c:v>Weights 1:4:1 (G)</c:v>
                </c:pt>
              </c:strCache>
            </c:strRef>
          </c:tx>
          <c:spPr>
            <a:solidFill>
              <a:srgbClr val="6D5BD0"/>
            </a:solidFill>
            <a:effectLst/>
          </c:spPr>
          <c:invertIfNegative val="0"/>
          <c:dLbls>
            <c:numFmt formatCode="+0.0000;-0.0000" sourceLinked="0"/>
            <c:txPr>
              <a:bodyPr/>
              <a:lstStyle/>
              <a:p>
                <a:pPr>
                  <a:defRPr b="1" i="0" strike="noStrike" sz="1100" u="none">
                    <a:solidFill>
                      <a:srgbClr val="111A24"/>
                    </a:solidFill>
                    <a:latin typeface="+mn-lt"/>
                  </a:defRPr>
                </a:pPr>
              </a:p>
            </c:txPr>
            <c:showLegendKey val="0"/>
            <c:showVal val="1"/>
            <c:showCatName val="0"/>
            <c:showSerName val="0"/>
            <c:showPercent val="0"/>
            <c:showBubbleSize val="0"/>
            <c:showLeaderLines val="0"/>
          </c:dLbls>
          <c:cat>
            <c:multiLvlStrRef>
              <c:f>Sheet1!$A$2:$A$3</c:f>
              <c:multiLvlStrCache>
                <c:ptCount val="2"/>
                <c:lvl>
                  <c:pt idx="0">
                    <c:v>Views equally informative</c:v>
                  </c:pt>
                  <c:pt idx="1">
                    <c:v>Off-centre views 5% weaker</c:v>
                  </c:pt>
                </c:lvl>
              </c:multiLvlStrCache>
            </c:multiLvlStrRef>
          </c:cat>
          <c:val>
            <c:numRef>
              <c:f>Sheet1!$B$2:$B$3</c:f>
              <c:numCache>
                <c:formatCode>General</c:formatCode>
                <c:ptCount val="2"/>
                <c:pt idx="0">
                  <c:v>0.0052888256623874665</c:v>
                </c:pt>
                <c:pt idx="1">
                  <c:v>0.0018424696643521837</c:v>
                </c:pt>
              </c:numCache>
            </c:numRef>
          </c:val>
        </c:ser>
        <c:ser>
          <c:idx val="1"/>
          <c:order val="1"/>
          <c:tx>
            <c:strRef>
              <c:f>Sheet1!$C$1</c:f>
              <c:strCache>
                <c:ptCount val="1"/>
                <c:pt idx="0">
                  <c:v>Equal thirds</c:v>
                </c:pt>
              </c:strCache>
            </c:strRef>
          </c:tx>
          <c:spPr>
            <a:solidFill>
              <a:srgbClr val="5B6B7A"/>
            </a:solidFill>
            <a:effectLst/>
          </c:spPr>
          <c:invertIfNegative val="0"/>
          <c:dLbls>
            <c:numFmt formatCode="+0.0000;-0.0000" sourceLinked="0"/>
            <c:txPr>
              <a:bodyPr/>
              <a:lstStyle/>
              <a:p>
                <a:pPr>
                  <a:defRPr b="1" i="0" strike="noStrike" sz="1100" u="none">
                    <a:solidFill>
                      <a:srgbClr val="111A24"/>
                    </a:solidFill>
                    <a:latin typeface="+mn-lt"/>
                  </a:defRPr>
                </a:pPr>
              </a:p>
            </c:txPr>
            <c:showLegendKey val="0"/>
            <c:showVal val="1"/>
            <c:showCatName val="0"/>
            <c:showSerName val="0"/>
            <c:showPercent val="0"/>
            <c:showBubbleSize val="0"/>
            <c:showLeaderLines val="0"/>
          </c:dLbls>
          <c:cat>
            <c:multiLvlStrRef>
              <c:f>Sheet1!$A$2:$A$3</c:f>
              <c:multiLvlStrCache>
                <c:ptCount val="2"/>
                <c:lvl>
                  <c:pt idx="0">
                    <c:v>Views equally informative</c:v>
                  </c:pt>
                  <c:pt idx="1">
                    <c:v>Off-centre views 5% weaker</c:v>
                  </c:pt>
                </c:lvl>
              </c:multiLvlStrCache>
            </c:multiLvlStrRef>
          </c:cat>
          <c:val>
            <c:numRef>
              <c:f>Sheet1!$C$2:$C$3</c:f>
              <c:numCache>
                <c:formatCode>General</c:formatCode>
                <c:ptCount val="2"/>
                <c:pt idx="0">
                  <c:v>0.007043144015432823</c:v>
                </c:pt>
                <c:pt idx="1">
                  <c:v>0.00002793340155719526</c:v>
                </c:pt>
              </c:numCache>
            </c:numRef>
          </c:val>
        </c:ser>
        <c:dLbls>
          <c:numFmt formatCode="+0.0000;-0.0000" sourceLinked="0"/>
          <c:txPr>
            <a:bodyPr/>
            <a:lstStyle/>
            <a:p>
              <a:pPr>
                <a:defRPr b="1" i="0" strike="noStrike" sz="1100" u="none">
                  <a:solidFill>
                    <a:srgbClr val="111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0.009"/>
          <c:min val="-0.002"/>
        </c:scaling>
        <c:delete val="0"/>
        <c:axPos val="l"/>
        <c:majorGridlines>
          <c:spPr>
            <a:ln w="9525" cap="flat">
              <a:solidFill>
                <a:srgbClr val="D5DDE3"/>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majorUnit val="0.002"/>
      </c:valAx>
      <c:spPr>
        <a:noFill/>
        <a:ln>
          <a:noFill/>
        </a:ln>
        <a:effectLst/>
      </c:spPr>
    </c:plotArea>
    <c:legend>
      <c:legendPos val="b"/>
      <c:overlay val="0"/>
      <c:txPr>
        <a:bodyPr/>
        <a:lstStyle/>
        <a:p>
          <a:pPr>
            <a:defRPr sz="1200">
              <a:solidFill>
                <a:srgbClr val="3342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Recorded ACL AUC change (out-of-fold)</a:t>
            </a:r>
          </a:p>
        </c:rich>
      </c:tx>
      <c:layout/>
      <c:overlay val="0"/>
    </c:title>
    <c:autoTitleDeleted val="0"/>
    <c:plotArea>
      <c:layout/>
      <c:barChart>
        <c:barDir val="col"/>
        <c:grouping val="clustered"/>
        <c:varyColors val="0"/>
        <c:ser>
          <c:idx val="0"/>
          <c:order val="0"/>
          <c:tx>
            <c:strRef>
              <c:f>Sheet1!$B$1</c:f>
              <c:strCache>
                <c:ptCount val="1"/>
                <c:pt idx="0">
                  <c:v>ACL AUC change</c:v>
                </c:pt>
              </c:strCache>
            </c:strRef>
          </c:tx>
          <c:spPr>
            <a:solidFill>
              <a:srgbClr val="15857B"/>
            </a:solidFill>
            <a:effectLst/>
          </c:spPr>
          <c:invertIfNegative val="0"/>
          <c:dLbls>
            <c:numFmt formatCode="+0.00000;-0.0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dPt>
            <c:idx val="0"/>
            <c:invertIfNegative val="0"/>
            <c:bubble3D val="0"/>
            <c:spPr>
              <a:solidFill>
                <a:srgbClr val="15857B"/>
              </a:solidFill>
              <a:effectLst/>
            </c:spPr>
          </c:dPt>
          <c:dPt>
            <c:idx val="1"/>
            <c:invertIfNegative val="0"/>
            <c:bubble3D val="0"/>
            <c:spPr>
              <a:solidFill>
                <a:srgbClr val="15857B"/>
              </a:solidFill>
              <a:effectLst/>
            </c:spPr>
          </c:dPt>
          <c:dPt>
            <c:idx val="2"/>
            <c:invertIfNegative val="0"/>
            <c:bubble3D val="0"/>
            <c:spPr>
              <a:solidFill>
                <a:srgbClr val="C8403F"/>
              </a:solidFill>
              <a:effectLst/>
            </c:spPr>
          </c:dPt>
          <c:cat>
            <c:multiLvlStrRef>
              <c:f>Sheet1!$A$2:$A$4</c:f>
              <c:multiLvlStrCache>
                <c:ptCount val="3"/>
                <c:lvl>
                  <c:pt idx="0">
                    <c:v>OrthoDiffusion overlay</c:v>
                  </c:pt>
                  <c:pt idx="1">
                    <c:v>Anchor-bilinear</c:v>
                  </c:pt>
                  <c:pt idx="2">
                    <c:v>LCSE residual</c:v>
                  </c:pt>
                </c:lvl>
              </c:multiLvlStrCache>
            </c:multiLvlStrRef>
          </c:cat>
          <c:val>
            <c:numRef>
              <c:f>Sheet1!$B$2:$B$4</c:f>
              <c:numCache>
                <c:formatCode>General</c:formatCode>
                <c:ptCount val="3"/>
                <c:pt idx="0">
                  <c:v>0.002255</c:v>
                </c:pt>
                <c:pt idx="1">
                  <c:v>0.00094678</c:v>
                </c:pt>
                <c:pt idx="2">
                  <c:v>-0.001089</c:v>
                </c:pt>
              </c:numCache>
            </c:numRef>
          </c:val>
        </c:ser>
        <c:dLbls>
          <c:numFmt formatCode="+0.00000;-0.0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0.003"/>
          <c:min val="-0.002"/>
        </c:scaling>
        <c:delete val="0"/>
        <c:axPos val="l"/>
        <c:majorGridlines>
          <c:spPr>
            <a:ln w="9525" cap="flat">
              <a:solidFill>
                <a:srgbClr val="D5DDE3"/>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Our submissions vs public reference points (axis starts at 0.90)</a:t>
            </a:r>
          </a:p>
        </c:rich>
      </c:tx>
      <c:layout/>
      <c:overlay val="0"/>
    </c:title>
    <c:autoTitleDeleted val="0"/>
    <c:plotArea>
      <c:layout/>
      <c:barChart>
        <c:barDir val="bar"/>
        <c:grouping val="clustered"/>
        <c:varyColors val="0"/>
        <c:ser>
          <c:idx val="0"/>
          <c:order val="0"/>
          <c:tx>
            <c:strRef>
              <c:f>Sheet1!$B$1</c:f>
              <c:strCache>
                <c:ptCount val="1"/>
                <c:pt idx="0">
                  <c:v>Public score</c:v>
                </c:pt>
              </c:strCache>
            </c:strRef>
          </c:tx>
          <c:spPr>
            <a:solidFill>
              <a:srgbClr val="5B6B7A"/>
            </a:solidFill>
            <a:effectLst/>
          </c:spPr>
          <c:invertIfNegative val="0"/>
          <c:dLbls>
            <c:numFmt formatCode="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dPt>
            <c:idx val="0"/>
            <c:invertIfNegative val="0"/>
            <c:bubble3D val="0"/>
            <c:spPr>
              <a:solidFill>
                <a:srgbClr val="5B6B7A"/>
              </a:solidFill>
              <a:effectLst/>
            </c:spPr>
          </c:dPt>
          <c:dPt>
            <c:idx val="1"/>
            <c:invertIfNegative val="0"/>
            <c:bubble3D val="0"/>
            <c:spPr>
              <a:solidFill>
                <a:srgbClr val="15857B"/>
              </a:solidFill>
              <a:effectLst/>
            </c:spPr>
          </c:dPt>
          <c:dPt>
            <c:idx val="2"/>
            <c:invertIfNegative val="0"/>
            <c:bubble3D val="0"/>
            <c:spPr>
              <a:solidFill>
                <a:srgbClr val="6D5BD0"/>
              </a:solidFill>
              <a:effectLst/>
            </c:spPr>
          </c:dPt>
          <c:dPt>
            <c:idx val="3"/>
            <c:invertIfNegative val="0"/>
            <c:bubble3D val="0"/>
            <c:spPr>
              <a:solidFill>
                <a:srgbClr val="5B6B7A"/>
              </a:solidFill>
              <a:effectLst/>
            </c:spPr>
          </c:dPt>
          <c:cat>
            <c:multiLvlStrRef>
              <c:f>Sheet1!$A$2:$A$5</c:f>
              <c:multiLvlStrCache>
                <c:ptCount val="4"/>
                <c:lvl>
                  <c:pt idx="0">
                    <c:v>Top public score (mid-Aug, approx.)</c:v>
                  </c:pt>
                  <c:pt idx="1">
                    <c:v>Our parent submission (V17)</c:v>
                  </c:pt>
                  <c:pt idx="2">
                    <c:v>Our ABG submission</c:v>
                  </c:pt>
                  <c:pt idx="3">
                    <c:v>Shared public notebooks (mid-Aug, approx.)</c:v>
                  </c:pt>
                </c:lvl>
              </c:multiLvlStrCache>
            </c:multiLvlStrRef>
          </c:cat>
          <c:val>
            <c:numRef>
              <c:f>Sheet1!$B$2:$B$5</c:f>
              <c:numCache>
                <c:formatCode>General</c:formatCode>
                <c:ptCount val="4"/>
                <c:pt idx="0">
                  <c:v>0.951</c:v>
                </c:pt>
                <c:pt idx="1">
                  <c:v>0.94</c:v>
                </c:pt>
                <c:pt idx="2">
                  <c:v>0.922</c:v>
                </c:pt>
                <c:pt idx="3">
                  <c:v>0.92</c:v>
                </c:pt>
              </c:numCache>
            </c:numRef>
          </c:val>
        </c:ser>
        <c:dLbls>
          <c:numFmt formatCode="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0.96"/>
          <c:min val="0.9"/>
        </c:scaling>
        <c:delete val="0"/>
        <c:axPos val="b"/>
        <c:majorGridlines>
          <c:spPr>
            <a:ln w="9525" cap="flat">
              <a:solidFill>
                <a:srgbClr val="D5DD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24384A"/>
                </a:solidFill>
                <a:latin typeface="+mn-lt"/>
              </a:defRPr>
            </a:pPr>
            <a:r>
              <a:rPr sz="1400" b="1" i="0" u="none" strike="noStrike">
                <a:solidFill>
                  <a:srgbClr val="24384A"/>
                </a:solidFill>
                <a:latin typeface="+mn-lt"/>
              </a:rPr>
              <a:t>Macro AUC gain from one target's AUC gain</a:t>
            </a:r>
          </a:p>
        </c:rich>
      </c:tx>
      <c:layout/>
      <c:overlay val="0"/>
    </c:title>
    <c:autoTitleDeleted val="0"/>
    <c:plotArea>
      <c:layout/>
      <c:barChart>
        <c:barDir val="col"/>
        <c:grouping val="clustered"/>
        <c:varyColors val="0"/>
        <c:ser>
          <c:idx val="0"/>
          <c:order val="0"/>
          <c:tx>
            <c:strRef>
              <c:f>Sheet1!$B$1</c:f>
              <c:strCache>
                <c:ptCount val="1"/>
                <c:pt idx="0">
                  <c:v>Macro gain</c:v>
                </c:pt>
              </c:strCache>
            </c:strRef>
          </c:tx>
          <c:spPr>
            <a:solidFill>
              <a:srgbClr val="5B6B7A"/>
            </a:solidFill>
            <a:effectLst/>
          </c:spPr>
          <c:invertIfNegative val="0"/>
          <c:dLbls>
            <c:numFmt formatCode="0.0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cat>
            <c:multiLvlStrRef>
              <c:f>Sheet1!$A$2:$A$5</c:f>
              <c:multiLvlStrCache>
                <c:ptCount val="4"/>
                <c:lvl>
                  <c:pt idx="0">
                    <c:v>+0.002</c:v>
                  </c:pt>
                  <c:pt idx="1">
                    <c:v>+0.005</c:v>
                  </c:pt>
                  <c:pt idx="2">
                    <c:v>+0.010</c:v>
                  </c:pt>
                  <c:pt idx="3">
                    <c:v>+0.020</c:v>
                  </c:pt>
                </c:lvl>
              </c:multiLvlStrCache>
            </c:multiLvlStrRef>
          </c:cat>
          <c:val>
            <c:numRef>
              <c:f>Sheet1!$B$2:$B$5</c:f>
              <c:numCache>
                <c:formatCode>General</c:formatCode>
                <c:ptCount val="4"/>
                <c:pt idx="0">
                  <c:v>0.00017</c:v>
                </c:pt>
                <c:pt idx="1">
                  <c:v>0.00042</c:v>
                </c:pt>
                <c:pt idx="2">
                  <c:v>0.00083</c:v>
                </c:pt>
                <c:pt idx="3">
                  <c:v>0.00167</c:v>
                </c:pt>
              </c:numCache>
            </c:numRef>
          </c:val>
        </c:ser>
        <c:dLbls>
          <c:numFmt formatCode="0.00000" sourceLinked="0"/>
          <c:txPr>
            <a:bodyPr/>
            <a:lstStyle/>
            <a:p>
              <a:pPr>
                <a:defRPr b="1" i="0" strike="noStrike" sz="1200" u="none">
                  <a:solidFill>
                    <a:srgbClr val="111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B7A"/>
                    </a:solidFill>
                    <a:latin typeface="+mn-lt"/>
                  </a:defRPr>
                </a:pPr>
                <a:r>
                  <a:rPr sz="1200" b="0" i="0" u="none" strike="noStrike">
                    <a:solidFill>
                      <a:srgbClr val="5B6B7A"/>
                    </a:solidFill>
                    <a:latin typeface="+mn-lt"/>
                  </a:rPr>
                  <a:t>AUC gain in a single target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24F"/>
                </a:solidFill>
                <a:latin typeface="+mn-lt"/>
              </a:defRPr>
            </a:pPr>
            <a:endParaRPr lang="en-US"/>
          </a:p>
        </c:txPr>
        <c:crossAx val="2094734552"/>
        <c:crosses val="autoZero"/>
        <c:auto val="1"/>
        <c:lblAlgn val="ctr"/>
        <c:noMultiLvlLbl val="1"/>
      </c:catAx>
      <c:valAx>
        <c:axId val="2094734552"/>
        <c:scaling>
          <c:orientation val="minMax"/>
          <c:max val="0.002"/>
          <c:min val="0"/>
        </c:scaling>
        <c:delete val="0"/>
        <c:axPos val="l"/>
        <c:majorGridlines>
          <c:spPr>
            <a:ln w="9525" cap="flat">
              <a:solidFill>
                <a:srgbClr val="D5DDE3"/>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work on the RSNA 2026 Knee Abnormality Detection challenge on Kaggle. Our work is an auditable multi-model ensemble inference pipeline built from public pretrained components, plus our own experiment layer (ABG) and verification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structure: introduction, problem and data, method, experiments and ablations, results and discussion,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in one breath. Emphasise: ensemble of pretrained components, our ABG experiment layer, verification, the two graded submissions (parent 0.940, ABG 0.922), the synthetic mechanism study, and honest reporting of what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from the RSNA announcement. Note the figure of 16 sites is the training set as stated in the RSNA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 targets and the metric. A 0.001 rise in the macro score needs about 0.012 total AUC gain across targets, which is why small single-target improvements barely move the leaderboard. Code competition: the notebook is re-run offline by Kaggle on a hidden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families and what each contributes. These are public pretrained releases; we credit the authors of each. Different architectures make different errors, which is the reason to ensemble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split. The pretrained components and the parent recipe are public work by others. Our contributions are the ABG layer (A, B and G), the pre-specified experiment protocol, and the per-target diagnostics and receipt that bind each submission to its exact configuration. Our retired-idea evaluations are on the experiments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Input study, preprocessing into six slots, three encoder families, rank fusion, twelve scores plus a hashed receipt. Purple badges mark where the ABG additions attach: A and B on the Rad branch after the frozen calibrator, G on the Raptor CoAtNet branch. The original schematic figure in our report shows trainable MLP heads; in the implementation the final combination is rank blending and no new network is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DICOM-header driven. Series are classified into a fixed six-slot layout (three planes by fat-suppressed or structural). Right knees are flipped so all knees look the same way. Each model family consumes its own resolution and slice count, listed in the table from the notebook configuration and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slot is encoded by a DINOv3 ViT-S/16. A slot head lets each of the twelve findings attend over the six slots, so for example meniscus findings can lean on sagittal views. The 20 released members are rank-averaged; five A5 folds are added at a fixed 45 percent weight. All 20 weight fingerprints matched in the run log (largest difference 4.6e-6).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RadImageNet ResNet-50 features feed several head families; the original calibrator is frozen and A and B are added after it. Right: the Raptor CoAtNet has four arms mixed 60/10/10/20; G averages each arm over three intensity gains; a residual CoAtNet (epochs 4, 6, 8) is blended 40 percent to form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blend is done on percentile ranks. For eleven targets the transformer and Rad branch carries 40 percent, and the Raptor and residual CoAtNet hybrid 60 percent, split 36 and 24. For the lateral meniscus the hybrid alone is used. These are nominal rank-space weights, taken directly from the final composition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additions. A and B are rank residuals added after the frozen calibrator; A uses five native E11 heads on features that are already computed, B activates predictions that the parent computed only as diagnostics. G averages each Raptor arm over intensity gains inside the range the model saw in training. None of them trains anything new, and their scales are inherited, not fitted to the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changes only the test-time input intensity, using the three gains 0.9, 1.0 and 1.1 with weights one sixth, four sixths and one sixth. The notebook verifies that with the gain fixed at 1.0 the parent prediction is reproduced exactly, and records the largest raw difference between gain views, 0.048.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controlled simulation, not a result on the competition data. Each model score is a signal plus Gaussian noise, with a chosen correlation between models. It shows the mechanism behind our design: ensemble gains saturate quickly, and blending different families only pays off when their errors are not strongly correlated. All parameters are assumed; the script is in the project repository under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synthetic setup. Left: a post-calibration residual, as in A and B, changes the macro AUC by a few thousandths at the inherited scale, helpful if the added head is better, harmful if it is worse. Right: gain averaging with weights 1 to 4 to 1 keeps a small gain even when the off-centre views are slightly weaker, whereas equal weights lose it. This motivates the 1:4:1 choice. These are simulated mechanisms, not measured effects of A, B or G on the competition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batch A, B, G, AB, ABG was fixed before looking at any leaderboard result so later entries cannot be tuned to earlier scores. Our two graded submissions are the parent recipe at 0.940 and ABG at 0.922. The single-addition runs are planned next and are the way to attribute any gain or loss to one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we evaluated and retired because they failed gates that were set in advance. OrthoDiffusion gave positive point gains for ACL but its confidence fell short of the required 0.80 and it was negative for MCL and menisci. Anchor-bilinear gave a gain worth about 0.00008 on the macro score. The LCSE residual was negative and failed all six gates. These are historical results from frozen evaluation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recorded in the notebook run on the three visible test studies. They validate execution, schema and identity of the output file. They are not accuracy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parent submission (the V17 recipe) scored 0.940 and our ABG submission scored 0.922 on the public leaderboard. For context, a Kaggle forum thread from mid-August quoted about 0.92 for shared public notebooks and about 0.951 for the top public score. Those two mid-August figures are old and the leaderboard has moved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result. ABG scored lower than our parent submission, so as a whole it did not improve it. We cannot say which of A, B or G is responsible because they were graded together; the simulation suggests the design alone should cost far less than 0.018, and the planned single-addition runs answer it. The chart is simple arithmetic: a single-target gain is divided by 12 in the macro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nothing new was trained, there is no new held-out validation, the leaderboard is not clinical evidence, some components carry non-commercial share-alike licences, and the outputs are ranking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takeaways and the next steps. The competition closes on 22 October 2026 according to RSNA; winners are announced in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every component. Our contribution is the ABG layer, the protocol and the receipt; the pretrained components and parent recipe come from the authors listed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PH">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RSNA Knee Abnormality Detection  ·  Mid-Semester Evaluation</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PH">
    <p:bg>
      <p:bgPr>
        <a:solidFill>
          <a:srgbClr val="111A2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300" kern="0" dirty="0">
                <a:solidFill>
                  <a:schemeClr val="accent6"/>
                </a:solidFill>
              </a:defRPr>
            </a:lvl1pPr>
          </a:lstStyle>
          <a:p>
            <a:pPr algn="l" indent="0" marL="0">
              <a:buNone/>
            </a:pP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FB0BE"/>
                </a:solidFill>
              </a:rPr>
              <a:t>RSNA Knee Abnormality Detection  ·  Mid-Semester Evaluation</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B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PH">
    <p:bg>
      <p:bgPr>
        <a:solidFill>
          <a:srgbClr val="111A2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858000" cy="320040"/>
          </a:xfrm>
          <a:prstGeom prst="rect">
            <a:avLst/>
          </a:prstGeom>
          <a:noFill/>
          <a:ln/>
        </p:spPr>
        <p:txBody>
          <a:bodyPr wrap="square" rtlCol="0"/>
          <a:lstStyle>
            <a:lvl1pPr algn="l" indent="0" marL="0">
              <a:buNone/>
              <a:defRPr lang="en-US" sz="1300" b="1" spc="400" kern="0" dirty="0">
                <a:solidFill>
                  <a:schemeClr val="accent6"/>
                </a:solidFill>
              </a:defRPr>
            </a:lvl1pPr>
          </a:lstStyle>
          <a:p>
            <a:pPr algn="l" indent="0" marL="0">
              <a:buNone/>
            </a:pPr>
            <a:endParaRPr lang="en-US" sz="1300" dirty="0"/>
          </a:p>
        </p:txBody>
      </p:sp>
      <p:sp>
        <p:nvSpPr>
          <p:cNvPr id="3" name="Text 0"/>
          <p:cNvSpPr/>
          <p:nvPr>
            <p:ph idx="101" type="title" hasCustomPrompt="1"/>
          </p:nvPr>
        </p:nvSpPr>
        <p:spPr>
          <a:xfrm>
            <a:off x="731520" y="1828800"/>
            <a:ext cx="6766560" cy="21488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731520" y="4160520"/>
            <a:ext cx="6583680" cy="1097280"/>
          </a:xfrm>
          <a:prstGeom prst="rect">
            <a:avLst/>
          </a:prstGeom>
          <a:noFill/>
          <a:ln/>
        </p:spPr>
        <p:txBody>
          <a:bodyPr wrap="square" rtlCol="0"/>
          <a:lstStyle>
            <a:lvl1pPr algn="l" indent="0" marL="0">
              <a:buNone/>
              <a:defRPr lang="en-US" sz="1800" dirty="0">
                <a:solidFill>
                  <a:srgbClr val="C9D5DF"/>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4" Type="http://schemas.openxmlformats.org/officeDocument/2006/relationships/chart" Target="/ppt/charts/chart9.xml"/><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858000" cy="320040"/>
          </a:xfrm>
          <a:prstGeom prst="rect">
            <a:avLst/>
          </a:prstGeom>
          <a:noFill/>
          <a:ln/>
        </p:spPr>
        <p:txBody>
          <a:bodyPr wrap="square" lIns="0" tIns="0" rIns="0" bIns="0" rtlCol="0" anchor="t"/>
          <a:lstStyle/>
          <a:p>
            <a:pPr algn="l" indent="0" marL="0">
              <a:buNone/>
            </a:pPr>
            <a:r>
              <a:rPr lang="en-US" sz="1300" b="1" spc="400" kern="0" dirty="0">
                <a:solidFill>
                  <a:schemeClr val="accent6"/>
                </a:solidFill>
              </a:rPr>
              <a:t>MAJOR PROJECT  ·  MID-SEMESTER EVALUATION</a:t>
            </a:r>
            <a:endParaRPr lang="en-US" sz="1300" dirty="0"/>
          </a:p>
        </p:txBody>
      </p:sp>
      <p:sp>
        <p:nvSpPr>
          <p:cNvPr id="3" name="Text 0"/>
          <p:cNvSpPr/>
          <p:nvPr>
            <p:ph idx="101" type="title" hasCustomPrompt="1"/>
          </p:nvPr>
        </p:nvSpPr>
        <p:spPr>
          <a:xfrm>
            <a:off x="731520" y="1828800"/>
            <a:ext cx="6766560" cy="2148840"/>
          </a:xfrm>
          <a:prstGeom prst="rect">
            <a:avLst/>
          </a:prstGeom>
          <a:noFill/>
          <a:ln/>
        </p:spPr>
        <p:txBody>
          <a:bodyPr wrap="square" lIns="0" tIns="0" rIns="0" bIns="0" rtlCol="0" anchor="t"/>
          <a:lstStyle/>
          <a:p>
            <a:pPr algn="l" indent="0" marL="0">
              <a:buNone/>
            </a:pPr>
            <a:r>
              <a:rPr lang="en-US" sz="3800" b="1" dirty="0">
                <a:solidFill>
                  <a:schemeClr val="bg1"/>
                </a:solidFill>
              </a:rPr>
              <a:t>Auditable Multi-Model Ensemble for Knee MRI Abnormality Detection</a:t>
            </a:r>
            <a:endParaRPr lang="en-US" sz="3800" dirty="0"/>
          </a:p>
        </p:txBody>
      </p:sp>
      <p:sp>
        <p:nvSpPr>
          <p:cNvPr id="4" name="Text 0"/>
          <p:cNvSpPr/>
          <p:nvPr>
            <p:ph idx="102" type="body" hasCustomPrompt="1"/>
          </p:nvPr>
        </p:nvSpPr>
        <p:spPr>
          <a:xfrm>
            <a:off x="731520" y="4160520"/>
            <a:ext cx="6583680" cy="1097280"/>
          </a:xfrm>
          <a:prstGeom prst="rect">
            <a:avLst/>
          </a:prstGeom>
          <a:noFill/>
          <a:ln/>
        </p:spPr>
        <p:txBody>
          <a:bodyPr wrap="square" lIns="0" tIns="0" rIns="0" bIns="0" rtlCol="0" anchor="t"/>
          <a:lstStyle/>
          <a:p>
            <a:pPr algn="l" indent="0" marL="0">
              <a:buNone/>
            </a:pPr>
            <a:r>
              <a:rPr lang="en-US" sz="1800" dirty="0">
                <a:solidFill>
                  <a:srgbClr val="C9D5DF"/>
                </a:solidFill>
              </a:rPr>
              <a:t>RSNA 2026 Knee Abnormality Detection AI Challenge</a:t>
            </a:r>
            <a:endParaRPr lang="en-US" sz="1800" dirty="0"/>
          </a:p>
          <a:p>
            <a:pPr algn="l" indent="0" marL="0">
              <a:buNone/>
            </a:pPr>
            <a:r>
              <a:rPr lang="en-US" sz="1500" dirty="0">
                <a:solidFill>
                  <a:srgbClr val="9FB0BE"/>
                </a:solidFill>
              </a:rPr>
              <a:t>October 2026</a:t>
            </a:r>
            <a:endParaRPr lang="en-US" sz="1800" dirty="0"/>
          </a:p>
        </p:txBody>
      </p:sp>
      <p:pic>
        <p:nvPicPr>
          <p:cNvPr id="5" name="knee-mri" descr="/tmp/claude-0/-home-user-Sarth/bc9fc83b-5380-50be-aad5-da6697a90d9e/scratchpad/assets/knee_mri_round.png">    </p:cNvPr>
          <p:cNvPicPr>
            <a:picLocks noChangeAspect="1"/>
          </p:cNvPicPr>
          <p:nvPr/>
        </p:nvPicPr>
        <p:blipFill>
          <a:blip r:embed="rId1"/>
          <a:stretch>
            <a:fillRect/>
          </a:stretch>
        </p:blipFill>
        <p:spPr>
          <a:xfrm>
            <a:off x="8092440" y="1325880"/>
            <a:ext cx="3429000" cy="3520440"/>
          </a:xfrm>
          <a:prstGeom prst="rect">
            <a:avLst/>
          </a:prstGeom>
        </p:spPr>
      </p:pic>
      <p:sp>
        <p:nvSpPr>
          <p:cNvPr id="6" name="Text 3"/>
          <p:cNvSpPr/>
          <p:nvPr/>
        </p:nvSpPr>
        <p:spPr>
          <a:xfrm>
            <a:off x="8001000" y="5138928"/>
            <a:ext cx="1097280" cy="329184"/>
          </a:xfrm>
          <a:prstGeom prst="roundRect">
            <a:avLst>
              <a:gd name="adj" fmla="val 47222"/>
            </a:avLst>
          </a:prstGeom>
          <a:solidFill>
            <a:schemeClr val="accent1"/>
          </a:solidFill>
          <a:ln/>
        </p:spPr>
        <p:txBody>
          <a:bodyPr wrap="square" lIns="0" tIns="0" rIns="0" bIns="0" rtlCol="0" anchor="ctr"/>
          <a:lstStyle/>
          <a:p>
            <a:pPr algn="ctr" indent="0" marL="0">
              <a:buNone/>
            </a:pPr>
            <a:r>
              <a:rPr lang="en-US" sz="1200" b="1" dirty="0">
                <a:solidFill>
                  <a:schemeClr val="bg1"/>
                </a:solidFill>
              </a:rPr>
              <a:t>DINOv3</a:t>
            </a:r>
            <a:endParaRPr lang="en-US" sz="1200" dirty="0"/>
          </a:p>
        </p:txBody>
      </p:sp>
      <p:sp>
        <p:nvSpPr>
          <p:cNvPr id="7" name="Text 4"/>
          <p:cNvSpPr/>
          <p:nvPr/>
        </p:nvSpPr>
        <p:spPr>
          <a:xfrm>
            <a:off x="9189720" y="5138928"/>
            <a:ext cx="1097280" cy="329184"/>
          </a:xfrm>
          <a:prstGeom prst="roundRect">
            <a:avLst>
              <a:gd name="adj" fmla="val 47222"/>
            </a:avLst>
          </a:prstGeom>
          <a:solidFill>
            <a:schemeClr val="accent2"/>
          </a:solidFill>
          <a:ln/>
        </p:spPr>
        <p:txBody>
          <a:bodyPr wrap="square" lIns="0" tIns="0" rIns="0" bIns="0" rtlCol="0" anchor="ctr"/>
          <a:lstStyle/>
          <a:p>
            <a:pPr algn="ctr" indent="0" marL="0">
              <a:buNone/>
            </a:pPr>
            <a:r>
              <a:rPr lang="en-US" sz="1200" b="1" dirty="0">
                <a:solidFill>
                  <a:schemeClr val="tx1"/>
                </a:solidFill>
              </a:rPr>
              <a:t>RadImageNet</a:t>
            </a:r>
            <a:endParaRPr lang="en-US" sz="1200" dirty="0"/>
          </a:p>
        </p:txBody>
      </p:sp>
      <p:sp>
        <p:nvSpPr>
          <p:cNvPr id="8" name="Text 5"/>
          <p:cNvSpPr/>
          <p:nvPr/>
        </p:nvSpPr>
        <p:spPr>
          <a:xfrm>
            <a:off x="10378440" y="5138928"/>
            <a:ext cx="1097280" cy="329184"/>
          </a:xfrm>
          <a:prstGeom prst="roundRect">
            <a:avLst>
              <a:gd name="adj" fmla="val 47222"/>
            </a:avLst>
          </a:prstGeom>
          <a:solidFill>
            <a:schemeClr val="accent3"/>
          </a:solidFill>
          <a:ln/>
        </p:spPr>
        <p:txBody>
          <a:bodyPr wrap="square" lIns="0" tIns="0" rIns="0" bIns="0" rtlCol="0" anchor="ctr"/>
          <a:lstStyle/>
          <a:p>
            <a:pPr algn="ctr" indent="0" marL="0">
              <a:buNone/>
            </a:pPr>
            <a:r>
              <a:rPr lang="en-US" sz="1200" b="1" dirty="0">
                <a:solidFill>
                  <a:schemeClr val="bg1"/>
                </a:solidFill>
              </a:rPr>
              <a:t>CoAtNet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OVERVIEW</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Outline</a:t>
            </a:r>
            <a:endParaRPr lang="en-US" sz="3400" dirty="0"/>
          </a:p>
        </p:txBody>
      </p:sp>
      <p:sp>
        <p:nvSpPr>
          <p:cNvPr id="4" name="card-1"/>
          <p:cNvSpPr/>
          <p:nvPr/>
        </p:nvSpPr>
        <p:spPr>
          <a:xfrm>
            <a:off x="548640" y="1600200"/>
            <a:ext cx="3566160" cy="2057400"/>
          </a:xfrm>
          <a:prstGeom prst="roundRect">
            <a:avLst>
              <a:gd name="adj" fmla="val 5333"/>
            </a:avLst>
          </a:prstGeom>
          <a:solidFill>
            <a:schemeClr val="bg2"/>
          </a:solidFill>
          <a:ln/>
        </p:spPr>
      </p:sp>
      <p:sp>
        <p:nvSpPr>
          <p:cNvPr id="5" name="badge-2"/>
          <p:cNvSpPr/>
          <p:nvPr/>
        </p:nvSpPr>
        <p:spPr>
          <a:xfrm>
            <a:off x="822960" y="1874520"/>
            <a:ext cx="640080" cy="640080"/>
          </a:xfrm>
          <a:prstGeom prst="ellipse">
            <a:avLst/>
          </a:prstGeom>
          <a:solidFill>
            <a:schemeClr val="accent1"/>
          </a:solidFill>
          <a:ln/>
        </p:spPr>
      </p:sp>
      <p:pic>
        <p:nvPicPr>
          <p:cNvPr id="6" name="icon-3" descr="preencoded.png">    </p:cNvPr>
          <p:cNvPicPr>
            <a:picLocks noChangeAspect="1"/>
          </p:cNvPicPr>
          <p:nvPr/>
        </p:nvPicPr>
        <p:blipFill>
          <a:blip r:embed="rId1"/>
          <a:stretch>
            <a:fillRect/>
          </a:stretch>
        </p:blipFill>
        <p:spPr>
          <a:xfrm>
            <a:off x="989381" y="2040941"/>
            <a:ext cx="307238" cy="307238"/>
          </a:xfrm>
          <a:prstGeom prst="rect">
            <a:avLst/>
          </a:prstGeom>
        </p:spPr>
      </p:pic>
      <p:sp>
        <p:nvSpPr>
          <p:cNvPr id="7" name="text-4"/>
          <p:cNvSpPr txBox="1"/>
          <p:nvPr/>
        </p:nvSpPr>
        <p:spPr>
          <a:xfrm>
            <a:off x="822960" y="2697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01  Introduction</a:t>
            </a:r>
            <a:endParaRPr lang="en-US" sz="2000" dirty="0"/>
          </a:p>
        </p:txBody>
      </p:sp>
      <p:sp>
        <p:nvSpPr>
          <p:cNvPr id="8" name="text-5"/>
          <p:cNvSpPr txBox="1"/>
          <p:nvPr/>
        </p:nvSpPr>
        <p:spPr>
          <a:xfrm>
            <a:off x="822960" y="3081528"/>
            <a:ext cx="3017520" cy="457200"/>
          </a:xfrm>
          <a:prstGeom prst="rect">
            <a:avLst/>
          </a:prstGeom>
          <a:noFill/>
          <a:ln/>
        </p:spPr>
        <p:txBody>
          <a:bodyPr wrap="square" lIns="0" tIns="0" rIns="0" bIns="0" rtlCol="0" anchor="t"/>
          <a:lstStyle/>
          <a:p>
            <a:pPr indent="0" marL="0">
              <a:buNone/>
            </a:pPr>
            <a:r>
              <a:rPr lang="en-US" sz="1400" dirty="0">
                <a:solidFill>
                  <a:schemeClr val="accent5"/>
                </a:solidFill>
              </a:rPr>
              <a:t>Why knee MRI and why this challenge</a:t>
            </a:r>
            <a:endParaRPr lang="en-US" sz="1400" dirty="0"/>
          </a:p>
        </p:txBody>
      </p:sp>
      <p:sp>
        <p:nvSpPr>
          <p:cNvPr id="9" name="card-6"/>
          <p:cNvSpPr/>
          <p:nvPr/>
        </p:nvSpPr>
        <p:spPr>
          <a:xfrm>
            <a:off x="4297680" y="1600200"/>
            <a:ext cx="3566160" cy="2057400"/>
          </a:xfrm>
          <a:prstGeom prst="roundRect">
            <a:avLst>
              <a:gd name="adj" fmla="val 5333"/>
            </a:avLst>
          </a:prstGeom>
          <a:solidFill>
            <a:schemeClr val="bg2"/>
          </a:solidFill>
          <a:ln/>
        </p:spPr>
      </p:sp>
      <p:sp>
        <p:nvSpPr>
          <p:cNvPr id="10" name="badge-7"/>
          <p:cNvSpPr/>
          <p:nvPr/>
        </p:nvSpPr>
        <p:spPr>
          <a:xfrm>
            <a:off x="4572000" y="1874520"/>
            <a:ext cx="640080" cy="640080"/>
          </a:xfrm>
          <a:prstGeom prst="ellipse">
            <a:avLst/>
          </a:prstGeom>
          <a:solidFill>
            <a:schemeClr val="accent1"/>
          </a:solidFill>
          <a:ln/>
        </p:spPr>
      </p:sp>
      <p:pic>
        <p:nvPicPr>
          <p:cNvPr id="11" name="icon-8" descr="preencoded.png">    </p:cNvPr>
          <p:cNvPicPr>
            <a:picLocks noChangeAspect="1"/>
          </p:cNvPicPr>
          <p:nvPr/>
        </p:nvPicPr>
        <p:blipFill>
          <a:blip r:embed="rId2"/>
          <a:stretch>
            <a:fillRect/>
          </a:stretch>
        </p:blipFill>
        <p:spPr>
          <a:xfrm>
            <a:off x="4738421" y="2040941"/>
            <a:ext cx="307238" cy="307238"/>
          </a:xfrm>
          <a:prstGeom prst="rect">
            <a:avLst/>
          </a:prstGeom>
        </p:spPr>
      </p:pic>
      <p:sp>
        <p:nvSpPr>
          <p:cNvPr id="12" name="text-9"/>
          <p:cNvSpPr txBox="1"/>
          <p:nvPr/>
        </p:nvSpPr>
        <p:spPr>
          <a:xfrm>
            <a:off x="4572000" y="2697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02  Problem &amp; data</a:t>
            </a:r>
            <a:endParaRPr lang="en-US" sz="2000" dirty="0"/>
          </a:p>
        </p:txBody>
      </p:sp>
      <p:sp>
        <p:nvSpPr>
          <p:cNvPr id="13" name="text-10"/>
          <p:cNvSpPr txBox="1"/>
          <p:nvPr/>
        </p:nvSpPr>
        <p:spPr>
          <a:xfrm>
            <a:off x="4572000" y="3081528"/>
            <a:ext cx="3017520" cy="457200"/>
          </a:xfrm>
          <a:prstGeom prst="rect">
            <a:avLst/>
          </a:prstGeom>
          <a:noFill/>
          <a:ln/>
        </p:spPr>
        <p:txBody>
          <a:bodyPr wrap="square" lIns="0" tIns="0" rIns="0" bIns="0" rtlCol="0" anchor="t"/>
          <a:lstStyle/>
          <a:p>
            <a:pPr indent="0" marL="0">
              <a:buNone/>
            </a:pPr>
            <a:r>
              <a:rPr lang="en-US" sz="1400" dirty="0">
                <a:solidFill>
                  <a:schemeClr val="accent5"/>
                </a:solidFill>
              </a:rPr>
              <a:t>12 findings, macro-AUC, Kaggle constraints</a:t>
            </a:r>
            <a:endParaRPr lang="en-US" sz="1400" dirty="0"/>
          </a:p>
        </p:txBody>
      </p:sp>
      <p:sp>
        <p:nvSpPr>
          <p:cNvPr id="14" name="card-11"/>
          <p:cNvSpPr/>
          <p:nvPr/>
        </p:nvSpPr>
        <p:spPr>
          <a:xfrm>
            <a:off x="8046720" y="1600200"/>
            <a:ext cx="3566160" cy="2057400"/>
          </a:xfrm>
          <a:prstGeom prst="roundRect">
            <a:avLst>
              <a:gd name="adj" fmla="val 5333"/>
            </a:avLst>
          </a:prstGeom>
          <a:solidFill>
            <a:schemeClr val="bg2"/>
          </a:solidFill>
          <a:ln/>
        </p:spPr>
      </p:sp>
      <p:sp>
        <p:nvSpPr>
          <p:cNvPr id="15" name="badge-12"/>
          <p:cNvSpPr/>
          <p:nvPr/>
        </p:nvSpPr>
        <p:spPr>
          <a:xfrm>
            <a:off x="8321040" y="1874520"/>
            <a:ext cx="640080" cy="640080"/>
          </a:xfrm>
          <a:prstGeom prst="ellipse">
            <a:avLst/>
          </a:prstGeom>
          <a:solidFill>
            <a:schemeClr val="accent1"/>
          </a:solidFill>
          <a:ln/>
        </p:spPr>
      </p:sp>
      <p:pic>
        <p:nvPicPr>
          <p:cNvPr id="16" name="icon-13" descr="preencoded.png">    </p:cNvPr>
          <p:cNvPicPr>
            <a:picLocks noChangeAspect="1"/>
          </p:cNvPicPr>
          <p:nvPr/>
        </p:nvPicPr>
        <p:blipFill>
          <a:blip r:embed="rId3"/>
          <a:stretch>
            <a:fillRect/>
          </a:stretch>
        </p:blipFill>
        <p:spPr>
          <a:xfrm>
            <a:off x="8487461" y="2040941"/>
            <a:ext cx="307238" cy="307238"/>
          </a:xfrm>
          <a:prstGeom prst="rect">
            <a:avLst/>
          </a:prstGeom>
        </p:spPr>
      </p:pic>
      <p:sp>
        <p:nvSpPr>
          <p:cNvPr id="17" name="text-14"/>
          <p:cNvSpPr txBox="1"/>
          <p:nvPr/>
        </p:nvSpPr>
        <p:spPr>
          <a:xfrm>
            <a:off x="8321040" y="2697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03  Method</a:t>
            </a:r>
            <a:endParaRPr lang="en-US" sz="2000" dirty="0"/>
          </a:p>
        </p:txBody>
      </p:sp>
      <p:sp>
        <p:nvSpPr>
          <p:cNvPr id="18" name="text-15"/>
          <p:cNvSpPr txBox="1"/>
          <p:nvPr/>
        </p:nvSpPr>
        <p:spPr>
          <a:xfrm>
            <a:off x="8321040" y="3081528"/>
            <a:ext cx="3017520" cy="457200"/>
          </a:xfrm>
          <a:prstGeom prst="rect">
            <a:avLst/>
          </a:prstGeom>
          <a:noFill/>
          <a:ln/>
        </p:spPr>
        <p:txBody>
          <a:bodyPr wrap="square" lIns="0" tIns="0" rIns="0" bIns="0" rtlCol="0" anchor="t"/>
          <a:lstStyle/>
          <a:p>
            <a:pPr indent="0" marL="0">
              <a:buNone/>
            </a:pPr>
            <a:r>
              <a:rPr lang="en-US" sz="1400" dirty="0">
                <a:solidFill>
                  <a:schemeClr val="accent5"/>
                </a:solidFill>
              </a:rPr>
              <a:t>Pipeline, encoders, rank fusion</a:t>
            </a:r>
            <a:endParaRPr lang="en-US" sz="1400" dirty="0"/>
          </a:p>
        </p:txBody>
      </p:sp>
      <p:sp>
        <p:nvSpPr>
          <p:cNvPr id="19" name="card-16"/>
          <p:cNvSpPr/>
          <p:nvPr/>
        </p:nvSpPr>
        <p:spPr>
          <a:xfrm>
            <a:off x="548640" y="3886200"/>
            <a:ext cx="3566160" cy="2057400"/>
          </a:xfrm>
          <a:prstGeom prst="roundRect">
            <a:avLst>
              <a:gd name="adj" fmla="val 5333"/>
            </a:avLst>
          </a:prstGeom>
          <a:solidFill>
            <a:schemeClr val="bg2"/>
          </a:solidFill>
          <a:ln/>
        </p:spPr>
      </p:sp>
      <p:sp>
        <p:nvSpPr>
          <p:cNvPr id="20" name="badge-17"/>
          <p:cNvSpPr/>
          <p:nvPr/>
        </p:nvSpPr>
        <p:spPr>
          <a:xfrm>
            <a:off x="822960" y="4160520"/>
            <a:ext cx="640080" cy="640080"/>
          </a:xfrm>
          <a:prstGeom prst="ellipse">
            <a:avLst/>
          </a:prstGeom>
          <a:solidFill>
            <a:schemeClr val="accent1"/>
          </a:solidFill>
          <a:ln/>
        </p:spPr>
      </p:sp>
      <p:pic>
        <p:nvPicPr>
          <p:cNvPr id="21" name="icon-18" descr="preencoded.png">    </p:cNvPr>
          <p:cNvPicPr>
            <a:picLocks noChangeAspect="1"/>
          </p:cNvPicPr>
          <p:nvPr/>
        </p:nvPicPr>
        <p:blipFill>
          <a:blip r:embed="rId4"/>
          <a:stretch>
            <a:fillRect/>
          </a:stretch>
        </p:blipFill>
        <p:spPr>
          <a:xfrm>
            <a:off x="989381" y="4326941"/>
            <a:ext cx="307238" cy="307238"/>
          </a:xfrm>
          <a:prstGeom prst="rect">
            <a:avLst/>
          </a:prstGeom>
        </p:spPr>
      </p:pic>
      <p:sp>
        <p:nvSpPr>
          <p:cNvPr id="22" name="text-19"/>
          <p:cNvSpPr txBox="1"/>
          <p:nvPr/>
        </p:nvSpPr>
        <p:spPr>
          <a:xfrm>
            <a:off x="822960" y="4983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04  Experiments</a:t>
            </a:r>
            <a:endParaRPr lang="en-US" sz="2000" dirty="0"/>
          </a:p>
        </p:txBody>
      </p:sp>
      <p:sp>
        <p:nvSpPr>
          <p:cNvPr id="23" name="text-20"/>
          <p:cNvSpPr txBox="1"/>
          <p:nvPr/>
        </p:nvSpPr>
        <p:spPr>
          <a:xfrm>
            <a:off x="822960" y="5367528"/>
            <a:ext cx="3017520" cy="457200"/>
          </a:xfrm>
          <a:prstGeom prst="rect">
            <a:avLst/>
          </a:prstGeom>
          <a:noFill/>
          <a:ln/>
        </p:spPr>
        <p:txBody>
          <a:bodyPr wrap="square" lIns="0" tIns="0" rIns="0" bIns="0" rtlCol="0" anchor="t"/>
          <a:lstStyle/>
          <a:p>
            <a:pPr indent="0" marL="0">
              <a:buNone/>
            </a:pPr>
            <a:r>
              <a:rPr lang="en-US" sz="1400" dirty="0">
                <a:solidFill>
                  <a:schemeClr val="accent5"/>
                </a:solidFill>
              </a:rPr>
              <a:t>ABG layer, simulation study, ablation batch, retired ideas</a:t>
            </a:r>
            <a:endParaRPr lang="en-US" sz="1400" dirty="0"/>
          </a:p>
        </p:txBody>
      </p:sp>
      <p:sp>
        <p:nvSpPr>
          <p:cNvPr id="24" name="card-21"/>
          <p:cNvSpPr/>
          <p:nvPr/>
        </p:nvSpPr>
        <p:spPr>
          <a:xfrm>
            <a:off x="4297680" y="3886200"/>
            <a:ext cx="3566160" cy="2057400"/>
          </a:xfrm>
          <a:prstGeom prst="roundRect">
            <a:avLst>
              <a:gd name="adj" fmla="val 5333"/>
            </a:avLst>
          </a:prstGeom>
          <a:solidFill>
            <a:schemeClr val="bg2"/>
          </a:solidFill>
          <a:ln/>
        </p:spPr>
      </p:sp>
      <p:sp>
        <p:nvSpPr>
          <p:cNvPr id="25" name="badge-22"/>
          <p:cNvSpPr/>
          <p:nvPr/>
        </p:nvSpPr>
        <p:spPr>
          <a:xfrm>
            <a:off x="4572000" y="4160520"/>
            <a:ext cx="640080" cy="640080"/>
          </a:xfrm>
          <a:prstGeom prst="ellipse">
            <a:avLst/>
          </a:prstGeom>
          <a:solidFill>
            <a:schemeClr val="accent1"/>
          </a:solidFill>
          <a:ln/>
        </p:spPr>
      </p:sp>
      <p:pic>
        <p:nvPicPr>
          <p:cNvPr id="26" name="icon-23" descr="preencoded.png">    </p:cNvPr>
          <p:cNvPicPr>
            <a:picLocks noChangeAspect="1"/>
          </p:cNvPicPr>
          <p:nvPr/>
        </p:nvPicPr>
        <p:blipFill>
          <a:blip r:embed="rId5"/>
          <a:stretch>
            <a:fillRect/>
          </a:stretch>
        </p:blipFill>
        <p:spPr>
          <a:xfrm>
            <a:off x="4738421" y="4326941"/>
            <a:ext cx="307238" cy="307238"/>
          </a:xfrm>
          <a:prstGeom prst="rect">
            <a:avLst/>
          </a:prstGeom>
        </p:spPr>
      </p:pic>
      <p:sp>
        <p:nvSpPr>
          <p:cNvPr id="27" name="text-24"/>
          <p:cNvSpPr txBox="1"/>
          <p:nvPr/>
        </p:nvSpPr>
        <p:spPr>
          <a:xfrm>
            <a:off x="4572000" y="4983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05  Results</a:t>
            </a:r>
            <a:endParaRPr lang="en-US" sz="2000" dirty="0"/>
          </a:p>
        </p:txBody>
      </p:sp>
      <p:sp>
        <p:nvSpPr>
          <p:cNvPr id="28" name="text-25"/>
          <p:cNvSpPr txBox="1"/>
          <p:nvPr/>
        </p:nvSpPr>
        <p:spPr>
          <a:xfrm>
            <a:off x="4572000" y="5367528"/>
            <a:ext cx="3017520" cy="457200"/>
          </a:xfrm>
          <a:prstGeom prst="rect">
            <a:avLst/>
          </a:prstGeom>
          <a:noFill/>
          <a:ln/>
        </p:spPr>
        <p:txBody>
          <a:bodyPr wrap="square" lIns="0" tIns="0" rIns="0" bIns="0" rtlCol="0" anchor="t"/>
          <a:lstStyle/>
          <a:p>
            <a:pPr indent="0" marL="0">
              <a:buNone/>
            </a:pPr>
            <a:r>
              <a:rPr lang="en-US" sz="1400" dirty="0">
                <a:solidFill>
                  <a:schemeClr val="accent5"/>
                </a:solidFill>
              </a:rPr>
              <a:t>Verification, leaderboard, discussion</a:t>
            </a:r>
            <a:endParaRPr lang="en-US" sz="1400" dirty="0"/>
          </a:p>
        </p:txBody>
      </p:sp>
      <p:sp>
        <p:nvSpPr>
          <p:cNvPr id="29" name="card-26"/>
          <p:cNvSpPr/>
          <p:nvPr/>
        </p:nvSpPr>
        <p:spPr>
          <a:xfrm>
            <a:off x="8046720" y="3886200"/>
            <a:ext cx="3566160" cy="2057400"/>
          </a:xfrm>
          <a:prstGeom prst="roundRect">
            <a:avLst>
              <a:gd name="adj" fmla="val 5333"/>
            </a:avLst>
          </a:prstGeom>
          <a:solidFill>
            <a:schemeClr val="bg2"/>
          </a:solidFill>
          <a:ln/>
        </p:spPr>
      </p:sp>
      <p:sp>
        <p:nvSpPr>
          <p:cNvPr id="30" name="badge-27"/>
          <p:cNvSpPr/>
          <p:nvPr/>
        </p:nvSpPr>
        <p:spPr>
          <a:xfrm>
            <a:off x="8321040" y="4160520"/>
            <a:ext cx="640080" cy="640080"/>
          </a:xfrm>
          <a:prstGeom prst="ellipse">
            <a:avLst/>
          </a:prstGeom>
          <a:solidFill>
            <a:schemeClr val="accent1"/>
          </a:solidFill>
          <a:ln/>
        </p:spPr>
      </p:sp>
      <p:pic>
        <p:nvPicPr>
          <p:cNvPr id="31" name="icon-28" descr="preencoded.png">    </p:cNvPr>
          <p:cNvPicPr>
            <a:picLocks noChangeAspect="1"/>
          </p:cNvPicPr>
          <p:nvPr/>
        </p:nvPicPr>
        <p:blipFill>
          <a:blip r:embed="rId6"/>
          <a:stretch>
            <a:fillRect/>
          </a:stretch>
        </p:blipFill>
        <p:spPr>
          <a:xfrm>
            <a:off x="8487461" y="4326941"/>
            <a:ext cx="307238" cy="307238"/>
          </a:xfrm>
          <a:prstGeom prst="rect">
            <a:avLst/>
          </a:prstGeom>
        </p:spPr>
      </p:pic>
      <p:sp>
        <p:nvSpPr>
          <p:cNvPr id="32" name="text-29"/>
          <p:cNvSpPr txBox="1"/>
          <p:nvPr/>
        </p:nvSpPr>
        <p:spPr>
          <a:xfrm>
            <a:off x="8321040" y="4983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06  Conclusion</a:t>
            </a:r>
            <a:endParaRPr lang="en-US" sz="2000" dirty="0"/>
          </a:p>
        </p:txBody>
      </p:sp>
      <p:sp>
        <p:nvSpPr>
          <p:cNvPr id="33" name="text-30"/>
          <p:cNvSpPr txBox="1"/>
          <p:nvPr/>
        </p:nvSpPr>
        <p:spPr>
          <a:xfrm>
            <a:off x="8321040" y="5367528"/>
            <a:ext cx="3017520" cy="457200"/>
          </a:xfrm>
          <a:prstGeom prst="rect">
            <a:avLst/>
          </a:prstGeom>
          <a:noFill/>
          <a:ln/>
        </p:spPr>
        <p:txBody>
          <a:bodyPr wrap="square" lIns="0" tIns="0" rIns="0" bIns="0" rtlCol="0" anchor="t"/>
          <a:lstStyle/>
          <a:p>
            <a:pPr indent="0" marL="0">
              <a:buNone/>
            </a:pPr>
            <a:r>
              <a:rPr lang="en-US" sz="1400" dirty="0">
                <a:solidFill>
                  <a:schemeClr val="accent5"/>
                </a:solidFill>
              </a:rPr>
              <a:t>Limits, takeaways, next steps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INTRODUCTION</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Abstract</a:t>
            </a:r>
            <a:endParaRPr lang="en-US" sz="3400" dirty="0"/>
          </a:p>
        </p:txBody>
      </p:sp>
      <p:sp>
        <p:nvSpPr>
          <p:cNvPr id="4" name="text-31"/>
          <p:cNvSpPr txBox="1"/>
          <p:nvPr/>
        </p:nvSpPr>
        <p:spPr>
          <a:xfrm>
            <a:off x="548640" y="1600200"/>
            <a:ext cx="6858000" cy="4480560"/>
          </a:xfrm>
          <a:prstGeom prst="rect">
            <a:avLst/>
          </a:prstGeom>
          <a:noFill/>
          <a:ln/>
        </p:spPr>
        <p:txBody>
          <a:bodyPr wrap="square" lIns="0" tIns="0" rIns="0" bIns="0" rtlCol="0" anchor="t"/>
          <a:lstStyle/>
          <a:p>
            <a:pPr indent="0" marL="0">
              <a:lnSpc>
                <a:spcPct val="115000"/>
              </a:lnSpc>
              <a:buNone/>
            </a:pPr>
            <a:r>
              <a:rPr lang="en-US" sz="1800" dirty="0">
                <a:solidFill>
                  <a:schemeClr val="tx1"/>
                </a:solidFill>
              </a:rPr>
              <a:t>Knee MRI is the gold standard for diagnosing internal derangement of the knee, yet interpretation varies between readers. The RSNA 2026 challenge asks for models that score 12 abnormalities per exam, ranked by mean AUC. We assembled a five-stage ensemble inference pipeline from pretrained DINOv3 transformers, a RadImageNet ResNet-50 and CoAtNet hybrids, fused by percentile-rank blending under Kaggle's offline, two-T4, eight-hour limits. On top we designed ABG, a pre-specified experiment layer with three post-calibration additions, and a verification harness that binds every submission to a hashed receipt. Our two graded submissions, the parent recipe and ABG, scored 0.940 and 0.922 on the public leaderboard. A synthetic simulation of the fusion mechanics suggests such additions should move the score by thousandths, so the observed 0.018 gap needs investigating; three retired ideas show gates set in advance at work.</a:t>
            </a:r>
            <a:endParaRPr lang="en-US" sz="1800" dirty="0"/>
          </a:p>
        </p:txBody>
      </p:sp>
      <p:sp>
        <p:nvSpPr>
          <p:cNvPr id="5" name="card-32"/>
          <p:cNvSpPr/>
          <p:nvPr/>
        </p:nvSpPr>
        <p:spPr>
          <a:xfrm>
            <a:off x="7772400" y="1600200"/>
            <a:ext cx="3867912" cy="1371600"/>
          </a:xfrm>
          <a:prstGeom prst="roundRect">
            <a:avLst>
              <a:gd name="adj" fmla="val 8000"/>
            </a:avLst>
          </a:prstGeom>
          <a:solidFill>
            <a:schemeClr val="bg2"/>
          </a:solidFill>
          <a:ln/>
        </p:spPr>
      </p:sp>
      <p:sp>
        <p:nvSpPr>
          <p:cNvPr id="6" name="text-33"/>
          <p:cNvSpPr txBox="1"/>
          <p:nvPr/>
        </p:nvSpPr>
        <p:spPr>
          <a:xfrm>
            <a:off x="8046720" y="1737360"/>
            <a:ext cx="3383280" cy="73152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12</a:t>
            </a:r>
            <a:endParaRPr lang="en-US" sz="4400" dirty="0"/>
          </a:p>
        </p:txBody>
      </p:sp>
      <p:sp>
        <p:nvSpPr>
          <p:cNvPr id="7" name="text-34"/>
          <p:cNvSpPr txBox="1"/>
          <p:nvPr/>
        </p:nvSpPr>
        <p:spPr>
          <a:xfrm>
            <a:off x="8046720" y="2468880"/>
            <a:ext cx="3383280" cy="365760"/>
          </a:xfrm>
          <a:prstGeom prst="rect">
            <a:avLst/>
          </a:prstGeom>
          <a:noFill/>
          <a:ln/>
        </p:spPr>
        <p:txBody>
          <a:bodyPr wrap="square" lIns="0" tIns="0" rIns="0" bIns="0" rtlCol="0" anchor="t"/>
          <a:lstStyle/>
          <a:p>
            <a:pPr indent="0" marL="0">
              <a:buNone/>
            </a:pPr>
            <a:r>
              <a:rPr lang="en-US" sz="1400" dirty="0">
                <a:solidFill>
                  <a:schemeClr val="accent5"/>
                </a:solidFill>
              </a:rPr>
              <a:t>findings scored per study</a:t>
            </a:r>
            <a:endParaRPr lang="en-US" sz="1400" dirty="0"/>
          </a:p>
        </p:txBody>
      </p:sp>
      <p:sp>
        <p:nvSpPr>
          <p:cNvPr id="8" name="card-35"/>
          <p:cNvSpPr/>
          <p:nvPr/>
        </p:nvSpPr>
        <p:spPr>
          <a:xfrm>
            <a:off x="7772400" y="3154680"/>
            <a:ext cx="3867912" cy="1371600"/>
          </a:xfrm>
          <a:prstGeom prst="roundRect">
            <a:avLst>
              <a:gd name="adj" fmla="val 8000"/>
            </a:avLst>
          </a:prstGeom>
          <a:solidFill>
            <a:schemeClr val="bg2"/>
          </a:solidFill>
          <a:ln/>
        </p:spPr>
      </p:sp>
      <p:sp>
        <p:nvSpPr>
          <p:cNvPr id="9" name="text-36"/>
          <p:cNvSpPr txBox="1"/>
          <p:nvPr/>
        </p:nvSpPr>
        <p:spPr>
          <a:xfrm>
            <a:off x="8046720" y="3291840"/>
            <a:ext cx="3383280" cy="731520"/>
          </a:xfrm>
          <a:prstGeom prst="rect">
            <a:avLst/>
          </a:prstGeom>
          <a:noFill/>
          <a:ln/>
        </p:spPr>
        <p:txBody>
          <a:bodyPr wrap="square" lIns="0" tIns="0" rIns="0" bIns="0" rtlCol="0" anchor="t"/>
          <a:lstStyle/>
          <a:p>
            <a:pPr indent="0" marL="0">
              <a:buNone/>
            </a:pPr>
            <a:r>
              <a:rPr lang="en-US" sz="3800" b="1" dirty="0">
                <a:solidFill>
                  <a:schemeClr val="accent4"/>
                </a:solidFill>
                <a:latin typeface="Cambria" pitchFamily="34" charset="0"/>
                <a:ea typeface="Cambria" pitchFamily="34" charset="-122"/>
                <a:cs typeface="Cambria" pitchFamily="34" charset="-120"/>
              </a:rPr>
              <a:t>0.940 · 0.922</a:t>
            </a:r>
            <a:endParaRPr lang="en-US" sz="3800" dirty="0"/>
          </a:p>
        </p:txBody>
      </p:sp>
      <p:sp>
        <p:nvSpPr>
          <p:cNvPr id="10" name="text-37"/>
          <p:cNvSpPr txBox="1"/>
          <p:nvPr/>
        </p:nvSpPr>
        <p:spPr>
          <a:xfrm>
            <a:off x="8046720" y="4023360"/>
            <a:ext cx="3383280" cy="365760"/>
          </a:xfrm>
          <a:prstGeom prst="rect">
            <a:avLst/>
          </a:prstGeom>
          <a:noFill/>
          <a:ln/>
        </p:spPr>
        <p:txBody>
          <a:bodyPr wrap="square" lIns="0" tIns="0" rIns="0" bIns="0" rtlCol="0" anchor="t"/>
          <a:lstStyle/>
          <a:p>
            <a:pPr indent="0" marL="0">
              <a:buNone/>
            </a:pPr>
            <a:r>
              <a:rPr lang="en-US" sz="1400" dirty="0">
                <a:solidFill>
                  <a:schemeClr val="accent5"/>
                </a:solidFill>
              </a:rPr>
              <a:t>public score: parent · ABG</a:t>
            </a:r>
            <a:endParaRPr lang="en-US" sz="1400" dirty="0"/>
          </a:p>
        </p:txBody>
      </p:sp>
      <p:sp>
        <p:nvSpPr>
          <p:cNvPr id="11" name="card-38"/>
          <p:cNvSpPr/>
          <p:nvPr/>
        </p:nvSpPr>
        <p:spPr>
          <a:xfrm>
            <a:off x="7772400" y="4709160"/>
            <a:ext cx="3867912" cy="1371600"/>
          </a:xfrm>
          <a:prstGeom prst="roundRect">
            <a:avLst>
              <a:gd name="adj" fmla="val 8000"/>
            </a:avLst>
          </a:prstGeom>
          <a:solidFill>
            <a:schemeClr val="bg2"/>
          </a:solidFill>
          <a:ln/>
        </p:spPr>
      </p:sp>
      <p:sp>
        <p:nvSpPr>
          <p:cNvPr id="12" name="text-39"/>
          <p:cNvSpPr txBox="1"/>
          <p:nvPr/>
        </p:nvSpPr>
        <p:spPr>
          <a:xfrm>
            <a:off x="8046720" y="4846320"/>
            <a:ext cx="3383280" cy="73152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3</a:t>
            </a:r>
            <a:endParaRPr lang="en-US" sz="4400" dirty="0"/>
          </a:p>
        </p:txBody>
      </p:sp>
      <p:sp>
        <p:nvSpPr>
          <p:cNvPr id="13" name="text-40"/>
          <p:cNvSpPr txBox="1"/>
          <p:nvPr/>
        </p:nvSpPr>
        <p:spPr>
          <a:xfrm>
            <a:off x="8046720" y="5577840"/>
            <a:ext cx="3383280" cy="365760"/>
          </a:xfrm>
          <a:prstGeom prst="rect">
            <a:avLst/>
          </a:prstGeom>
          <a:noFill/>
          <a:ln/>
        </p:spPr>
        <p:txBody>
          <a:bodyPr wrap="square" lIns="0" tIns="0" rIns="0" bIns="0" rtlCol="0" anchor="t"/>
          <a:lstStyle/>
          <a:p>
            <a:pPr indent="0" marL="0">
              <a:buNone/>
            </a:pPr>
            <a:r>
              <a:rPr lang="en-US" sz="1400" dirty="0">
                <a:solidFill>
                  <a:schemeClr val="accent5"/>
                </a:solidFill>
              </a:rPr>
              <a:t>encoder families in a 5-stage pipeline</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INTRODUCTION</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Why knee MRI, and why this challenge</a:t>
            </a:r>
            <a:endParaRPr lang="en-US" sz="3400" dirty="0"/>
          </a:p>
        </p:txBody>
      </p:sp>
      <p:sp>
        <p:nvSpPr>
          <p:cNvPr id="4" name="badge-41"/>
          <p:cNvSpPr/>
          <p:nvPr/>
        </p:nvSpPr>
        <p:spPr>
          <a:xfrm>
            <a:off x="548640" y="1600200"/>
            <a:ext cx="685800" cy="685800"/>
          </a:xfrm>
          <a:prstGeom prst="ellipse">
            <a:avLst/>
          </a:prstGeom>
          <a:solidFill>
            <a:schemeClr val="accent1"/>
          </a:solidFill>
          <a:ln/>
        </p:spPr>
      </p:sp>
      <p:pic>
        <p:nvPicPr>
          <p:cNvPr id="5" name="icon-42" descr="preencoded.png">    </p:cNvPr>
          <p:cNvPicPr>
            <a:picLocks noChangeAspect="1"/>
          </p:cNvPicPr>
          <p:nvPr/>
        </p:nvPicPr>
        <p:blipFill>
          <a:blip r:embed="rId1"/>
          <a:stretch>
            <a:fillRect/>
          </a:stretch>
        </p:blipFill>
        <p:spPr>
          <a:xfrm>
            <a:off x="726948" y="1778508"/>
            <a:ext cx="329184" cy="329184"/>
          </a:xfrm>
          <a:prstGeom prst="rect">
            <a:avLst/>
          </a:prstGeom>
        </p:spPr>
      </p:pic>
      <p:sp>
        <p:nvSpPr>
          <p:cNvPr id="6" name="text-43"/>
          <p:cNvSpPr txBox="1"/>
          <p:nvPr/>
        </p:nvSpPr>
        <p:spPr>
          <a:xfrm>
            <a:off x="1463040" y="1581912"/>
            <a:ext cx="4754880" cy="365760"/>
          </a:xfrm>
          <a:prstGeom prst="rect">
            <a:avLst/>
          </a:prstGeom>
          <a:noFill/>
          <a:ln/>
        </p:spPr>
        <p:txBody>
          <a:bodyPr wrap="square" lIns="0" tIns="0" rIns="0" bIns="0" rtlCol="0" anchor="t"/>
          <a:lstStyle/>
          <a:p>
            <a:pPr indent="0" marL="0">
              <a:buNone/>
            </a:pPr>
            <a:r>
              <a:rPr lang="en-US" sz="2000" b="1" dirty="0">
                <a:solidFill>
                  <a:schemeClr val="tx1"/>
                </a:solidFill>
              </a:rPr>
              <a:t>Whole-joint view</a:t>
            </a:r>
            <a:endParaRPr lang="en-US" sz="2000" dirty="0"/>
          </a:p>
        </p:txBody>
      </p:sp>
      <p:sp>
        <p:nvSpPr>
          <p:cNvPr id="7" name="text-44"/>
          <p:cNvSpPr txBox="1"/>
          <p:nvPr/>
        </p:nvSpPr>
        <p:spPr>
          <a:xfrm>
            <a:off x="1463040" y="1965960"/>
            <a:ext cx="4846320" cy="914400"/>
          </a:xfrm>
          <a:prstGeom prst="rect">
            <a:avLst/>
          </a:prstGeom>
          <a:noFill/>
          <a:ln/>
        </p:spPr>
        <p:txBody>
          <a:bodyPr wrap="square" lIns="0" tIns="0" rIns="0" bIns="0" rtlCol="0" anchor="t"/>
          <a:lstStyle/>
          <a:p>
            <a:pPr indent="0" marL="0">
              <a:buNone/>
            </a:pPr>
            <a:r>
              <a:rPr lang="en-US" sz="1500" dirty="0">
                <a:solidFill>
                  <a:schemeClr val="tx2"/>
                </a:solidFill>
              </a:rPr>
              <a:t>MRI shows ligaments, menisci, cartilage loss, effusion, synovitis, Baker cysts and bone-marrow lesions.</a:t>
            </a:r>
            <a:endParaRPr lang="en-US" sz="1500" dirty="0"/>
          </a:p>
        </p:txBody>
      </p:sp>
      <p:sp>
        <p:nvSpPr>
          <p:cNvPr id="8" name="badge-45"/>
          <p:cNvSpPr/>
          <p:nvPr/>
        </p:nvSpPr>
        <p:spPr>
          <a:xfrm>
            <a:off x="548640" y="3108960"/>
            <a:ext cx="685800" cy="685800"/>
          </a:xfrm>
          <a:prstGeom prst="ellipse">
            <a:avLst/>
          </a:prstGeom>
          <a:solidFill>
            <a:schemeClr val="accent1"/>
          </a:solidFill>
          <a:ln/>
        </p:spPr>
      </p:sp>
      <p:pic>
        <p:nvPicPr>
          <p:cNvPr id="9" name="icon-46" descr="preencoded.png">    </p:cNvPr>
          <p:cNvPicPr>
            <a:picLocks noChangeAspect="1"/>
          </p:cNvPicPr>
          <p:nvPr/>
        </p:nvPicPr>
        <p:blipFill>
          <a:blip r:embed="rId2"/>
          <a:stretch>
            <a:fillRect/>
          </a:stretch>
        </p:blipFill>
        <p:spPr>
          <a:xfrm>
            <a:off x="726948" y="3287268"/>
            <a:ext cx="329184" cy="329184"/>
          </a:xfrm>
          <a:prstGeom prst="rect">
            <a:avLst/>
          </a:prstGeom>
        </p:spPr>
      </p:pic>
      <p:sp>
        <p:nvSpPr>
          <p:cNvPr id="10" name="text-47"/>
          <p:cNvSpPr txBox="1"/>
          <p:nvPr/>
        </p:nvSpPr>
        <p:spPr>
          <a:xfrm>
            <a:off x="1463040" y="3090672"/>
            <a:ext cx="4754880" cy="365760"/>
          </a:xfrm>
          <a:prstGeom prst="rect">
            <a:avLst/>
          </a:prstGeom>
          <a:noFill/>
          <a:ln/>
        </p:spPr>
        <p:txBody>
          <a:bodyPr wrap="square" lIns="0" tIns="0" rIns="0" bIns="0" rtlCol="0" anchor="t"/>
          <a:lstStyle/>
          <a:p>
            <a:pPr indent="0" marL="0">
              <a:buNone/>
            </a:pPr>
            <a:r>
              <a:rPr lang="en-US" sz="2000" b="1" dirty="0">
                <a:solidFill>
                  <a:schemeClr val="tx1"/>
                </a:solidFill>
              </a:rPr>
              <a:t>Reader variability</a:t>
            </a:r>
            <a:endParaRPr lang="en-US" sz="2000" dirty="0"/>
          </a:p>
        </p:txBody>
      </p:sp>
      <p:sp>
        <p:nvSpPr>
          <p:cNvPr id="11" name="text-48"/>
          <p:cNvSpPr txBox="1"/>
          <p:nvPr/>
        </p:nvSpPr>
        <p:spPr>
          <a:xfrm>
            <a:off x="1463040" y="3474720"/>
            <a:ext cx="4846320" cy="914400"/>
          </a:xfrm>
          <a:prstGeom prst="rect">
            <a:avLst/>
          </a:prstGeom>
          <a:noFill/>
          <a:ln/>
        </p:spPr>
        <p:txBody>
          <a:bodyPr wrap="square" lIns="0" tIns="0" rIns="0" bIns="0" rtlCol="0" anchor="t"/>
          <a:lstStyle/>
          <a:p>
            <a:pPr indent="0" marL="0">
              <a:buNone/>
            </a:pPr>
            <a:r>
              <a:rPr lang="en-US" sz="1500" dirty="0">
                <a:solidFill>
                  <a:schemeClr val="tx2"/>
                </a:solidFill>
              </a:rPr>
              <a:t>Interpretation differs across readers and sites, and specialist musculoskeletal radiologists are scarce.</a:t>
            </a:r>
            <a:endParaRPr lang="en-US" sz="1500" dirty="0"/>
          </a:p>
        </p:txBody>
      </p:sp>
      <p:sp>
        <p:nvSpPr>
          <p:cNvPr id="12" name="badge-49"/>
          <p:cNvSpPr/>
          <p:nvPr/>
        </p:nvSpPr>
        <p:spPr>
          <a:xfrm>
            <a:off x="548640" y="4617720"/>
            <a:ext cx="685800" cy="685800"/>
          </a:xfrm>
          <a:prstGeom prst="ellipse">
            <a:avLst/>
          </a:prstGeom>
          <a:solidFill>
            <a:schemeClr val="accent1"/>
          </a:solidFill>
          <a:ln/>
        </p:spPr>
      </p:sp>
      <p:pic>
        <p:nvPicPr>
          <p:cNvPr id="13" name="icon-50" descr="preencoded.png">    </p:cNvPr>
          <p:cNvPicPr>
            <a:picLocks noChangeAspect="1"/>
          </p:cNvPicPr>
          <p:nvPr/>
        </p:nvPicPr>
        <p:blipFill>
          <a:blip r:embed="rId3"/>
          <a:stretch>
            <a:fillRect/>
          </a:stretch>
        </p:blipFill>
        <p:spPr>
          <a:xfrm>
            <a:off x="726948" y="4796028"/>
            <a:ext cx="329184" cy="329184"/>
          </a:xfrm>
          <a:prstGeom prst="rect">
            <a:avLst/>
          </a:prstGeom>
        </p:spPr>
      </p:pic>
      <p:sp>
        <p:nvSpPr>
          <p:cNvPr id="14" name="text-51"/>
          <p:cNvSpPr txBox="1"/>
          <p:nvPr/>
        </p:nvSpPr>
        <p:spPr>
          <a:xfrm>
            <a:off x="1463040" y="4599432"/>
            <a:ext cx="4754880" cy="365760"/>
          </a:xfrm>
          <a:prstGeom prst="rect">
            <a:avLst/>
          </a:prstGeom>
          <a:noFill/>
          <a:ln/>
        </p:spPr>
        <p:txBody>
          <a:bodyPr wrap="square" lIns="0" tIns="0" rIns="0" bIns="0" rtlCol="0" anchor="t"/>
          <a:lstStyle/>
          <a:p>
            <a:pPr indent="0" marL="0">
              <a:buNone/>
            </a:pPr>
            <a:r>
              <a:rPr lang="en-US" sz="2000" b="1" dirty="0">
                <a:solidFill>
                  <a:schemeClr val="tx1"/>
                </a:solidFill>
              </a:rPr>
              <a:t>A first for RSNA</a:t>
            </a:r>
            <a:endParaRPr lang="en-US" sz="2000" dirty="0"/>
          </a:p>
        </p:txBody>
      </p:sp>
      <p:sp>
        <p:nvSpPr>
          <p:cNvPr id="15" name="text-52"/>
          <p:cNvSpPr txBox="1"/>
          <p:nvPr/>
        </p:nvSpPr>
        <p:spPr>
          <a:xfrm>
            <a:off x="1463040" y="4983480"/>
            <a:ext cx="4846320" cy="914400"/>
          </a:xfrm>
          <a:prstGeom prst="rect">
            <a:avLst/>
          </a:prstGeom>
          <a:noFill/>
          <a:ln/>
        </p:spPr>
        <p:txBody>
          <a:bodyPr wrap="square" lIns="0" tIns="0" rIns="0" bIns="0" rtlCol="0" anchor="t"/>
          <a:lstStyle/>
          <a:p>
            <a:pPr indent="0" marL="0">
              <a:buNone/>
            </a:pPr>
            <a:r>
              <a:rPr lang="en-US" sz="1500" dirty="0">
                <a:solidFill>
                  <a:schemeClr val="tx2"/>
                </a:solidFill>
              </a:rPr>
              <a:t>First musculoskeletal challenge and the first to pair images with multilingual radiology reports.</a:t>
            </a:r>
            <a:endParaRPr lang="en-US" sz="1500" dirty="0"/>
          </a:p>
        </p:txBody>
      </p:sp>
      <p:sp>
        <p:nvSpPr>
          <p:cNvPr id="16" name="card-53"/>
          <p:cNvSpPr/>
          <p:nvPr/>
        </p:nvSpPr>
        <p:spPr>
          <a:xfrm>
            <a:off x="6766560" y="1600200"/>
            <a:ext cx="2331720" cy="1965960"/>
          </a:xfrm>
          <a:prstGeom prst="roundRect">
            <a:avLst>
              <a:gd name="adj" fmla="val 5581"/>
            </a:avLst>
          </a:prstGeom>
          <a:solidFill>
            <a:schemeClr val="bg2"/>
          </a:solidFill>
          <a:ln/>
        </p:spPr>
      </p:sp>
      <p:sp>
        <p:nvSpPr>
          <p:cNvPr id="17" name="text-54"/>
          <p:cNvSpPr txBox="1"/>
          <p:nvPr/>
        </p:nvSpPr>
        <p:spPr>
          <a:xfrm>
            <a:off x="6995160" y="1965960"/>
            <a:ext cx="1920240" cy="73152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5,000+</a:t>
            </a:r>
            <a:endParaRPr lang="en-US" sz="3800" dirty="0"/>
          </a:p>
        </p:txBody>
      </p:sp>
      <p:sp>
        <p:nvSpPr>
          <p:cNvPr id="18" name="text-55"/>
          <p:cNvSpPr txBox="1"/>
          <p:nvPr/>
        </p:nvSpPr>
        <p:spPr>
          <a:xfrm>
            <a:off x="6995160" y="2788920"/>
            <a:ext cx="1920240" cy="548640"/>
          </a:xfrm>
          <a:prstGeom prst="rect">
            <a:avLst/>
          </a:prstGeom>
          <a:noFill/>
          <a:ln/>
        </p:spPr>
        <p:txBody>
          <a:bodyPr wrap="square" lIns="0" tIns="0" rIns="0" bIns="0" rtlCol="0" anchor="t"/>
          <a:lstStyle/>
          <a:p>
            <a:pPr indent="0" marL="0">
              <a:buNone/>
            </a:pPr>
            <a:r>
              <a:rPr lang="en-US" sz="1400" dirty="0">
                <a:solidFill>
                  <a:schemeClr val="accent5"/>
                </a:solidFill>
              </a:rPr>
              <a:t>training knee MRI exams</a:t>
            </a:r>
            <a:endParaRPr lang="en-US" sz="1400" dirty="0"/>
          </a:p>
        </p:txBody>
      </p:sp>
      <p:sp>
        <p:nvSpPr>
          <p:cNvPr id="19" name="card-56"/>
          <p:cNvSpPr/>
          <p:nvPr/>
        </p:nvSpPr>
        <p:spPr>
          <a:xfrm>
            <a:off x="9235440" y="1600200"/>
            <a:ext cx="2331720" cy="1965960"/>
          </a:xfrm>
          <a:prstGeom prst="roundRect">
            <a:avLst>
              <a:gd name="adj" fmla="val 5581"/>
            </a:avLst>
          </a:prstGeom>
          <a:solidFill>
            <a:schemeClr val="bg2"/>
          </a:solidFill>
          <a:ln/>
        </p:spPr>
      </p:sp>
      <p:sp>
        <p:nvSpPr>
          <p:cNvPr id="20" name="text-57"/>
          <p:cNvSpPr txBox="1"/>
          <p:nvPr/>
        </p:nvSpPr>
        <p:spPr>
          <a:xfrm>
            <a:off x="9464040" y="1965960"/>
            <a:ext cx="1920240" cy="73152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12</a:t>
            </a:r>
            <a:endParaRPr lang="en-US" sz="3800" dirty="0"/>
          </a:p>
        </p:txBody>
      </p:sp>
      <p:sp>
        <p:nvSpPr>
          <p:cNvPr id="21" name="text-58"/>
          <p:cNvSpPr txBox="1"/>
          <p:nvPr/>
        </p:nvSpPr>
        <p:spPr>
          <a:xfrm>
            <a:off x="9464040" y="2788920"/>
            <a:ext cx="1920240" cy="548640"/>
          </a:xfrm>
          <a:prstGeom prst="rect">
            <a:avLst/>
          </a:prstGeom>
          <a:noFill/>
          <a:ln/>
        </p:spPr>
        <p:txBody>
          <a:bodyPr wrap="square" lIns="0" tIns="0" rIns="0" bIns="0" rtlCol="0" anchor="t"/>
          <a:lstStyle/>
          <a:p>
            <a:pPr indent="0" marL="0">
              <a:buNone/>
            </a:pPr>
            <a:r>
              <a:rPr lang="en-US" sz="1400" dirty="0">
                <a:solidFill>
                  <a:schemeClr val="accent5"/>
                </a:solidFill>
              </a:rPr>
              <a:t>report languages</a:t>
            </a:r>
            <a:endParaRPr lang="en-US" sz="1400" dirty="0"/>
          </a:p>
        </p:txBody>
      </p:sp>
      <p:sp>
        <p:nvSpPr>
          <p:cNvPr id="22" name="card-59"/>
          <p:cNvSpPr/>
          <p:nvPr/>
        </p:nvSpPr>
        <p:spPr>
          <a:xfrm>
            <a:off x="6766560" y="3749040"/>
            <a:ext cx="2331720" cy="1965960"/>
          </a:xfrm>
          <a:prstGeom prst="roundRect">
            <a:avLst>
              <a:gd name="adj" fmla="val 5581"/>
            </a:avLst>
          </a:prstGeom>
          <a:solidFill>
            <a:schemeClr val="bg2"/>
          </a:solidFill>
          <a:ln/>
        </p:spPr>
      </p:sp>
      <p:sp>
        <p:nvSpPr>
          <p:cNvPr id="23" name="text-60"/>
          <p:cNvSpPr txBox="1"/>
          <p:nvPr/>
        </p:nvSpPr>
        <p:spPr>
          <a:xfrm>
            <a:off x="6995160" y="4114800"/>
            <a:ext cx="1920240" cy="73152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16</a:t>
            </a:r>
            <a:endParaRPr lang="en-US" sz="3800" dirty="0"/>
          </a:p>
        </p:txBody>
      </p:sp>
      <p:sp>
        <p:nvSpPr>
          <p:cNvPr id="24" name="text-61"/>
          <p:cNvSpPr txBox="1"/>
          <p:nvPr/>
        </p:nvSpPr>
        <p:spPr>
          <a:xfrm>
            <a:off x="6995160" y="4937760"/>
            <a:ext cx="1920240" cy="548640"/>
          </a:xfrm>
          <a:prstGeom prst="rect">
            <a:avLst/>
          </a:prstGeom>
          <a:noFill/>
          <a:ln/>
        </p:spPr>
        <p:txBody>
          <a:bodyPr wrap="square" lIns="0" tIns="0" rIns="0" bIns="0" rtlCol="0" anchor="t"/>
          <a:lstStyle/>
          <a:p>
            <a:pPr indent="0" marL="0">
              <a:buNone/>
            </a:pPr>
            <a:r>
              <a:rPr lang="en-US" sz="1400" dirty="0">
                <a:solidFill>
                  <a:schemeClr val="accent5"/>
                </a:solidFill>
              </a:rPr>
              <a:t>training sites worldwide</a:t>
            </a:r>
            <a:endParaRPr lang="en-US" sz="1400" dirty="0"/>
          </a:p>
        </p:txBody>
      </p:sp>
      <p:sp>
        <p:nvSpPr>
          <p:cNvPr id="25" name="card-62"/>
          <p:cNvSpPr/>
          <p:nvPr/>
        </p:nvSpPr>
        <p:spPr>
          <a:xfrm>
            <a:off x="9235440" y="3749040"/>
            <a:ext cx="2331720" cy="1965960"/>
          </a:xfrm>
          <a:prstGeom prst="roundRect">
            <a:avLst>
              <a:gd name="adj" fmla="val 5581"/>
            </a:avLst>
          </a:prstGeom>
          <a:solidFill>
            <a:schemeClr val="bg2"/>
          </a:solidFill>
          <a:ln/>
        </p:spPr>
      </p:sp>
      <p:sp>
        <p:nvSpPr>
          <p:cNvPr id="26" name="text-63"/>
          <p:cNvSpPr txBox="1"/>
          <p:nvPr/>
        </p:nvSpPr>
        <p:spPr>
          <a:xfrm>
            <a:off x="9464040" y="4114800"/>
            <a:ext cx="1920240" cy="73152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12</a:t>
            </a:r>
            <a:endParaRPr lang="en-US" sz="3800" dirty="0"/>
          </a:p>
        </p:txBody>
      </p:sp>
      <p:sp>
        <p:nvSpPr>
          <p:cNvPr id="27" name="text-64"/>
          <p:cNvSpPr txBox="1"/>
          <p:nvPr/>
        </p:nvSpPr>
        <p:spPr>
          <a:xfrm>
            <a:off x="9464040" y="4937760"/>
            <a:ext cx="1920240" cy="548640"/>
          </a:xfrm>
          <a:prstGeom prst="rect">
            <a:avLst/>
          </a:prstGeom>
          <a:noFill/>
          <a:ln/>
        </p:spPr>
        <p:txBody>
          <a:bodyPr wrap="square" lIns="0" tIns="0" rIns="0" bIns="0" rtlCol="0" anchor="t"/>
          <a:lstStyle/>
          <a:p>
            <a:pPr indent="0" marL="0">
              <a:buNone/>
            </a:pPr>
            <a:r>
              <a:rPr lang="en-US" sz="1400" dirty="0">
                <a:solidFill>
                  <a:schemeClr val="accent5"/>
                </a:solidFill>
              </a:rPr>
              <a:t>findings to score</a:t>
            </a:r>
            <a:endParaRPr lang="en-US" sz="1400" dirty="0"/>
          </a:p>
        </p:txBody>
      </p:sp>
      <p:sp>
        <p:nvSpPr>
          <p:cNvPr id="28" name="text-65"/>
          <p:cNvSpPr txBox="1"/>
          <p:nvPr/>
        </p:nvSpPr>
        <p:spPr>
          <a:xfrm>
            <a:off x="6766560" y="5989320"/>
            <a:ext cx="4846320" cy="274320"/>
          </a:xfrm>
          <a:prstGeom prst="rect">
            <a:avLst/>
          </a:prstGeom>
          <a:noFill/>
          <a:ln/>
        </p:spPr>
        <p:txBody>
          <a:bodyPr wrap="square" lIns="0" tIns="0" rIns="0" bIns="0" rtlCol="0" anchor="t"/>
          <a:lstStyle/>
          <a:p>
            <a:pPr indent="0" marL="0">
              <a:buNone/>
            </a:pPr>
            <a:r>
              <a:rPr lang="en-US" sz="1000" dirty="0">
                <a:solidFill>
                  <a:schemeClr val="accent5"/>
                </a:solidFill>
              </a:rPr>
              <a:t>Source: RSNA news release, 5 Aug 2026 (training set: more than 5,000 exams from 16 sites).</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PROBLEM &amp; DATA</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Task: 12 findings, one macro AUC</a:t>
            </a:r>
            <a:endParaRPr lang="en-US" sz="3400" dirty="0"/>
          </a:p>
        </p:txBody>
      </p:sp>
      <p:sp>
        <p:nvSpPr>
          <p:cNvPr id="4" name="text-66"/>
          <p:cNvSpPr txBox="1"/>
          <p:nvPr/>
        </p:nvSpPr>
        <p:spPr>
          <a:xfrm>
            <a:off x="548640" y="1554480"/>
            <a:ext cx="1920240" cy="384048"/>
          </a:xfrm>
          <a:prstGeom prst="rect">
            <a:avLst/>
          </a:prstGeom>
          <a:noFill/>
          <a:ln/>
        </p:spPr>
        <p:txBody>
          <a:bodyPr wrap="square" lIns="0" tIns="0" rIns="0" bIns="0" rtlCol="0" anchor="ctr"/>
          <a:lstStyle/>
          <a:p>
            <a:pPr indent="0" marL="0">
              <a:buNone/>
            </a:pPr>
            <a:r>
              <a:rPr lang="en-US" sz="1100" b="1" spc="100" kern="0" dirty="0">
                <a:solidFill>
                  <a:schemeClr val="accent5"/>
                </a:solidFill>
              </a:rPr>
              <a:t>LIGAMENTS</a:t>
            </a:r>
            <a:endParaRPr lang="en-US" sz="1100" dirty="0"/>
          </a:p>
        </p:txBody>
      </p:sp>
      <p:sp>
        <p:nvSpPr>
          <p:cNvPr id="5" name="chip-67"/>
          <p:cNvSpPr/>
          <p:nvPr/>
        </p:nvSpPr>
        <p:spPr>
          <a:xfrm>
            <a:off x="2514600" y="1554480"/>
            <a:ext cx="534924"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ACL</a:t>
            </a:r>
            <a:endParaRPr lang="en-US" sz="1400" dirty="0"/>
          </a:p>
        </p:txBody>
      </p:sp>
      <p:sp>
        <p:nvSpPr>
          <p:cNvPr id="6" name="chip-68"/>
          <p:cNvSpPr/>
          <p:nvPr/>
        </p:nvSpPr>
        <p:spPr>
          <a:xfrm>
            <a:off x="3159252" y="1554480"/>
            <a:ext cx="534924"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MCL</a:t>
            </a:r>
            <a:endParaRPr lang="en-US" sz="1400" dirty="0"/>
          </a:p>
        </p:txBody>
      </p:sp>
      <p:sp>
        <p:nvSpPr>
          <p:cNvPr id="7" name="text-69"/>
          <p:cNvSpPr txBox="1"/>
          <p:nvPr/>
        </p:nvSpPr>
        <p:spPr>
          <a:xfrm>
            <a:off x="548640" y="2066544"/>
            <a:ext cx="1920240" cy="384048"/>
          </a:xfrm>
          <a:prstGeom prst="rect">
            <a:avLst/>
          </a:prstGeom>
          <a:noFill/>
          <a:ln/>
        </p:spPr>
        <p:txBody>
          <a:bodyPr wrap="square" lIns="0" tIns="0" rIns="0" bIns="0" rtlCol="0" anchor="ctr"/>
          <a:lstStyle/>
          <a:p>
            <a:pPr indent="0" marL="0">
              <a:buNone/>
            </a:pPr>
            <a:r>
              <a:rPr lang="en-US" sz="1100" b="1" spc="100" kern="0" dirty="0">
                <a:solidFill>
                  <a:schemeClr val="accent5"/>
                </a:solidFill>
              </a:rPr>
              <a:t>MENISCI</a:t>
            </a:r>
            <a:endParaRPr lang="en-US" sz="1100" dirty="0"/>
          </a:p>
        </p:txBody>
      </p:sp>
      <p:sp>
        <p:nvSpPr>
          <p:cNvPr id="8" name="chip-70"/>
          <p:cNvSpPr/>
          <p:nvPr/>
        </p:nvSpPr>
        <p:spPr>
          <a:xfrm>
            <a:off x="2514600" y="2066544"/>
            <a:ext cx="795528"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Medial</a:t>
            </a:r>
            <a:endParaRPr lang="en-US" sz="1400" dirty="0"/>
          </a:p>
        </p:txBody>
      </p:sp>
      <p:sp>
        <p:nvSpPr>
          <p:cNvPr id="9" name="chip-71"/>
          <p:cNvSpPr/>
          <p:nvPr/>
        </p:nvSpPr>
        <p:spPr>
          <a:xfrm>
            <a:off x="3419856" y="2066544"/>
            <a:ext cx="882396"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Lateral</a:t>
            </a:r>
            <a:endParaRPr lang="en-US" sz="1400" dirty="0"/>
          </a:p>
        </p:txBody>
      </p:sp>
      <p:sp>
        <p:nvSpPr>
          <p:cNvPr id="10" name="text-72"/>
          <p:cNvSpPr txBox="1"/>
          <p:nvPr/>
        </p:nvSpPr>
        <p:spPr>
          <a:xfrm>
            <a:off x="548640" y="2578608"/>
            <a:ext cx="1920240" cy="384048"/>
          </a:xfrm>
          <a:prstGeom prst="rect">
            <a:avLst/>
          </a:prstGeom>
          <a:noFill/>
          <a:ln/>
        </p:spPr>
        <p:txBody>
          <a:bodyPr wrap="square" lIns="0" tIns="0" rIns="0" bIns="0" rtlCol="0" anchor="ctr"/>
          <a:lstStyle/>
          <a:p>
            <a:pPr indent="0" marL="0">
              <a:buNone/>
            </a:pPr>
            <a:r>
              <a:rPr lang="en-US" sz="1100" b="1" spc="100" kern="0" dirty="0">
                <a:solidFill>
                  <a:schemeClr val="accent5"/>
                </a:solidFill>
              </a:rPr>
              <a:t>CARTILAGE / OA</a:t>
            </a:r>
            <a:endParaRPr lang="en-US" sz="1100" dirty="0"/>
          </a:p>
        </p:txBody>
      </p:sp>
      <p:sp>
        <p:nvSpPr>
          <p:cNvPr id="11" name="chip-73"/>
          <p:cNvSpPr/>
          <p:nvPr/>
        </p:nvSpPr>
        <p:spPr>
          <a:xfrm>
            <a:off x="2514600" y="2578608"/>
            <a:ext cx="1056132"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Medial OA</a:t>
            </a:r>
            <a:endParaRPr lang="en-US" sz="1400" dirty="0"/>
          </a:p>
        </p:txBody>
      </p:sp>
      <p:sp>
        <p:nvSpPr>
          <p:cNvPr id="12" name="chip-74"/>
          <p:cNvSpPr/>
          <p:nvPr/>
        </p:nvSpPr>
        <p:spPr>
          <a:xfrm>
            <a:off x="3680460" y="2578608"/>
            <a:ext cx="1143000"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Lateral OA</a:t>
            </a:r>
            <a:endParaRPr lang="en-US" sz="1400" dirty="0"/>
          </a:p>
        </p:txBody>
      </p:sp>
      <p:sp>
        <p:nvSpPr>
          <p:cNvPr id="13" name="chip-75"/>
          <p:cNvSpPr/>
          <p:nvPr/>
        </p:nvSpPr>
        <p:spPr>
          <a:xfrm>
            <a:off x="4933188" y="2578608"/>
            <a:ext cx="1751076"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Patellofemoral OA</a:t>
            </a:r>
            <a:endParaRPr lang="en-US" sz="1400" dirty="0"/>
          </a:p>
        </p:txBody>
      </p:sp>
      <p:sp>
        <p:nvSpPr>
          <p:cNvPr id="14" name="text-76"/>
          <p:cNvSpPr txBox="1"/>
          <p:nvPr/>
        </p:nvSpPr>
        <p:spPr>
          <a:xfrm>
            <a:off x="548640" y="3090672"/>
            <a:ext cx="1920240" cy="384048"/>
          </a:xfrm>
          <a:prstGeom prst="rect">
            <a:avLst/>
          </a:prstGeom>
          <a:noFill/>
          <a:ln/>
        </p:spPr>
        <p:txBody>
          <a:bodyPr wrap="square" lIns="0" tIns="0" rIns="0" bIns="0" rtlCol="0" anchor="ctr"/>
          <a:lstStyle/>
          <a:p>
            <a:pPr indent="0" marL="0">
              <a:buNone/>
            </a:pPr>
            <a:r>
              <a:rPr lang="en-US" sz="1100" b="1" spc="100" kern="0" dirty="0">
                <a:solidFill>
                  <a:schemeClr val="accent5"/>
                </a:solidFill>
              </a:rPr>
              <a:t>JOINT &amp; SOFT TISSUE</a:t>
            </a:r>
            <a:endParaRPr lang="en-US" sz="1100" dirty="0"/>
          </a:p>
        </p:txBody>
      </p:sp>
      <p:sp>
        <p:nvSpPr>
          <p:cNvPr id="15" name="chip-77"/>
          <p:cNvSpPr/>
          <p:nvPr/>
        </p:nvSpPr>
        <p:spPr>
          <a:xfrm>
            <a:off x="2514600" y="3090672"/>
            <a:ext cx="969264"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Effusion</a:t>
            </a:r>
            <a:endParaRPr lang="en-US" sz="1400" dirty="0"/>
          </a:p>
        </p:txBody>
      </p:sp>
      <p:sp>
        <p:nvSpPr>
          <p:cNvPr id="16" name="chip-78"/>
          <p:cNvSpPr/>
          <p:nvPr/>
        </p:nvSpPr>
        <p:spPr>
          <a:xfrm>
            <a:off x="3593592" y="3090672"/>
            <a:ext cx="1056132"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Synovitis</a:t>
            </a:r>
            <a:endParaRPr lang="en-US" sz="1400" dirty="0"/>
          </a:p>
        </p:txBody>
      </p:sp>
      <p:sp>
        <p:nvSpPr>
          <p:cNvPr id="17" name="chip-79"/>
          <p:cNvSpPr/>
          <p:nvPr/>
        </p:nvSpPr>
        <p:spPr>
          <a:xfrm>
            <a:off x="4759452" y="3090672"/>
            <a:ext cx="1316736"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Baker's cyst</a:t>
            </a:r>
            <a:endParaRPr lang="en-US" sz="1400" dirty="0"/>
          </a:p>
        </p:txBody>
      </p:sp>
      <p:sp>
        <p:nvSpPr>
          <p:cNvPr id="18" name="text-80"/>
          <p:cNvSpPr txBox="1"/>
          <p:nvPr/>
        </p:nvSpPr>
        <p:spPr>
          <a:xfrm>
            <a:off x="548640" y="3602736"/>
            <a:ext cx="1920240" cy="384048"/>
          </a:xfrm>
          <a:prstGeom prst="rect">
            <a:avLst/>
          </a:prstGeom>
          <a:noFill/>
          <a:ln/>
        </p:spPr>
        <p:txBody>
          <a:bodyPr wrap="square" lIns="0" tIns="0" rIns="0" bIns="0" rtlCol="0" anchor="ctr"/>
          <a:lstStyle/>
          <a:p>
            <a:pPr indent="0" marL="0">
              <a:buNone/>
            </a:pPr>
            <a:r>
              <a:rPr lang="en-US" sz="1100" b="1" spc="100" kern="0" dirty="0">
                <a:solidFill>
                  <a:schemeClr val="accent5"/>
                </a:solidFill>
              </a:rPr>
              <a:t>BONE</a:t>
            </a:r>
            <a:endParaRPr lang="en-US" sz="1100" dirty="0"/>
          </a:p>
        </p:txBody>
      </p:sp>
      <p:sp>
        <p:nvSpPr>
          <p:cNvPr id="19" name="chip-81"/>
          <p:cNvSpPr/>
          <p:nvPr/>
        </p:nvSpPr>
        <p:spPr>
          <a:xfrm>
            <a:off x="2514600" y="3602736"/>
            <a:ext cx="1056132"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Contusion</a:t>
            </a:r>
            <a:endParaRPr lang="en-US" sz="1400" dirty="0"/>
          </a:p>
        </p:txBody>
      </p:sp>
      <p:sp>
        <p:nvSpPr>
          <p:cNvPr id="20" name="chip-82"/>
          <p:cNvSpPr/>
          <p:nvPr/>
        </p:nvSpPr>
        <p:spPr>
          <a:xfrm>
            <a:off x="3680460" y="3602736"/>
            <a:ext cx="969264" cy="384048"/>
          </a:xfrm>
          <a:prstGeom prst="roundRect">
            <a:avLst>
              <a:gd name="adj" fmla="val 47619"/>
            </a:avLst>
          </a:prstGeom>
          <a:solidFill>
            <a:schemeClr val="accent1">
              <a:alpha val="15000"/>
            </a:schemeClr>
          </a:solidFill>
          <a:ln/>
        </p:spPr>
        <p:txBody>
          <a:bodyPr wrap="square" lIns="0" tIns="0" rIns="0" bIns="0" rtlCol="0" anchor="ctr"/>
          <a:lstStyle/>
          <a:p>
            <a:pPr algn="ctr" indent="0" marL="0">
              <a:buNone/>
            </a:pPr>
            <a:r>
              <a:rPr lang="en-US" sz="1400" b="1" dirty="0">
                <a:solidFill>
                  <a:schemeClr val="tx1"/>
                </a:solidFill>
              </a:rPr>
              <a:t>Fracture</a:t>
            </a:r>
            <a:endParaRPr lang="en-US" sz="1400" dirty="0"/>
          </a:p>
        </p:txBody>
      </p:sp>
      <p:sp>
        <p:nvSpPr>
          <p:cNvPr id="21" name="card-83"/>
          <p:cNvSpPr/>
          <p:nvPr/>
        </p:nvSpPr>
        <p:spPr>
          <a:xfrm>
            <a:off x="7086600" y="1554480"/>
            <a:ext cx="4553712" cy="2148840"/>
          </a:xfrm>
          <a:prstGeom prst="roundRect">
            <a:avLst>
              <a:gd name="adj" fmla="val 5106"/>
            </a:avLst>
          </a:prstGeom>
          <a:solidFill>
            <a:schemeClr val="bg2"/>
          </a:solidFill>
          <a:ln/>
        </p:spPr>
      </p:sp>
      <p:sp>
        <p:nvSpPr>
          <p:cNvPr id="22" name="text-84"/>
          <p:cNvSpPr txBox="1"/>
          <p:nvPr/>
        </p:nvSpPr>
        <p:spPr>
          <a:xfrm>
            <a:off x="7360920" y="1737360"/>
            <a:ext cx="402336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LEADERBOARD METRIC</a:t>
            </a:r>
            <a:endParaRPr lang="en-US" sz="1100" dirty="0"/>
          </a:p>
        </p:txBody>
      </p:sp>
      <p:sp>
        <p:nvSpPr>
          <p:cNvPr id="23" name="Text 21"/>
          <p:cNvSpPr txBox="1"/>
          <p:nvPr/>
        </p:nvSpPr>
        <p:spPr>
          <a:xfrm>
            <a:off x="7360920" y="2057400"/>
            <a:ext cx="4023360" cy="548640"/>
          </a:xfrm>
          <a:prstGeom prst="rect">
            <a:avLst/>
          </a:prstGeom>
          <a:noFill/>
          <a:ln/>
        </p:spPr>
        <p:txBody>
          <a:bodyPr wrap="square" lIns="0" tIns="0" rIns="0" bIns="0" rtlCol="0" anchor="ctr"/>
          <a:lstStyle/>
          <a:p>
            <a:pPr indent="0" marL="0">
              <a:buNone/>
            </a:pPr>
            <a:r>
              <a:rPr lang="en-US" sz="2800" dirty="0">
                <a:solidFill>
                  <a:schemeClr val="tx2"/>
                </a:solidFill>
                <a:latin typeface="Cambria" pitchFamily="34" charset="0"/>
                <a:ea typeface="Cambria" pitchFamily="34" charset="-122"/>
                <a:cs typeface="Cambria" pitchFamily="34" charset="-120"/>
              </a:rPr>
              <a:t>Score = </a:t>
            </a:r>
            <a:pPr indent="0" marL="0">
              <a:buNone/>
            </a:pPr>
            <a:r>
              <a:rPr lang="en-US" sz="2800" b="1" dirty="0">
                <a:solidFill>
                  <a:schemeClr val="tx2"/>
                </a:solidFill>
                <a:latin typeface="Cambria" pitchFamily="34" charset="0"/>
                <a:ea typeface="Cambria" pitchFamily="34" charset="-122"/>
                <a:cs typeface="Cambria" pitchFamily="34" charset="-120"/>
              </a:rPr>
              <a:t>1/12</a:t>
            </a:r>
            <a:pPr indent="0" marL="0">
              <a:buNone/>
            </a:pPr>
            <a:r>
              <a:rPr lang="en-US" sz="2800" dirty="0">
                <a:solidFill>
                  <a:schemeClr val="tx2"/>
                </a:solidFill>
                <a:latin typeface="Cambria" pitchFamily="34" charset="0"/>
                <a:ea typeface="Cambria" pitchFamily="34" charset="-122"/>
                <a:cs typeface="Cambria" pitchFamily="34" charset="-120"/>
              </a:rPr>
              <a:t> · Σ AUC</a:t>
            </a:r>
            <a:pPr indent="0" marL="0">
              <a:buNone/>
            </a:pPr>
            <a:r>
              <a:rPr lang="en-US" sz="2800" baseline="-40000" dirty="0">
                <a:solidFill>
                  <a:schemeClr val="tx2"/>
                </a:solidFill>
                <a:latin typeface="Cambria" pitchFamily="34" charset="0"/>
                <a:ea typeface="Cambria" pitchFamily="34" charset="-122"/>
                <a:cs typeface="Cambria" pitchFamily="34" charset="-120"/>
              </a:rPr>
              <a:t>k</a:t>
            </a:r>
            <a:endParaRPr lang="en-US" sz="2800" dirty="0"/>
          </a:p>
        </p:txBody>
      </p:sp>
      <p:sp>
        <p:nvSpPr>
          <p:cNvPr id="24" name="text-85"/>
          <p:cNvSpPr txBox="1"/>
          <p:nvPr/>
        </p:nvSpPr>
        <p:spPr>
          <a:xfrm>
            <a:off x="7360920" y="2697480"/>
            <a:ext cx="4023360" cy="914400"/>
          </a:xfrm>
          <a:prstGeom prst="rect">
            <a:avLst/>
          </a:prstGeom>
          <a:noFill/>
          <a:ln/>
        </p:spPr>
        <p:txBody>
          <a:bodyPr wrap="square" lIns="0" tIns="0" rIns="0" bIns="0" rtlCol="0" anchor="t"/>
          <a:lstStyle/>
          <a:p>
            <a:pPr indent="0" marL="0">
              <a:buNone/>
            </a:pPr>
            <a:r>
              <a:rPr lang="en-US" sz="1400" dirty="0">
                <a:solidFill>
                  <a:schemeClr val="tx2"/>
                </a:solidFill>
              </a:rPr>
              <a:t>Unweighted mean of the 12 per-finding AUCs. Only the ordering of scores matters, so outputs are ranking scores, not calibrated probabilities.</a:t>
            </a:r>
            <a:endParaRPr lang="en-US" sz="1400" dirty="0"/>
          </a:p>
        </p:txBody>
      </p:sp>
      <p:sp>
        <p:nvSpPr>
          <p:cNvPr id="25" name="text-86"/>
          <p:cNvSpPr txBox="1"/>
          <p:nvPr/>
        </p:nvSpPr>
        <p:spPr>
          <a:xfrm>
            <a:off x="548640" y="4160520"/>
            <a:ext cx="731520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KAGGLE CODE-COMPETITION CONSTRAINTS</a:t>
            </a:r>
            <a:endParaRPr lang="en-US" sz="1100" dirty="0"/>
          </a:p>
        </p:txBody>
      </p:sp>
      <p:sp>
        <p:nvSpPr>
          <p:cNvPr id="26" name="card-87"/>
          <p:cNvSpPr/>
          <p:nvPr/>
        </p:nvSpPr>
        <p:spPr>
          <a:xfrm>
            <a:off x="548640" y="4526280"/>
            <a:ext cx="2670048" cy="1371600"/>
          </a:xfrm>
          <a:prstGeom prst="roundRect">
            <a:avLst>
              <a:gd name="adj" fmla="val 8000"/>
            </a:avLst>
          </a:prstGeom>
          <a:solidFill>
            <a:schemeClr val="bg2"/>
          </a:solidFill>
          <a:ln/>
        </p:spPr>
      </p:sp>
      <p:sp>
        <p:nvSpPr>
          <p:cNvPr id="27" name="badge-88"/>
          <p:cNvSpPr/>
          <p:nvPr/>
        </p:nvSpPr>
        <p:spPr>
          <a:xfrm>
            <a:off x="777240" y="4754880"/>
            <a:ext cx="502920" cy="502920"/>
          </a:xfrm>
          <a:prstGeom prst="ellipse">
            <a:avLst/>
          </a:prstGeom>
          <a:solidFill>
            <a:schemeClr val="accent5"/>
          </a:solidFill>
          <a:ln/>
        </p:spPr>
      </p:sp>
      <p:pic>
        <p:nvPicPr>
          <p:cNvPr id="28" name="icon-89" descr="preencoded.png">    </p:cNvPr>
          <p:cNvPicPr>
            <a:picLocks noChangeAspect="1"/>
          </p:cNvPicPr>
          <p:nvPr/>
        </p:nvPicPr>
        <p:blipFill>
          <a:blip r:embed="rId1"/>
          <a:stretch>
            <a:fillRect/>
          </a:stretch>
        </p:blipFill>
        <p:spPr>
          <a:xfrm>
            <a:off x="907999" y="4885639"/>
            <a:ext cx="241402" cy="241402"/>
          </a:xfrm>
          <a:prstGeom prst="rect">
            <a:avLst/>
          </a:prstGeom>
        </p:spPr>
      </p:pic>
      <p:sp>
        <p:nvSpPr>
          <p:cNvPr id="29" name="text-90"/>
          <p:cNvSpPr txBox="1"/>
          <p:nvPr/>
        </p:nvSpPr>
        <p:spPr>
          <a:xfrm>
            <a:off x="1417320" y="4754880"/>
            <a:ext cx="1737360" cy="365760"/>
          </a:xfrm>
          <a:prstGeom prst="rect">
            <a:avLst/>
          </a:prstGeom>
          <a:noFill/>
          <a:ln/>
        </p:spPr>
        <p:txBody>
          <a:bodyPr wrap="square" lIns="0" tIns="0" rIns="0" bIns="0" rtlCol="0" anchor="t"/>
          <a:lstStyle/>
          <a:p>
            <a:pPr indent="0" marL="0">
              <a:buNone/>
            </a:pPr>
            <a:r>
              <a:rPr lang="en-US" sz="1700" b="1" dirty="0">
                <a:solidFill>
                  <a:schemeClr val="tx1"/>
                </a:solidFill>
              </a:rPr>
              <a:t>2 × Tesla T4</a:t>
            </a:r>
            <a:endParaRPr lang="en-US" sz="1700" dirty="0"/>
          </a:p>
        </p:txBody>
      </p:sp>
      <p:sp>
        <p:nvSpPr>
          <p:cNvPr id="30" name="text-91"/>
          <p:cNvSpPr txBox="1"/>
          <p:nvPr/>
        </p:nvSpPr>
        <p:spPr>
          <a:xfrm>
            <a:off x="1417320" y="5138928"/>
            <a:ext cx="1691640" cy="731520"/>
          </a:xfrm>
          <a:prstGeom prst="rect">
            <a:avLst/>
          </a:prstGeom>
          <a:noFill/>
          <a:ln/>
        </p:spPr>
        <p:txBody>
          <a:bodyPr wrap="square" lIns="0" tIns="0" rIns="0" bIns="0" rtlCol="0" anchor="t"/>
          <a:lstStyle/>
          <a:p>
            <a:pPr indent="0" marL="0">
              <a:buNone/>
            </a:pPr>
            <a:r>
              <a:rPr lang="en-US" sz="1300" dirty="0">
                <a:solidFill>
                  <a:schemeClr val="accent5"/>
                </a:solidFill>
              </a:rPr>
              <a:t>the only accelerators</a:t>
            </a:r>
            <a:endParaRPr lang="en-US" sz="1300" dirty="0"/>
          </a:p>
        </p:txBody>
      </p:sp>
      <p:sp>
        <p:nvSpPr>
          <p:cNvPr id="31" name="card-92"/>
          <p:cNvSpPr/>
          <p:nvPr/>
        </p:nvSpPr>
        <p:spPr>
          <a:xfrm>
            <a:off x="3355848" y="4526280"/>
            <a:ext cx="2670048" cy="1371600"/>
          </a:xfrm>
          <a:prstGeom prst="roundRect">
            <a:avLst>
              <a:gd name="adj" fmla="val 8000"/>
            </a:avLst>
          </a:prstGeom>
          <a:solidFill>
            <a:schemeClr val="bg2"/>
          </a:solidFill>
          <a:ln/>
        </p:spPr>
      </p:sp>
      <p:sp>
        <p:nvSpPr>
          <p:cNvPr id="32" name="badge-93"/>
          <p:cNvSpPr/>
          <p:nvPr/>
        </p:nvSpPr>
        <p:spPr>
          <a:xfrm>
            <a:off x="3584448" y="4754880"/>
            <a:ext cx="502920" cy="502920"/>
          </a:xfrm>
          <a:prstGeom prst="ellipse">
            <a:avLst/>
          </a:prstGeom>
          <a:solidFill>
            <a:schemeClr val="accent5"/>
          </a:solidFill>
          <a:ln/>
        </p:spPr>
      </p:sp>
      <p:pic>
        <p:nvPicPr>
          <p:cNvPr id="33" name="icon-94" descr="preencoded.png">    </p:cNvPr>
          <p:cNvPicPr>
            <a:picLocks noChangeAspect="1"/>
          </p:cNvPicPr>
          <p:nvPr/>
        </p:nvPicPr>
        <p:blipFill>
          <a:blip r:embed="rId2"/>
          <a:stretch>
            <a:fillRect/>
          </a:stretch>
        </p:blipFill>
        <p:spPr>
          <a:xfrm>
            <a:off x="3715207" y="4885639"/>
            <a:ext cx="241402" cy="241402"/>
          </a:xfrm>
          <a:prstGeom prst="rect">
            <a:avLst/>
          </a:prstGeom>
        </p:spPr>
      </p:pic>
      <p:sp>
        <p:nvSpPr>
          <p:cNvPr id="34" name="text-95"/>
          <p:cNvSpPr txBox="1"/>
          <p:nvPr/>
        </p:nvSpPr>
        <p:spPr>
          <a:xfrm>
            <a:off x="4224528" y="4754880"/>
            <a:ext cx="1737360" cy="365760"/>
          </a:xfrm>
          <a:prstGeom prst="rect">
            <a:avLst/>
          </a:prstGeom>
          <a:noFill/>
          <a:ln/>
        </p:spPr>
        <p:txBody>
          <a:bodyPr wrap="square" lIns="0" tIns="0" rIns="0" bIns="0" rtlCol="0" anchor="t"/>
          <a:lstStyle/>
          <a:p>
            <a:pPr indent="0" marL="0">
              <a:buNone/>
            </a:pPr>
            <a:r>
              <a:rPr lang="en-US" sz="1700" b="1" dirty="0">
                <a:solidFill>
                  <a:schemeClr val="tx1"/>
                </a:solidFill>
              </a:rPr>
              <a:t>Internet off</a:t>
            </a:r>
            <a:endParaRPr lang="en-US" sz="1700" dirty="0"/>
          </a:p>
        </p:txBody>
      </p:sp>
      <p:sp>
        <p:nvSpPr>
          <p:cNvPr id="35" name="text-96"/>
          <p:cNvSpPr txBox="1"/>
          <p:nvPr/>
        </p:nvSpPr>
        <p:spPr>
          <a:xfrm>
            <a:off x="4224528" y="5138928"/>
            <a:ext cx="1691640" cy="731520"/>
          </a:xfrm>
          <a:prstGeom prst="rect">
            <a:avLst/>
          </a:prstGeom>
          <a:noFill/>
          <a:ln/>
        </p:spPr>
        <p:txBody>
          <a:bodyPr wrap="square" lIns="0" tIns="0" rIns="0" bIns="0" rtlCol="0" anchor="t"/>
          <a:lstStyle/>
          <a:p>
            <a:pPr indent="0" marL="0">
              <a:buNone/>
            </a:pPr>
            <a:r>
              <a:rPr lang="en-US" sz="1300" dirty="0">
                <a:solidFill>
                  <a:schemeClr val="accent5"/>
                </a:solidFill>
              </a:rPr>
              <a:t>all weights attached offline</a:t>
            </a:r>
            <a:endParaRPr lang="en-US" sz="1300" dirty="0"/>
          </a:p>
        </p:txBody>
      </p:sp>
      <p:sp>
        <p:nvSpPr>
          <p:cNvPr id="36" name="card-97"/>
          <p:cNvSpPr/>
          <p:nvPr/>
        </p:nvSpPr>
        <p:spPr>
          <a:xfrm>
            <a:off x="6163056" y="4526280"/>
            <a:ext cx="2670048" cy="1371600"/>
          </a:xfrm>
          <a:prstGeom prst="roundRect">
            <a:avLst>
              <a:gd name="adj" fmla="val 8000"/>
            </a:avLst>
          </a:prstGeom>
          <a:solidFill>
            <a:schemeClr val="bg2"/>
          </a:solidFill>
          <a:ln/>
        </p:spPr>
      </p:sp>
      <p:sp>
        <p:nvSpPr>
          <p:cNvPr id="37" name="badge-98"/>
          <p:cNvSpPr/>
          <p:nvPr/>
        </p:nvSpPr>
        <p:spPr>
          <a:xfrm>
            <a:off x="6391656" y="4754880"/>
            <a:ext cx="502920" cy="502920"/>
          </a:xfrm>
          <a:prstGeom prst="ellipse">
            <a:avLst/>
          </a:prstGeom>
          <a:solidFill>
            <a:schemeClr val="accent5"/>
          </a:solidFill>
          <a:ln/>
        </p:spPr>
      </p:sp>
      <p:pic>
        <p:nvPicPr>
          <p:cNvPr id="38" name="icon-99" descr="preencoded.png">    </p:cNvPr>
          <p:cNvPicPr>
            <a:picLocks noChangeAspect="1"/>
          </p:cNvPicPr>
          <p:nvPr/>
        </p:nvPicPr>
        <p:blipFill>
          <a:blip r:embed="rId3"/>
          <a:stretch>
            <a:fillRect/>
          </a:stretch>
        </p:blipFill>
        <p:spPr>
          <a:xfrm>
            <a:off x="6522415" y="4885639"/>
            <a:ext cx="241402" cy="241402"/>
          </a:xfrm>
          <a:prstGeom prst="rect">
            <a:avLst/>
          </a:prstGeom>
        </p:spPr>
      </p:pic>
      <p:sp>
        <p:nvSpPr>
          <p:cNvPr id="39" name="text-100"/>
          <p:cNvSpPr txBox="1"/>
          <p:nvPr/>
        </p:nvSpPr>
        <p:spPr>
          <a:xfrm>
            <a:off x="7031736" y="4754880"/>
            <a:ext cx="1737360" cy="365760"/>
          </a:xfrm>
          <a:prstGeom prst="rect">
            <a:avLst/>
          </a:prstGeom>
          <a:noFill/>
          <a:ln/>
        </p:spPr>
        <p:txBody>
          <a:bodyPr wrap="square" lIns="0" tIns="0" rIns="0" bIns="0" rtlCol="0" anchor="t"/>
          <a:lstStyle/>
          <a:p>
            <a:pPr indent="0" marL="0">
              <a:buNone/>
            </a:pPr>
            <a:r>
              <a:rPr lang="en-US" sz="1700" b="1" dirty="0">
                <a:solidFill>
                  <a:schemeClr val="tx1"/>
                </a:solidFill>
              </a:rPr>
              <a:t>8 h hard cap</a:t>
            </a:r>
            <a:endParaRPr lang="en-US" sz="1700" dirty="0"/>
          </a:p>
        </p:txBody>
      </p:sp>
      <p:sp>
        <p:nvSpPr>
          <p:cNvPr id="40" name="text-101"/>
          <p:cNvSpPr txBox="1"/>
          <p:nvPr/>
        </p:nvSpPr>
        <p:spPr>
          <a:xfrm>
            <a:off x="7031736" y="5138928"/>
            <a:ext cx="1691640" cy="731520"/>
          </a:xfrm>
          <a:prstGeom prst="rect">
            <a:avLst/>
          </a:prstGeom>
          <a:noFill/>
          <a:ln/>
        </p:spPr>
        <p:txBody>
          <a:bodyPr wrap="square" lIns="0" tIns="0" rIns="0" bIns="0" rtlCol="0" anchor="t"/>
          <a:lstStyle/>
          <a:p>
            <a:pPr indent="0" marL="0">
              <a:buNone/>
            </a:pPr>
            <a:r>
              <a:rPr lang="en-US" sz="1300" dirty="0">
                <a:solidFill>
                  <a:schemeClr val="accent5"/>
                </a:solidFill>
              </a:rPr>
              <a:t>an over-budget run fails</a:t>
            </a:r>
            <a:endParaRPr lang="en-US" sz="1300" dirty="0"/>
          </a:p>
        </p:txBody>
      </p:sp>
      <p:sp>
        <p:nvSpPr>
          <p:cNvPr id="41" name="card-102"/>
          <p:cNvSpPr/>
          <p:nvPr/>
        </p:nvSpPr>
        <p:spPr>
          <a:xfrm>
            <a:off x="8970264" y="4526280"/>
            <a:ext cx="2670048" cy="1371600"/>
          </a:xfrm>
          <a:prstGeom prst="roundRect">
            <a:avLst>
              <a:gd name="adj" fmla="val 8000"/>
            </a:avLst>
          </a:prstGeom>
          <a:solidFill>
            <a:schemeClr val="bg2"/>
          </a:solidFill>
          <a:ln/>
        </p:spPr>
      </p:sp>
      <p:sp>
        <p:nvSpPr>
          <p:cNvPr id="42" name="badge-103"/>
          <p:cNvSpPr/>
          <p:nvPr/>
        </p:nvSpPr>
        <p:spPr>
          <a:xfrm>
            <a:off x="9198864" y="4754880"/>
            <a:ext cx="502920" cy="502920"/>
          </a:xfrm>
          <a:prstGeom prst="ellipse">
            <a:avLst/>
          </a:prstGeom>
          <a:solidFill>
            <a:schemeClr val="accent5"/>
          </a:solidFill>
          <a:ln/>
        </p:spPr>
      </p:sp>
      <p:pic>
        <p:nvPicPr>
          <p:cNvPr id="43" name="icon-104" descr="preencoded.png">    </p:cNvPr>
          <p:cNvPicPr>
            <a:picLocks noChangeAspect="1"/>
          </p:cNvPicPr>
          <p:nvPr/>
        </p:nvPicPr>
        <p:blipFill>
          <a:blip r:embed="rId4"/>
          <a:stretch>
            <a:fillRect/>
          </a:stretch>
        </p:blipFill>
        <p:spPr>
          <a:xfrm>
            <a:off x="9329623" y="4885639"/>
            <a:ext cx="241402" cy="241402"/>
          </a:xfrm>
          <a:prstGeom prst="rect">
            <a:avLst/>
          </a:prstGeom>
        </p:spPr>
      </p:pic>
      <p:sp>
        <p:nvSpPr>
          <p:cNvPr id="44" name="text-105"/>
          <p:cNvSpPr txBox="1"/>
          <p:nvPr/>
        </p:nvSpPr>
        <p:spPr>
          <a:xfrm>
            <a:off x="9838944" y="4754880"/>
            <a:ext cx="1737360" cy="365760"/>
          </a:xfrm>
          <a:prstGeom prst="rect">
            <a:avLst/>
          </a:prstGeom>
          <a:noFill/>
          <a:ln/>
        </p:spPr>
        <p:txBody>
          <a:bodyPr wrap="square" lIns="0" tIns="0" rIns="0" bIns="0" rtlCol="0" anchor="t"/>
          <a:lstStyle/>
          <a:p>
            <a:pPr indent="0" marL="0">
              <a:buNone/>
            </a:pPr>
            <a:r>
              <a:rPr lang="en-US" sz="1700" b="1" dirty="0">
                <a:solidFill>
                  <a:schemeClr val="tx1"/>
                </a:solidFill>
              </a:rPr>
              <a:t>Hidden test set</a:t>
            </a:r>
            <a:endParaRPr lang="en-US" sz="1700" dirty="0"/>
          </a:p>
        </p:txBody>
      </p:sp>
      <p:sp>
        <p:nvSpPr>
          <p:cNvPr id="45" name="text-106"/>
          <p:cNvSpPr txBox="1"/>
          <p:nvPr/>
        </p:nvSpPr>
        <p:spPr>
          <a:xfrm>
            <a:off x="9838944" y="5138928"/>
            <a:ext cx="1691640" cy="731520"/>
          </a:xfrm>
          <a:prstGeom prst="rect">
            <a:avLst/>
          </a:prstGeom>
          <a:noFill/>
          <a:ln/>
        </p:spPr>
        <p:txBody>
          <a:bodyPr wrap="square" lIns="0" tIns="0" rIns="0" bIns="0" rtlCol="0" anchor="t"/>
          <a:lstStyle/>
          <a:p>
            <a:pPr indent="0" marL="0">
              <a:buNone/>
            </a:pPr>
            <a:r>
              <a:rPr lang="en-US" sz="1300" dirty="0">
                <a:solidFill>
                  <a:schemeClr val="accent5"/>
                </a:solidFill>
              </a:rPr>
              <a:t>notebook is re-run by Kaggle</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METHOD</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Three pretrained model families</a:t>
            </a:r>
            <a:endParaRPr lang="en-US" sz="3400" dirty="0"/>
          </a:p>
        </p:txBody>
      </p:sp>
      <p:sp>
        <p:nvSpPr>
          <p:cNvPr id="4" name="card-107"/>
          <p:cNvSpPr/>
          <p:nvPr/>
        </p:nvSpPr>
        <p:spPr>
          <a:xfrm>
            <a:off x="548640" y="1554480"/>
            <a:ext cx="3648456" cy="4343400"/>
          </a:xfrm>
          <a:prstGeom prst="roundRect">
            <a:avLst>
              <a:gd name="adj" fmla="val 3008"/>
            </a:avLst>
          </a:prstGeom>
          <a:solidFill>
            <a:schemeClr val="bg2"/>
          </a:solidFill>
          <a:ln/>
        </p:spPr>
      </p:sp>
      <p:sp>
        <p:nvSpPr>
          <p:cNvPr id="5" name="badge-108"/>
          <p:cNvSpPr/>
          <p:nvPr/>
        </p:nvSpPr>
        <p:spPr>
          <a:xfrm>
            <a:off x="822960" y="1783080"/>
            <a:ext cx="640080" cy="640080"/>
          </a:xfrm>
          <a:prstGeom prst="ellipse">
            <a:avLst/>
          </a:prstGeom>
          <a:solidFill>
            <a:schemeClr val="accent1"/>
          </a:solidFill>
          <a:ln/>
        </p:spPr>
      </p:sp>
      <p:pic>
        <p:nvPicPr>
          <p:cNvPr id="6" name="icon-109" descr="preencoded.png">    </p:cNvPr>
          <p:cNvPicPr>
            <a:picLocks noChangeAspect="1"/>
          </p:cNvPicPr>
          <p:nvPr/>
        </p:nvPicPr>
        <p:blipFill>
          <a:blip r:embed="rId1"/>
          <a:stretch>
            <a:fillRect/>
          </a:stretch>
        </p:blipFill>
        <p:spPr>
          <a:xfrm>
            <a:off x="989381" y="1949501"/>
            <a:ext cx="307238" cy="307238"/>
          </a:xfrm>
          <a:prstGeom prst="rect">
            <a:avLst/>
          </a:prstGeom>
        </p:spPr>
      </p:pic>
      <p:sp>
        <p:nvSpPr>
          <p:cNvPr id="7" name="text-110"/>
          <p:cNvSpPr txBox="1"/>
          <p:nvPr/>
        </p:nvSpPr>
        <p:spPr>
          <a:xfrm>
            <a:off x="822960" y="2606040"/>
            <a:ext cx="3099816" cy="411480"/>
          </a:xfrm>
          <a:prstGeom prst="rect">
            <a:avLst/>
          </a:prstGeom>
          <a:noFill/>
          <a:ln/>
        </p:spPr>
        <p:txBody>
          <a:bodyPr wrap="square" lIns="0" tIns="0" rIns="0" bIns="0" rtlCol="0" anchor="t"/>
          <a:lstStyle/>
          <a:p>
            <a:pPr indent="0" marL="0">
              <a:buNone/>
            </a:pPr>
            <a:r>
              <a:rPr lang="en-US" sz="2000" b="1" dirty="0">
                <a:solidFill>
                  <a:schemeClr val="tx1"/>
                </a:solidFill>
              </a:rPr>
              <a:t>DINOv3 ViT-S/16</a:t>
            </a:r>
            <a:endParaRPr lang="en-US" sz="2000" dirty="0"/>
          </a:p>
        </p:txBody>
      </p:sp>
      <p:sp>
        <p:nvSpPr>
          <p:cNvPr id="8" name="text-111"/>
          <p:cNvSpPr txBox="1"/>
          <p:nvPr/>
        </p:nvSpPr>
        <p:spPr>
          <a:xfrm>
            <a:off x="822960" y="3063240"/>
            <a:ext cx="3099816" cy="1005840"/>
          </a:xfrm>
          <a:prstGeom prst="rect">
            <a:avLst/>
          </a:prstGeom>
          <a:noFill/>
          <a:ln/>
        </p:spPr>
        <p:txBody>
          <a:bodyPr wrap="square" lIns="0" tIns="0" rIns="0" bIns="0" rtlCol="0" anchor="t"/>
          <a:lstStyle/>
          <a:p>
            <a:pPr indent="0" marL="0">
              <a:buNone/>
            </a:pPr>
            <a:r>
              <a:rPr lang="en-US" sz="1400" dirty="0">
                <a:solidFill>
                  <a:schemeClr val="tx2"/>
                </a:solidFill>
              </a:rPr>
              <a:t>Self-supervised vision transformer (Meta). Splits slices into 16×16 patches and applies multi-head self-attention.</a:t>
            </a:r>
            <a:endParaRPr lang="en-US" sz="1400" dirty="0"/>
          </a:p>
        </p:txBody>
      </p:sp>
      <p:sp>
        <p:nvSpPr>
          <p:cNvPr id="9" name="text-112"/>
          <p:cNvSpPr txBox="1"/>
          <p:nvPr/>
        </p:nvSpPr>
        <p:spPr>
          <a:xfrm>
            <a:off x="822960" y="4114800"/>
            <a:ext cx="3099816" cy="228600"/>
          </a:xfrm>
          <a:prstGeom prst="rect">
            <a:avLst/>
          </a:prstGeom>
          <a:noFill/>
          <a:ln/>
        </p:spPr>
        <p:txBody>
          <a:bodyPr wrap="square" lIns="0" tIns="0" rIns="0" bIns="0" rtlCol="0" anchor="t"/>
          <a:lstStyle/>
          <a:p>
            <a:pPr indent="0" marL="0">
              <a:buNone/>
            </a:pPr>
            <a:r>
              <a:rPr lang="en-US" sz="1000" b="1" spc="200" kern="0" dirty="0">
                <a:solidFill>
                  <a:schemeClr val="accent5"/>
                </a:solidFill>
              </a:rPr>
              <a:t>ROLE HERE</a:t>
            </a:r>
            <a:endParaRPr lang="en-US" sz="1000" dirty="0"/>
          </a:p>
        </p:txBody>
      </p:sp>
      <p:sp>
        <p:nvSpPr>
          <p:cNvPr id="10" name="text-113"/>
          <p:cNvSpPr txBox="1"/>
          <p:nvPr/>
        </p:nvSpPr>
        <p:spPr>
          <a:xfrm>
            <a:off x="822960" y="4361688"/>
            <a:ext cx="3099816" cy="685800"/>
          </a:xfrm>
          <a:prstGeom prst="rect">
            <a:avLst/>
          </a:prstGeom>
          <a:noFill/>
          <a:ln/>
        </p:spPr>
        <p:txBody>
          <a:bodyPr wrap="square" lIns="0" tIns="0" rIns="0" bIns="0" rtlCol="0" anchor="t"/>
          <a:lstStyle/>
          <a:p>
            <a:pPr indent="0" marL="0">
              <a:buNone/>
            </a:pPr>
            <a:r>
              <a:rPr lang="en-US" sz="1400" b="1" dirty="0">
                <a:solidFill>
                  <a:schemeClr val="tx1"/>
                </a:solidFill>
              </a:rPr>
              <a:t>20 ensemble members + 5 A5 folds with slot-attention pooling.</a:t>
            </a:r>
            <a:endParaRPr lang="en-US" sz="1400" dirty="0"/>
          </a:p>
        </p:txBody>
      </p:sp>
      <p:sp>
        <p:nvSpPr>
          <p:cNvPr id="11" name="text-114"/>
          <p:cNvSpPr txBox="1"/>
          <p:nvPr/>
        </p:nvSpPr>
        <p:spPr>
          <a:xfrm>
            <a:off x="822960" y="5212080"/>
            <a:ext cx="3099816" cy="548640"/>
          </a:xfrm>
          <a:prstGeom prst="rect">
            <a:avLst/>
          </a:prstGeom>
          <a:noFill/>
          <a:ln/>
        </p:spPr>
        <p:txBody>
          <a:bodyPr wrap="square" lIns="0" tIns="0" rIns="0" bIns="0" rtlCol="0" anchor="t"/>
          <a:lstStyle/>
          <a:p>
            <a:pPr indent="0" marL="0">
              <a:buNone/>
            </a:pPr>
            <a:r>
              <a:rPr lang="en-US" sz="1100" dirty="0">
                <a:solidFill>
                  <a:schemeClr val="accent5"/>
                </a:solidFill>
              </a:rPr>
              <a:t>Weights: pilkwang; M. Angeli (A5 folds)</a:t>
            </a:r>
            <a:endParaRPr lang="en-US" sz="1100" dirty="0"/>
          </a:p>
        </p:txBody>
      </p:sp>
      <p:sp>
        <p:nvSpPr>
          <p:cNvPr id="12" name="card-115"/>
          <p:cNvSpPr/>
          <p:nvPr/>
        </p:nvSpPr>
        <p:spPr>
          <a:xfrm>
            <a:off x="4270248" y="1554480"/>
            <a:ext cx="3648456" cy="4343400"/>
          </a:xfrm>
          <a:prstGeom prst="roundRect">
            <a:avLst>
              <a:gd name="adj" fmla="val 3008"/>
            </a:avLst>
          </a:prstGeom>
          <a:solidFill>
            <a:schemeClr val="bg2"/>
          </a:solidFill>
          <a:ln/>
        </p:spPr>
      </p:sp>
      <p:sp>
        <p:nvSpPr>
          <p:cNvPr id="13" name="badge-116"/>
          <p:cNvSpPr/>
          <p:nvPr/>
        </p:nvSpPr>
        <p:spPr>
          <a:xfrm>
            <a:off x="4544568" y="1783080"/>
            <a:ext cx="640080" cy="640080"/>
          </a:xfrm>
          <a:prstGeom prst="ellipse">
            <a:avLst/>
          </a:prstGeom>
          <a:solidFill>
            <a:schemeClr val="accent2"/>
          </a:solidFill>
          <a:ln/>
        </p:spPr>
      </p:sp>
      <p:pic>
        <p:nvPicPr>
          <p:cNvPr id="14" name="icon-117" descr="preencoded.png">    </p:cNvPr>
          <p:cNvPicPr>
            <a:picLocks noChangeAspect="1"/>
          </p:cNvPicPr>
          <p:nvPr/>
        </p:nvPicPr>
        <p:blipFill>
          <a:blip r:embed="rId2"/>
          <a:stretch>
            <a:fillRect/>
          </a:stretch>
        </p:blipFill>
        <p:spPr>
          <a:xfrm>
            <a:off x="4710989" y="1949501"/>
            <a:ext cx="307238" cy="307238"/>
          </a:xfrm>
          <a:prstGeom prst="rect">
            <a:avLst/>
          </a:prstGeom>
        </p:spPr>
      </p:pic>
      <p:sp>
        <p:nvSpPr>
          <p:cNvPr id="15" name="text-118"/>
          <p:cNvSpPr txBox="1"/>
          <p:nvPr/>
        </p:nvSpPr>
        <p:spPr>
          <a:xfrm>
            <a:off x="4544568" y="2606040"/>
            <a:ext cx="3099816" cy="411480"/>
          </a:xfrm>
          <a:prstGeom prst="rect">
            <a:avLst/>
          </a:prstGeom>
          <a:noFill/>
          <a:ln/>
        </p:spPr>
        <p:txBody>
          <a:bodyPr wrap="square" lIns="0" tIns="0" rIns="0" bIns="0" rtlCol="0" anchor="t"/>
          <a:lstStyle/>
          <a:p>
            <a:pPr indent="0" marL="0">
              <a:buNone/>
            </a:pPr>
            <a:r>
              <a:rPr lang="en-US" sz="2000" b="1" dirty="0">
                <a:solidFill>
                  <a:schemeClr val="tx1"/>
                </a:solidFill>
              </a:rPr>
              <a:t>RadImageNet ResNet-50</a:t>
            </a:r>
            <a:endParaRPr lang="en-US" sz="2000" dirty="0"/>
          </a:p>
        </p:txBody>
      </p:sp>
      <p:sp>
        <p:nvSpPr>
          <p:cNvPr id="16" name="text-119"/>
          <p:cNvSpPr txBox="1"/>
          <p:nvPr/>
        </p:nvSpPr>
        <p:spPr>
          <a:xfrm>
            <a:off x="4544568" y="3063240"/>
            <a:ext cx="3099816" cy="1005840"/>
          </a:xfrm>
          <a:prstGeom prst="rect">
            <a:avLst/>
          </a:prstGeom>
          <a:noFill/>
          <a:ln/>
        </p:spPr>
        <p:txBody>
          <a:bodyPr wrap="square" lIns="0" tIns="0" rIns="0" bIns="0" rtlCol="0" anchor="t"/>
          <a:lstStyle/>
          <a:p>
            <a:pPr indent="0" marL="0">
              <a:buNone/>
            </a:pPr>
            <a:r>
              <a:rPr lang="en-US" sz="1400" dirty="0">
                <a:solidFill>
                  <a:schemeClr val="tx2"/>
                </a:solidFill>
              </a:rPr>
              <a:t>Convolutional network pretrained on radiology images rather than natural images.</a:t>
            </a:r>
            <a:endParaRPr lang="en-US" sz="1400" dirty="0"/>
          </a:p>
        </p:txBody>
      </p:sp>
      <p:sp>
        <p:nvSpPr>
          <p:cNvPr id="17" name="text-120"/>
          <p:cNvSpPr txBox="1"/>
          <p:nvPr/>
        </p:nvSpPr>
        <p:spPr>
          <a:xfrm>
            <a:off x="4544568" y="4114800"/>
            <a:ext cx="3099816" cy="228600"/>
          </a:xfrm>
          <a:prstGeom prst="rect">
            <a:avLst/>
          </a:prstGeom>
          <a:noFill/>
          <a:ln/>
        </p:spPr>
        <p:txBody>
          <a:bodyPr wrap="square" lIns="0" tIns="0" rIns="0" bIns="0" rtlCol="0" anchor="t"/>
          <a:lstStyle/>
          <a:p>
            <a:pPr indent="0" marL="0">
              <a:buNone/>
            </a:pPr>
            <a:r>
              <a:rPr lang="en-US" sz="1000" b="1" spc="200" kern="0" dirty="0">
                <a:solidFill>
                  <a:schemeClr val="accent5"/>
                </a:solidFill>
              </a:rPr>
              <a:t>ROLE HERE</a:t>
            </a:r>
            <a:endParaRPr lang="en-US" sz="1000" dirty="0"/>
          </a:p>
        </p:txBody>
      </p:sp>
      <p:sp>
        <p:nvSpPr>
          <p:cNvPr id="18" name="text-121"/>
          <p:cNvSpPr txBox="1"/>
          <p:nvPr/>
        </p:nvSpPr>
        <p:spPr>
          <a:xfrm>
            <a:off x="4544568" y="4361688"/>
            <a:ext cx="3099816" cy="685800"/>
          </a:xfrm>
          <a:prstGeom prst="rect">
            <a:avLst/>
          </a:prstGeom>
          <a:noFill/>
          <a:ln/>
        </p:spPr>
        <p:txBody>
          <a:bodyPr wrap="square" lIns="0" tIns="0" rIns="0" bIns="0" rtlCol="0" anchor="t"/>
          <a:lstStyle/>
          <a:p>
            <a:pPr indent="0" marL="0">
              <a:buNone/>
            </a:pPr>
            <a:r>
              <a:rPr lang="en-US" sz="1400" b="1" dirty="0">
                <a:solidFill>
                  <a:schemeClr val="tx1"/>
                </a:solidFill>
              </a:rPr>
              <a:t>Frozen feature extractor feeding Rad heads and a frozen calibrator.</a:t>
            </a:r>
            <a:endParaRPr lang="en-US" sz="1400" dirty="0"/>
          </a:p>
        </p:txBody>
      </p:sp>
      <p:sp>
        <p:nvSpPr>
          <p:cNvPr id="19" name="text-122"/>
          <p:cNvSpPr txBox="1"/>
          <p:nvPr/>
        </p:nvSpPr>
        <p:spPr>
          <a:xfrm>
            <a:off x="4544568" y="5212080"/>
            <a:ext cx="3099816" cy="548640"/>
          </a:xfrm>
          <a:prstGeom prst="rect">
            <a:avLst/>
          </a:prstGeom>
          <a:noFill/>
          <a:ln/>
        </p:spPr>
        <p:txBody>
          <a:bodyPr wrap="square" lIns="0" tIns="0" rIns="0" bIns="0" rtlCol="0" anchor="t"/>
          <a:lstStyle/>
          <a:p>
            <a:pPr indent="0" marL="0">
              <a:buNone/>
            </a:pPr>
            <a:r>
              <a:rPr lang="en-US" sz="1100" dirty="0">
                <a:solidFill>
                  <a:schemeClr val="accent5"/>
                </a:solidFill>
              </a:rPr>
              <a:t>Heads: Antoine, S. Anjenje; encoder mirror: Marwan</a:t>
            </a:r>
            <a:endParaRPr lang="en-US" sz="1100" dirty="0"/>
          </a:p>
        </p:txBody>
      </p:sp>
      <p:sp>
        <p:nvSpPr>
          <p:cNvPr id="20" name="card-123"/>
          <p:cNvSpPr/>
          <p:nvPr/>
        </p:nvSpPr>
        <p:spPr>
          <a:xfrm>
            <a:off x="7991856" y="1554480"/>
            <a:ext cx="3648456" cy="4343400"/>
          </a:xfrm>
          <a:prstGeom prst="roundRect">
            <a:avLst>
              <a:gd name="adj" fmla="val 3008"/>
            </a:avLst>
          </a:prstGeom>
          <a:solidFill>
            <a:schemeClr val="bg2"/>
          </a:solidFill>
          <a:ln/>
        </p:spPr>
      </p:sp>
      <p:sp>
        <p:nvSpPr>
          <p:cNvPr id="21" name="badge-124"/>
          <p:cNvSpPr/>
          <p:nvPr/>
        </p:nvSpPr>
        <p:spPr>
          <a:xfrm>
            <a:off x="8266176" y="1783080"/>
            <a:ext cx="640080" cy="640080"/>
          </a:xfrm>
          <a:prstGeom prst="ellipse">
            <a:avLst/>
          </a:prstGeom>
          <a:solidFill>
            <a:schemeClr val="accent3"/>
          </a:solidFill>
          <a:ln/>
        </p:spPr>
      </p:sp>
      <p:pic>
        <p:nvPicPr>
          <p:cNvPr id="22" name="icon-125" descr="preencoded.png">    </p:cNvPr>
          <p:cNvPicPr>
            <a:picLocks noChangeAspect="1"/>
          </p:cNvPicPr>
          <p:nvPr/>
        </p:nvPicPr>
        <p:blipFill>
          <a:blip r:embed="rId3"/>
          <a:stretch>
            <a:fillRect/>
          </a:stretch>
        </p:blipFill>
        <p:spPr>
          <a:xfrm>
            <a:off x="8432597" y="1949501"/>
            <a:ext cx="307238" cy="307238"/>
          </a:xfrm>
          <a:prstGeom prst="rect">
            <a:avLst/>
          </a:prstGeom>
        </p:spPr>
      </p:pic>
      <p:sp>
        <p:nvSpPr>
          <p:cNvPr id="23" name="text-126"/>
          <p:cNvSpPr txBox="1"/>
          <p:nvPr/>
        </p:nvSpPr>
        <p:spPr>
          <a:xfrm>
            <a:off x="8266176" y="2606040"/>
            <a:ext cx="3099816" cy="411480"/>
          </a:xfrm>
          <a:prstGeom prst="rect">
            <a:avLst/>
          </a:prstGeom>
          <a:noFill/>
          <a:ln/>
        </p:spPr>
        <p:txBody>
          <a:bodyPr wrap="square" lIns="0" tIns="0" rIns="0" bIns="0" rtlCol="0" anchor="t"/>
          <a:lstStyle/>
          <a:p>
            <a:pPr indent="0" marL="0">
              <a:buNone/>
            </a:pPr>
            <a:r>
              <a:rPr lang="en-US" sz="2000" b="1" dirty="0">
                <a:solidFill>
                  <a:schemeClr val="tx1"/>
                </a:solidFill>
              </a:rPr>
              <a:t>CoAtNet hybrid</a:t>
            </a:r>
            <a:endParaRPr lang="en-US" sz="2000" dirty="0"/>
          </a:p>
        </p:txBody>
      </p:sp>
      <p:sp>
        <p:nvSpPr>
          <p:cNvPr id="24" name="text-127"/>
          <p:cNvSpPr txBox="1"/>
          <p:nvPr/>
        </p:nvSpPr>
        <p:spPr>
          <a:xfrm>
            <a:off x="8266176" y="3063240"/>
            <a:ext cx="3099816" cy="1005840"/>
          </a:xfrm>
          <a:prstGeom prst="rect">
            <a:avLst/>
          </a:prstGeom>
          <a:noFill/>
          <a:ln/>
        </p:spPr>
        <p:txBody>
          <a:bodyPr wrap="square" lIns="0" tIns="0" rIns="0" bIns="0" rtlCol="0" anchor="t"/>
          <a:lstStyle/>
          <a:p>
            <a:pPr indent="0" marL="0">
              <a:buNone/>
            </a:pPr>
            <a:r>
              <a:rPr lang="en-US" sz="1400" dirty="0">
                <a:solidFill>
                  <a:schemeClr val="tx2"/>
                </a:solidFill>
              </a:rPr>
              <a:t>Convolution blocks (MBConv) combined with transformer self-attention, run over several MRI views.</a:t>
            </a:r>
            <a:endParaRPr lang="en-US" sz="1400" dirty="0"/>
          </a:p>
        </p:txBody>
      </p:sp>
      <p:sp>
        <p:nvSpPr>
          <p:cNvPr id="25" name="text-128"/>
          <p:cNvSpPr txBox="1"/>
          <p:nvPr/>
        </p:nvSpPr>
        <p:spPr>
          <a:xfrm>
            <a:off x="8266176" y="4114800"/>
            <a:ext cx="3099816" cy="228600"/>
          </a:xfrm>
          <a:prstGeom prst="rect">
            <a:avLst/>
          </a:prstGeom>
          <a:noFill/>
          <a:ln/>
        </p:spPr>
        <p:txBody>
          <a:bodyPr wrap="square" lIns="0" tIns="0" rIns="0" bIns="0" rtlCol="0" anchor="t"/>
          <a:lstStyle/>
          <a:p>
            <a:pPr indent="0" marL="0">
              <a:buNone/>
            </a:pPr>
            <a:r>
              <a:rPr lang="en-US" sz="1000" b="1" spc="200" kern="0" dirty="0">
                <a:solidFill>
                  <a:schemeClr val="accent5"/>
                </a:solidFill>
              </a:rPr>
              <a:t>ROLE HERE</a:t>
            </a:r>
            <a:endParaRPr lang="en-US" sz="1000" dirty="0"/>
          </a:p>
        </p:txBody>
      </p:sp>
      <p:sp>
        <p:nvSpPr>
          <p:cNvPr id="26" name="text-129"/>
          <p:cNvSpPr txBox="1"/>
          <p:nvPr/>
        </p:nvSpPr>
        <p:spPr>
          <a:xfrm>
            <a:off x="8266176" y="4361688"/>
            <a:ext cx="3099816" cy="685800"/>
          </a:xfrm>
          <a:prstGeom prst="rect">
            <a:avLst/>
          </a:prstGeom>
          <a:noFill/>
          <a:ln/>
        </p:spPr>
        <p:txBody>
          <a:bodyPr wrap="square" lIns="0" tIns="0" rIns="0" bIns="0" rtlCol="0" anchor="t"/>
          <a:lstStyle/>
          <a:p>
            <a:pPr indent="0" marL="0">
              <a:buNone/>
            </a:pPr>
            <a:r>
              <a:rPr lang="en-US" sz="1400" b="1" dirty="0">
                <a:solidFill>
                  <a:schemeClr val="tx1"/>
                </a:solidFill>
              </a:rPr>
              <a:t>Raptor 4-arm model plus a residual CoAtNet (epochs 4, 6, 8).</a:t>
            </a:r>
            <a:endParaRPr lang="en-US" sz="1400" dirty="0"/>
          </a:p>
        </p:txBody>
      </p:sp>
      <p:sp>
        <p:nvSpPr>
          <p:cNvPr id="27" name="text-130"/>
          <p:cNvSpPr txBox="1"/>
          <p:nvPr/>
        </p:nvSpPr>
        <p:spPr>
          <a:xfrm>
            <a:off x="8266176" y="5212080"/>
            <a:ext cx="3099816" cy="548640"/>
          </a:xfrm>
          <a:prstGeom prst="rect">
            <a:avLst/>
          </a:prstGeom>
          <a:noFill/>
          <a:ln/>
        </p:spPr>
        <p:txBody>
          <a:bodyPr wrap="square" lIns="0" tIns="0" rIns="0" bIns="0" rtlCol="0" anchor="t"/>
          <a:lstStyle/>
          <a:p>
            <a:pPr indent="0" marL="0">
              <a:buNone/>
            </a:pPr>
            <a:r>
              <a:rPr lang="en-US" sz="1100" dirty="0">
                <a:solidFill>
                  <a:schemeClr val="accent5"/>
                </a:solidFill>
              </a:rPr>
              <a:t>Weights: J. Wagner (DreadDevelopment); M. Angeli</a:t>
            </a:r>
            <a:endParaRPr lang="en-US" sz="1100" dirty="0"/>
          </a:p>
        </p:txBody>
      </p:sp>
      <p:sp>
        <p:nvSpPr>
          <p:cNvPr id="28" name="text-131"/>
          <p:cNvSpPr txBox="1"/>
          <p:nvPr/>
        </p:nvSpPr>
        <p:spPr>
          <a:xfrm>
            <a:off x="548640" y="6016752"/>
            <a:ext cx="8229600" cy="274320"/>
          </a:xfrm>
          <a:prstGeom prst="rect">
            <a:avLst/>
          </a:prstGeom>
          <a:noFill/>
          <a:ln/>
        </p:spPr>
        <p:txBody>
          <a:bodyPr wrap="square" lIns="0" tIns="0" rIns="0" bIns="0" rtlCol="0" anchor="t"/>
          <a:lstStyle/>
          <a:p>
            <a:pPr indent="0" marL="0">
              <a:buNone/>
            </a:pPr>
            <a:r>
              <a:rPr lang="en-US" sz="1200" dirty="0">
                <a:solidFill>
                  <a:schemeClr val="accent5"/>
                </a:solidFill>
              </a:rPr>
              <a:t>All weights are public releases, credited on the References slide.</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METHOD</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What we built on, and what we added</a:t>
            </a:r>
            <a:endParaRPr lang="en-US" sz="3400" dirty="0"/>
          </a:p>
        </p:txBody>
      </p:sp>
      <p:sp>
        <p:nvSpPr>
          <p:cNvPr id="4" name="card-132"/>
          <p:cNvSpPr/>
          <p:nvPr/>
        </p:nvSpPr>
        <p:spPr>
          <a:xfrm>
            <a:off x="548640" y="1554480"/>
            <a:ext cx="5349240" cy="4434840"/>
          </a:xfrm>
          <a:prstGeom prst="roundRect">
            <a:avLst>
              <a:gd name="adj" fmla="val 2474"/>
            </a:avLst>
          </a:prstGeom>
          <a:solidFill>
            <a:schemeClr val="bg2"/>
          </a:solidFill>
          <a:ln/>
        </p:spPr>
      </p:sp>
      <p:sp>
        <p:nvSpPr>
          <p:cNvPr id="5" name="text-133"/>
          <p:cNvSpPr txBox="1"/>
          <p:nvPr/>
        </p:nvSpPr>
        <p:spPr>
          <a:xfrm>
            <a:off x="868680" y="1783080"/>
            <a:ext cx="47548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BUILT ON  (public releases)</a:t>
            </a:r>
            <a:endParaRPr lang="en-US" sz="1200" dirty="0"/>
          </a:p>
        </p:txBody>
      </p:sp>
      <p:sp>
        <p:nvSpPr>
          <p:cNvPr id="6" name="Text 4"/>
          <p:cNvSpPr txBox="1"/>
          <p:nvPr/>
        </p:nvSpPr>
        <p:spPr>
          <a:xfrm>
            <a:off x="868680" y="2194560"/>
            <a:ext cx="4754880" cy="365760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chemeClr val="tx2"/>
                </a:solidFill>
              </a:rPr>
              <a:t>Pretrained weights and inference code for the DINO members, A5 folds, Rad heads, Raptor CoAtNet and residual CoAtNet</a:t>
            </a:r>
            <a:endParaRPr lang="en-US" sz="1500" dirty="0"/>
          </a:p>
          <a:p>
            <a:pPr marL="203200" indent="-203200">
              <a:spcAft>
                <a:spcPts val="1200"/>
              </a:spcAft>
              <a:buSzPct val="100000"/>
              <a:buChar char="•"/>
            </a:pPr>
            <a:r>
              <a:rPr lang="en-US" sz="1500" dirty="0">
                <a:solidFill>
                  <a:schemeClr val="tx2"/>
                </a:solidFill>
              </a:rPr>
              <a:t>M. Angeli's V27 prediction graph, which our parent submission (V17, public 0.940) reproduces</a:t>
            </a:r>
            <a:endParaRPr lang="en-US" sz="1500" dirty="0"/>
          </a:p>
          <a:p>
            <a:pPr marL="203200" indent="-203200">
              <a:spcAft>
                <a:spcPts val="1200"/>
              </a:spcAft>
              <a:buSzPct val="100000"/>
              <a:buChar char="•"/>
            </a:pPr>
            <a:r>
              <a:rPr lang="en-US" sz="1500" dirty="0">
                <a:solidFill>
                  <a:schemeClr val="tx2"/>
                </a:solidFill>
              </a:rPr>
              <a:t>Meta's DINOv3 and RadImageNet backbones</a:t>
            </a:r>
            <a:endParaRPr lang="en-US" sz="1500" dirty="0"/>
          </a:p>
          <a:p>
            <a:pPr marL="203200" indent="-203200">
              <a:spcAft>
                <a:spcPts val="1200"/>
              </a:spcAft>
              <a:buSzPct val="100000"/>
              <a:buChar char="•"/>
            </a:pPr>
            <a:r>
              <a:rPr lang="en-US" sz="1500" dirty="0">
                <a:solidFill>
                  <a:schemeClr val="tx2"/>
                </a:solidFill>
              </a:rPr>
              <a:t>15 public Kaggle inputs, each pinned by version and attached offline</a:t>
            </a:r>
            <a:endParaRPr lang="en-US" sz="1500" dirty="0"/>
          </a:p>
          <a:p>
            <a:pPr marL="203200" indent="-203200">
              <a:spcAft>
                <a:spcPts val="1200"/>
              </a:spcAft>
              <a:buSzPct val="100000"/>
              <a:buChar char="•"/>
            </a:pPr>
            <a:r>
              <a:rPr lang="en-US" sz="1500" dirty="0">
                <a:solidFill>
                  <a:schemeClr val="tx2"/>
                </a:solidFill>
              </a:rPr>
              <a:t>Apache 2.0 notebook code; CC0 weight datasets; RadImageNet heads CC-BY-NC-SA 4.0</a:t>
            </a:r>
            <a:endParaRPr lang="en-US" sz="1500" dirty="0"/>
          </a:p>
        </p:txBody>
      </p:sp>
      <p:sp>
        <p:nvSpPr>
          <p:cNvPr id="7" name="card-134"/>
          <p:cNvSpPr/>
          <p:nvPr/>
        </p:nvSpPr>
        <p:spPr>
          <a:xfrm>
            <a:off x="6080760" y="1554480"/>
            <a:ext cx="5559552" cy="4434840"/>
          </a:xfrm>
          <a:prstGeom prst="roundRect">
            <a:avLst>
              <a:gd name="adj" fmla="val 2474"/>
            </a:avLst>
          </a:prstGeom>
          <a:solidFill>
            <a:schemeClr val="accent4">
              <a:alpha val="10000"/>
            </a:schemeClr>
          </a:solidFill>
          <a:ln/>
        </p:spPr>
      </p:sp>
      <p:sp>
        <p:nvSpPr>
          <p:cNvPr id="8" name="text-135"/>
          <p:cNvSpPr txBox="1"/>
          <p:nvPr/>
        </p:nvSpPr>
        <p:spPr>
          <a:xfrm>
            <a:off x="6400800" y="1783080"/>
            <a:ext cx="49377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ADDED IN THIS PROJECT</a:t>
            </a:r>
            <a:endParaRPr lang="en-US" sz="1200" dirty="0"/>
          </a:p>
        </p:txBody>
      </p:sp>
      <p:sp>
        <p:nvSpPr>
          <p:cNvPr id="9" name="letter-136"/>
          <p:cNvSpPr/>
          <p:nvPr/>
        </p:nvSpPr>
        <p:spPr>
          <a:xfrm>
            <a:off x="6400800" y="2286000"/>
            <a:ext cx="457200" cy="45720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0" name="text-137"/>
          <p:cNvSpPr txBox="1"/>
          <p:nvPr/>
        </p:nvSpPr>
        <p:spPr>
          <a:xfrm>
            <a:off x="7040880" y="2240280"/>
            <a:ext cx="4480560" cy="365760"/>
          </a:xfrm>
          <a:prstGeom prst="rect">
            <a:avLst/>
          </a:prstGeom>
          <a:noFill/>
          <a:ln/>
        </p:spPr>
        <p:txBody>
          <a:bodyPr wrap="square" lIns="0" tIns="0" rIns="0" bIns="0" rtlCol="0" anchor="t"/>
          <a:lstStyle/>
          <a:p>
            <a:pPr indent="0" marL="0">
              <a:buNone/>
            </a:pPr>
            <a:r>
              <a:rPr lang="en-US" sz="1700" b="1" dirty="0">
                <a:solidFill>
                  <a:schemeClr val="tx1"/>
                </a:solidFill>
              </a:rPr>
              <a:t>Native E11 head residual</a:t>
            </a:r>
            <a:endParaRPr lang="en-US" sz="1700" dirty="0"/>
          </a:p>
        </p:txBody>
      </p:sp>
      <p:sp>
        <p:nvSpPr>
          <p:cNvPr id="11" name="text-138"/>
          <p:cNvSpPr txBox="1"/>
          <p:nvPr/>
        </p:nvSpPr>
        <p:spPr>
          <a:xfrm>
            <a:off x="7040880" y="2606040"/>
            <a:ext cx="4480560" cy="365760"/>
          </a:xfrm>
          <a:prstGeom prst="rect">
            <a:avLst/>
          </a:prstGeom>
          <a:noFill/>
          <a:ln/>
        </p:spPr>
        <p:txBody>
          <a:bodyPr wrap="square" lIns="0" tIns="0" rIns="0" bIns="0" rtlCol="0" anchor="t"/>
          <a:lstStyle/>
          <a:p>
            <a:pPr indent="0" marL="0">
              <a:buNone/>
            </a:pPr>
            <a:r>
              <a:rPr lang="en-US" sz="1400" dirty="0">
                <a:solidFill>
                  <a:schemeClr val="tx2"/>
                </a:solidFill>
              </a:rPr>
              <a:t>new post-calibration signal</a:t>
            </a:r>
            <a:endParaRPr lang="en-US" sz="1400" dirty="0"/>
          </a:p>
        </p:txBody>
      </p:sp>
      <p:sp>
        <p:nvSpPr>
          <p:cNvPr id="12" name="letter-139"/>
          <p:cNvSpPr/>
          <p:nvPr/>
        </p:nvSpPr>
        <p:spPr>
          <a:xfrm>
            <a:off x="6400800" y="3200400"/>
            <a:ext cx="457200" cy="45720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text-140"/>
          <p:cNvSpPr txBox="1"/>
          <p:nvPr/>
        </p:nvSpPr>
        <p:spPr>
          <a:xfrm>
            <a:off x="7040880" y="3154680"/>
            <a:ext cx="4480560" cy="365760"/>
          </a:xfrm>
          <a:prstGeom prst="rect">
            <a:avLst/>
          </a:prstGeom>
          <a:noFill/>
          <a:ln/>
        </p:spPr>
        <p:txBody>
          <a:bodyPr wrap="square" lIns="0" tIns="0" rIns="0" bIns="0" rtlCol="0" anchor="t"/>
          <a:lstStyle/>
          <a:p>
            <a:pPr indent="0" marL="0">
              <a:buNone/>
            </a:pPr>
            <a:r>
              <a:rPr lang="en-US" sz="1700" b="1" dirty="0">
                <a:solidFill>
                  <a:schemeClr val="tx1"/>
                </a:solidFill>
              </a:rPr>
              <a:t>Alternate Rad family residual</a:t>
            </a:r>
            <a:endParaRPr lang="en-US" sz="1700" dirty="0"/>
          </a:p>
        </p:txBody>
      </p:sp>
      <p:sp>
        <p:nvSpPr>
          <p:cNvPr id="14" name="text-141"/>
          <p:cNvSpPr txBox="1"/>
          <p:nvPr/>
        </p:nvSpPr>
        <p:spPr>
          <a:xfrm>
            <a:off x="7040880" y="3520440"/>
            <a:ext cx="4480560" cy="365760"/>
          </a:xfrm>
          <a:prstGeom prst="rect">
            <a:avLst/>
          </a:prstGeom>
          <a:noFill/>
          <a:ln/>
        </p:spPr>
        <p:txBody>
          <a:bodyPr wrap="square" lIns="0" tIns="0" rIns="0" bIns="0" rtlCol="0" anchor="t"/>
          <a:lstStyle/>
          <a:p>
            <a:pPr indent="0" marL="0">
              <a:buNone/>
            </a:pPr>
            <a:r>
              <a:rPr lang="en-US" sz="1400" dirty="0">
                <a:solidFill>
                  <a:schemeClr val="tx2"/>
                </a:solidFill>
              </a:rPr>
              <a:t>activates diagnostic predictions</a:t>
            </a:r>
            <a:endParaRPr lang="en-US" sz="1400" dirty="0"/>
          </a:p>
        </p:txBody>
      </p:sp>
      <p:sp>
        <p:nvSpPr>
          <p:cNvPr id="15" name="letter-142"/>
          <p:cNvSpPr/>
          <p:nvPr/>
        </p:nvSpPr>
        <p:spPr>
          <a:xfrm>
            <a:off x="6400800" y="4114800"/>
            <a:ext cx="457200" cy="45720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G</a:t>
            </a:r>
            <a:endParaRPr lang="en-US" sz="1200" dirty="0"/>
          </a:p>
        </p:txBody>
      </p:sp>
      <p:sp>
        <p:nvSpPr>
          <p:cNvPr id="16" name="text-143"/>
          <p:cNvSpPr txBox="1"/>
          <p:nvPr/>
        </p:nvSpPr>
        <p:spPr>
          <a:xfrm>
            <a:off x="7040880" y="4069080"/>
            <a:ext cx="4480560" cy="365760"/>
          </a:xfrm>
          <a:prstGeom prst="rect">
            <a:avLst/>
          </a:prstGeom>
          <a:noFill/>
          <a:ln/>
        </p:spPr>
        <p:txBody>
          <a:bodyPr wrap="square" lIns="0" tIns="0" rIns="0" bIns="0" rtlCol="0" anchor="t"/>
          <a:lstStyle/>
          <a:p>
            <a:pPr indent="0" marL="0">
              <a:buNone/>
            </a:pPr>
            <a:r>
              <a:rPr lang="en-US" sz="1700" b="1" dirty="0">
                <a:solidFill>
                  <a:schemeClr val="tx1"/>
                </a:solidFill>
              </a:rPr>
              <a:t>Raptor gain marginalisation</a:t>
            </a:r>
            <a:endParaRPr lang="en-US" sz="1700" dirty="0"/>
          </a:p>
        </p:txBody>
      </p:sp>
      <p:sp>
        <p:nvSpPr>
          <p:cNvPr id="17" name="text-144"/>
          <p:cNvSpPr txBox="1"/>
          <p:nvPr/>
        </p:nvSpPr>
        <p:spPr>
          <a:xfrm>
            <a:off x="7040880" y="4434840"/>
            <a:ext cx="4480560" cy="365760"/>
          </a:xfrm>
          <a:prstGeom prst="rect">
            <a:avLst/>
          </a:prstGeom>
          <a:noFill/>
          <a:ln/>
        </p:spPr>
        <p:txBody>
          <a:bodyPr wrap="square" lIns="0" tIns="0" rIns="0" bIns="0" rtlCol="0" anchor="t"/>
          <a:lstStyle/>
          <a:p>
            <a:pPr indent="0" marL="0">
              <a:buNone/>
            </a:pPr>
            <a:r>
              <a:rPr lang="en-US" sz="1400" dirty="0">
                <a:solidFill>
                  <a:schemeClr val="tx2"/>
                </a:solidFill>
              </a:rPr>
              <a:t>extra intensity views</a:t>
            </a:r>
            <a:endParaRPr lang="en-US" sz="1400" dirty="0"/>
          </a:p>
        </p:txBody>
      </p:sp>
      <p:sp>
        <p:nvSpPr>
          <p:cNvPr id="18" name="letter-145"/>
          <p:cNvSpPr/>
          <p:nvPr/>
        </p:nvSpPr>
        <p:spPr>
          <a:xfrm>
            <a:off x="6400800" y="5029200"/>
            <a:ext cx="457200" cy="45720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9" name="text-146"/>
          <p:cNvSpPr txBox="1"/>
          <p:nvPr/>
        </p:nvSpPr>
        <p:spPr>
          <a:xfrm>
            <a:off x="7040880" y="4983480"/>
            <a:ext cx="4480560" cy="365760"/>
          </a:xfrm>
          <a:prstGeom prst="rect">
            <a:avLst/>
          </a:prstGeom>
          <a:noFill/>
          <a:ln/>
        </p:spPr>
        <p:txBody>
          <a:bodyPr wrap="square" lIns="0" tIns="0" rIns="0" bIns="0" rtlCol="0" anchor="t"/>
          <a:lstStyle/>
          <a:p>
            <a:pPr indent="0" marL="0">
              <a:buNone/>
            </a:pPr>
            <a:r>
              <a:rPr lang="en-US" sz="1700" b="1" dirty="0">
                <a:solidFill>
                  <a:schemeClr val="tx1"/>
                </a:solidFill>
              </a:rPr>
              <a:t>Experiment protocol and receipt</a:t>
            </a:r>
            <a:endParaRPr lang="en-US" sz="1700" dirty="0"/>
          </a:p>
        </p:txBody>
      </p:sp>
      <p:sp>
        <p:nvSpPr>
          <p:cNvPr id="20" name="text-147"/>
          <p:cNvSpPr txBox="1"/>
          <p:nvPr/>
        </p:nvSpPr>
        <p:spPr>
          <a:xfrm>
            <a:off x="7040880" y="5349240"/>
            <a:ext cx="4480560" cy="365760"/>
          </a:xfrm>
          <a:prstGeom prst="rect">
            <a:avLst/>
          </a:prstGeom>
          <a:noFill/>
          <a:ln/>
        </p:spPr>
        <p:txBody>
          <a:bodyPr wrap="square" lIns="0" tIns="0" rIns="0" bIns="0" rtlCol="0" anchor="t"/>
          <a:lstStyle/>
          <a:p>
            <a:pPr indent="0" marL="0">
              <a:buNone/>
            </a:pPr>
            <a:r>
              <a:rPr lang="en-US" sz="1400" dirty="0">
                <a:solidFill>
                  <a:schemeClr val="tx2"/>
                </a:solidFill>
              </a:rPr>
              <a:t>pre-specified batch; hashed audit trail</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METHOD</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Pipeline architecture</a:t>
            </a:r>
            <a:endParaRPr lang="en-US" sz="3400" dirty="0"/>
          </a:p>
        </p:txBody>
      </p:sp>
      <p:sp>
        <p:nvSpPr>
          <p:cNvPr id="4" name="card-148"/>
          <p:cNvSpPr/>
          <p:nvPr/>
        </p:nvSpPr>
        <p:spPr>
          <a:xfrm>
            <a:off x="548640" y="1417320"/>
            <a:ext cx="1600200" cy="4251960"/>
          </a:xfrm>
          <a:prstGeom prst="roundRect">
            <a:avLst>
              <a:gd name="adj" fmla="val 6857"/>
            </a:avLst>
          </a:prstGeom>
          <a:solidFill>
            <a:schemeClr val="bg2"/>
          </a:solidFill>
          <a:ln/>
        </p:spPr>
      </p:sp>
      <p:sp>
        <p:nvSpPr>
          <p:cNvPr id="5" name="text-149"/>
          <p:cNvSpPr txBox="1"/>
          <p:nvPr/>
        </p:nvSpPr>
        <p:spPr>
          <a:xfrm>
            <a:off x="685800" y="1527048"/>
            <a:ext cx="128016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INPUT</a:t>
            </a:r>
            <a:endParaRPr lang="en-US" sz="1100" dirty="0"/>
          </a:p>
        </p:txBody>
      </p:sp>
      <p:pic>
        <p:nvPicPr>
          <p:cNvPr id="6" name="arch-mri" descr="/tmp/claude-0/-home-user-Sarth/bc9fc83b-5380-50be-aad5-da6697a90d9e/scratchpad/assets/knee_mri_round.png">    </p:cNvPr>
          <p:cNvPicPr>
            <a:picLocks noChangeAspect="1"/>
          </p:cNvPicPr>
          <p:nvPr/>
        </p:nvPicPr>
        <p:blipFill>
          <a:blip r:embed="rId1"/>
          <a:stretch>
            <a:fillRect/>
          </a:stretch>
        </p:blipFill>
        <p:spPr>
          <a:xfrm>
            <a:off x="749808" y="1874520"/>
            <a:ext cx="1188720" cy="1216152"/>
          </a:xfrm>
          <a:prstGeom prst="rect">
            <a:avLst/>
          </a:prstGeom>
        </p:spPr>
      </p:pic>
      <p:sp>
        <p:nvSpPr>
          <p:cNvPr id="7" name="text-150"/>
          <p:cNvSpPr txBox="1"/>
          <p:nvPr/>
        </p:nvSpPr>
        <p:spPr>
          <a:xfrm>
            <a:off x="685800" y="3246120"/>
            <a:ext cx="1371600" cy="274320"/>
          </a:xfrm>
          <a:prstGeom prst="rect">
            <a:avLst/>
          </a:prstGeom>
          <a:noFill/>
          <a:ln/>
        </p:spPr>
        <p:txBody>
          <a:bodyPr wrap="square" lIns="0" tIns="0" rIns="0" bIns="0" rtlCol="0" anchor="t"/>
          <a:lstStyle/>
          <a:p>
            <a:pPr indent="0" marL="0">
              <a:buNone/>
            </a:pPr>
            <a:r>
              <a:rPr lang="en-US" sz="1300" b="1" dirty="0">
                <a:solidFill>
                  <a:schemeClr val="tx1"/>
                </a:solidFill>
              </a:rPr>
              <a:t>Knee MRI study</a:t>
            </a:r>
            <a:endParaRPr lang="en-US" sz="1300" dirty="0"/>
          </a:p>
        </p:txBody>
      </p:sp>
      <p:sp>
        <p:nvSpPr>
          <p:cNvPr id="8" name="text-151"/>
          <p:cNvSpPr txBox="1"/>
          <p:nvPr/>
        </p:nvSpPr>
        <p:spPr>
          <a:xfrm>
            <a:off x="685800" y="3566160"/>
            <a:ext cx="1371600" cy="1097280"/>
          </a:xfrm>
          <a:prstGeom prst="rect">
            <a:avLst/>
          </a:prstGeom>
          <a:noFill/>
          <a:ln/>
        </p:spPr>
        <p:txBody>
          <a:bodyPr wrap="square" lIns="0" tIns="0" rIns="0" bIns="0" rtlCol="0" anchor="t"/>
          <a:lstStyle/>
          <a:p>
            <a:pPr indent="0" marL="0">
              <a:buNone/>
            </a:pPr>
            <a:r>
              <a:rPr lang="en-US" sz="1200" dirty="0">
                <a:solidFill>
                  <a:schemeClr val="tx2"/>
                </a:solidFill>
              </a:rPr>
              <a:t>Several series: sagittal, coronal, axial; fat-sat and structural</a:t>
            </a:r>
            <a:endParaRPr lang="en-US" sz="1200" dirty="0"/>
          </a:p>
        </p:txBody>
      </p:sp>
      <p:sp>
        <p:nvSpPr>
          <p:cNvPr id="9" name="card-152"/>
          <p:cNvSpPr/>
          <p:nvPr/>
        </p:nvSpPr>
        <p:spPr>
          <a:xfrm>
            <a:off x="2377440" y="1417320"/>
            <a:ext cx="1737360" cy="4251960"/>
          </a:xfrm>
          <a:prstGeom prst="roundRect">
            <a:avLst>
              <a:gd name="adj" fmla="val 6316"/>
            </a:avLst>
          </a:prstGeom>
          <a:solidFill>
            <a:schemeClr val="bg2"/>
          </a:solidFill>
          <a:ln/>
        </p:spPr>
      </p:sp>
      <p:sp>
        <p:nvSpPr>
          <p:cNvPr id="10" name="text-153"/>
          <p:cNvSpPr txBox="1"/>
          <p:nvPr/>
        </p:nvSpPr>
        <p:spPr>
          <a:xfrm>
            <a:off x="2514600" y="1527048"/>
            <a:ext cx="1463040" cy="228600"/>
          </a:xfrm>
          <a:prstGeom prst="rect">
            <a:avLst/>
          </a:prstGeom>
          <a:noFill/>
          <a:ln/>
        </p:spPr>
        <p:txBody>
          <a:bodyPr wrap="square" lIns="0" tIns="0" rIns="0" bIns="0" rtlCol="0" anchor="t"/>
          <a:lstStyle/>
          <a:p>
            <a:pPr indent="0" marL="0">
              <a:buNone/>
            </a:pPr>
            <a:r>
              <a:rPr lang="en-US" sz="1100" b="1" spc="200" kern="0" dirty="0">
                <a:solidFill>
                  <a:schemeClr val="accent5"/>
                </a:solidFill>
              </a:rPr>
              <a:t>PREPROCESS</a:t>
            </a:r>
            <a:endParaRPr lang="en-US" sz="1100" dirty="0"/>
          </a:p>
        </p:txBody>
      </p:sp>
      <p:sp>
        <p:nvSpPr>
          <p:cNvPr id="11" name="Text 8"/>
          <p:cNvSpPr txBox="1"/>
          <p:nvPr/>
        </p:nvSpPr>
        <p:spPr>
          <a:xfrm>
            <a:off x="2514600" y="1874520"/>
            <a:ext cx="1481328" cy="3566160"/>
          </a:xfrm>
          <a:prstGeom prst="rect">
            <a:avLst/>
          </a:prstGeom>
          <a:noFill/>
          <a:ln/>
        </p:spPr>
        <p:txBody>
          <a:bodyPr wrap="square" lIns="0" tIns="0" rIns="0" bIns="0" rtlCol="0" anchor="t"/>
          <a:lstStyle/>
          <a:p>
            <a:pPr marL="203200" indent="-203200">
              <a:spcAft>
                <a:spcPts val="700"/>
              </a:spcAft>
              <a:buSzPct val="100000"/>
              <a:buChar char="•"/>
            </a:pPr>
            <a:r>
              <a:rPr lang="en-US" sz="1200" dirty="0">
                <a:solidFill>
                  <a:schemeClr val="tx2"/>
                </a:solidFill>
              </a:rPr>
              <a:t>DICOM geometry gives plane and laterality</a:t>
            </a:r>
            <a:endParaRPr lang="en-US" sz="1200" dirty="0"/>
          </a:p>
          <a:p>
            <a:pPr marL="203200" indent="-203200">
              <a:spcAft>
                <a:spcPts val="700"/>
              </a:spcAft>
              <a:buSzPct val="100000"/>
              <a:buChar char="•"/>
            </a:pPr>
            <a:r>
              <a:rPr lang="en-US" sz="1200" dirty="0">
                <a:solidFill>
                  <a:schemeClr val="tx2"/>
                </a:solidFill>
              </a:rPr>
              <a:t>Series text gives fat-sat or structural</a:t>
            </a:r>
            <a:endParaRPr lang="en-US" sz="1200" dirty="0"/>
          </a:p>
          <a:p>
            <a:pPr marL="203200" indent="-203200">
              <a:spcAft>
                <a:spcPts val="700"/>
              </a:spcAft>
              <a:buSzPct val="100000"/>
              <a:buChar char="•"/>
            </a:pPr>
            <a:r>
              <a:rPr lang="en-US" sz="1200" dirty="0">
                <a:solidFill>
                  <a:schemeClr val="tx2"/>
                </a:solidFill>
              </a:rPr>
              <a:t>6 slots; missing slots masked</a:t>
            </a:r>
            <a:endParaRPr lang="en-US" sz="1200" dirty="0"/>
          </a:p>
          <a:p>
            <a:pPr marL="203200" indent="-203200">
              <a:spcAft>
                <a:spcPts val="700"/>
              </a:spcAft>
              <a:buSzPct val="100000"/>
              <a:buChar char="•"/>
            </a:pPr>
            <a:r>
              <a:rPr lang="en-US" sz="1200" dirty="0">
                <a:solidFill>
                  <a:schemeClr val="tx2"/>
                </a:solidFill>
              </a:rPr>
              <a:t>≈130 mm crop, resize, slice window</a:t>
            </a:r>
            <a:endParaRPr lang="en-US" sz="1200" dirty="0"/>
          </a:p>
          <a:p>
            <a:pPr marL="203200" indent="-203200">
              <a:spcAft>
                <a:spcPts val="700"/>
              </a:spcAft>
              <a:buSzPct val="100000"/>
              <a:buChar char="•"/>
            </a:pPr>
            <a:r>
              <a:rPr lang="en-US" sz="1200" dirty="0">
                <a:solidFill>
                  <a:schemeClr val="tx2"/>
                </a:solidFill>
              </a:rPr>
              <a:t>Right knees flipped</a:t>
            </a:r>
            <a:endParaRPr lang="en-US" sz="1200" dirty="0"/>
          </a:p>
        </p:txBody>
      </p:sp>
      <p:sp>
        <p:nvSpPr>
          <p:cNvPr id="12" name="arrow-154"/>
          <p:cNvSpPr/>
          <p:nvPr/>
        </p:nvSpPr>
        <p:spPr>
          <a:xfrm>
            <a:off x="2148840" y="3520440"/>
            <a:ext cx="228600" cy="0"/>
          </a:xfrm>
          <a:prstGeom prst="line">
            <a:avLst/>
          </a:prstGeom>
          <a:noFill/>
          <a:ln w="19050">
            <a:solidFill>
              <a:schemeClr val="accent5"/>
            </a:solidFill>
            <a:prstDash val="solid"/>
            <a:tailEnd type="triangle"/>
          </a:ln>
        </p:spPr>
      </p:sp>
      <p:sp>
        <p:nvSpPr>
          <p:cNvPr id="13" name="line-155"/>
          <p:cNvSpPr/>
          <p:nvPr/>
        </p:nvSpPr>
        <p:spPr>
          <a:xfrm>
            <a:off x="4224528" y="2080260"/>
            <a:ext cx="0" cy="2926080"/>
          </a:xfrm>
          <a:prstGeom prst="line">
            <a:avLst/>
          </a:prstGeom>
          <a:noFill/>
          <a:ln w="19050">
            <a:solidFill>
              <a:schemeClr val="accent5"/>
            </a:solidFill>
            <a:prstDash val="solid"/>
          </a:ln>
        </p:spPr>
      </p:sp>
      <p:sp>
        <p:nvSpPr>
          <p:cNvPr id="14" name="card-156"/>
          <p:cNvSpPr/>
          <p:nvPr/>
        </p:nvSpPr>
        <p:spPr>
          <a:xfrm>
            <a:off x="4343400" y="1417320"/>
            <a:ext cx="3749040" cy="1325880"/>
          </a:xfrm>
          <a:prstGeom prst="roundRect">
            <a:avLst>
              <a:gd name="adj" fmla="val 8276"/>
            </a:avLst>
          </a:prstGeom>
          <a:solidFill>
            <a:schemeClr val="accent1">
              <a:alpha val="18000"/>
            </a:schemeClr>
          </a:solidFill>
          <a:ln/>
        </p:spPr>
      </p:sp>
      <p:sp>
        <p:nvSpPr>
          <p:cNvPr id="15" name="arrow-157"/>
          <p:cNvSpPr/>
          <p:nvPr/>
        </p:nvSpPr>
        <p:spPr>
          <a:xfrm>
            <a:off x="4224528" y="2080260"/>
            <a:ext cx="118872" cy="0"/>
          </a:xfrm>
          <a:prstGeom prst="line">
            <a:avLst/>
          </a:prstGeom>
          <a:noFill/>
          <a:ln w="19050">
            <a:solidFill>
              <a:schemeClr val="accent5"/>
            </a:solidFill>
            <a:prstDash val="solid"/>
            <a:tailEnd type="triangle"/>
          </a:ln>
        </p:spPr>
      </p:sp>
      <p:sp>
        <p:nvSpPr>
          <p:cNvPr id="16" name="text-158"/>
          <p:cNvSpPr txBox="1"/>
          <p:nvPr/>
        </p:nvSpPr>
        <p:spPr>
          <a:xfrm>
            <a:off x="4480560" y="1508760"/>
            <a:ext cx="2834640" cy="292608"/>
          </a:xfrm>
          <a:prstGeom prst="rect">
            <a:avLst/>
          </a:prstGeom>
          <a:noFill/>
          <a:ln/>
        </p:spPr>
        <p:txBody>
          <a:bodyPr wrap="square" lIns="0" tIns="0" rIns="0" bIns="0" rtlCol="0" anchor="t"/>
          <a:lstStyle/>
          <a:p>
            <a:pPr indent="0" marL="0">
              <a:buNone/>
            </a:pPr>
            <a:r>
              <a:rPr lang="en-US" sz="1200" b="1" dirty="0">
                <a:solidFill>
                  <a:schemeClr val="tx1"/>
                </a:solidFill>
              </a:rPr>
              <a:t>DINOv3 ViT-S/16  ·  20 members + 5 A5 folds</a:t>
            </a:r>
            <a:endParaRPr lang="en-US" sz="1200" dirty="0"/>
          </a:p>
        </p:txBody>
      </p:sp>
      <p:sp>
        <p:nvSpPr>
          <p:cNvPr id="17" name="tile-159"/>
          <p:cNvSpPr/>
          <p:nvPr/>
        </p:nvSpPr>
        <p:spPr>
          <a:xfrm>
            <a:off x="4480560" y="192024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Slices × 6 slots</a:t>
            </a:r>
            <a:endParaRPr lang="en-US" sz="1100" dirty="0"/>
          </a:p>
        </p:txBody>
      </p:sp>
      <p:sp>
        <p:nvSpPr>
          <p:cNvPr id="18" name="arrow-160"/>
          <p:cNvSpPr/>
          <p:nvPr/>
        </p:nvSpPr>
        <p:spPr>
          <a:xfrm>
            <a:off x="5550408" y="2240280"/>
            <a:ext cx="173736" cy="0"/>
          </a:xfrm>
          <a:prstGeom prst="line">
            <a:avLst/>
          </a:prstGeom>
          <a:noFill/>
          <a:ln w="15875">
            <a:solidFill>
              <a:schemeClr val="accent5"/>
            </a:solidFill>
            <a:prstDash val="solid"/>
            <a:tailEnd type="triangle"/>
          </a:ln>
        </p:spPr>
      </p:sp>
      <p:sp>
        <p:nvSpPr>
          <p:cNvPr id="19" name="tile-161"/>
          <p:cNvSpPr/>
          <p:nvPr/>
        </p:nvSpPr>
        <p:spPr>
          <a:xfrm>
            <a:off x="5724144" y="192024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ViT + slot attention</a:t>
            </a:r>
            <a:endParaRPr lang="en-US" sz="1100" dirty="0"/>
          </a:p>
        </p:txBody>
      </p:sp>
      <p:sp>
        <p:nvSpPr>
          <p:cNvPr id="20" name="arrow-162"/>
          <p:cNvSpPr/>
          <p:nvPr/>
        </p:nvSpPr>
        <p:spPr>
          <a:xfrm>
            <a:off x="6793992" y="2240280"/>
            <a:ext cx="173736" cy="0"/>
          </a:xfrm>
          <a:prstGeom prst="line">
            <a:avLst/>
          </a:prstGeom>
          <a:noFill/>
          <a:ln w="15875">
            <a:solidFill>
              <a:schemeClr val="accent5"/>
            </a:solidFill>
            <a:prstDash val="solid"/>
            <a:tailEnd type="triangle"/>
          </a:ln>
        </p:spPr>
      </p:sp>
      <p:sp>
        <p:nvSpPr>
          <p:cNvPr id="21" name="tile-163"/>
          <p:cNvSpPr/>
          <p:nvPr/>
        </p:nvSpPr>
        <p:spPr>
          <a:xfrm>
            <a:off x="6967728" y="192024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Rank mean, A5 at 0.45</a:t>
            </a:r>
            <a:endParaRPr lang="en-US" sz="1100" dirty="0"/>
          </a:p>
        </p:txBody>
      </p:sp>
      <p:sp>
        <p:nvSpPr>
          <p:cNvPr id="22" name="arrow-164"/>
          <p:cNvSpPr/>
          <p:nvPr/>
        </p:nvSpPr>
        <p:spPr>
          <a:xfrm>
            <a:off x="8092440" y="2080260"/>
            <a:ext cx="228600" cy="0"/>
          </a:xfrm>
          <a:prstGeom prst="line">
            <a:avLst/>
          </a:prstGeom>
          <a:noFill/>
          <a:ln w="19050">
            <a:solidFill>
              <a:schemeClr val="accent5"/>
            </a:solidFill>
            <a:prstDash val="solid"/>
            <a:tailEnd type="triangle"/>
          </a:ln>
        </p:spPr>
      </p:sp>
      <p:sp>
        <p:nvSpPr>
          <p:cNvPr id="23" name="card-165"/>
          <p:cNvSpPr/>
          <p:nvPr/>
        </p:nvSpPr>
        <p:spPr>
          <a:xfrm>
            <a:off x="4343400" y="2880360"/>
            <a:ext cx="3749040" cy="1325880"/>
          </a:xfrm>
          <a:prstGeom prst="roundRect">
            <a:avLst>
              <a:gd name="adj" fmla="val 8276"/>
            </a:avLst>
          </a:prstGeom>
          <a:solidFill>
            <a:schemeClr val="accent2">
              <a:alpha val="18000"/>
            </a:schemeClr>
          </a:solidFill>
          <a:ln/>
        </p:spPr>
      </p:sp>
      <p:sp>
        <p:nvSpPr>
          <p:cNvPr id="24" name="arrow-166"/>
          <p:cNvSpPr/>
          <p:nvPr/>
        </p:nvSpPr>
        <p:spPr>
          <a:xfrm>
            <a:off x="4224528" y="3543300"/>
            <a:ext cx="118872" cy="0"/>
          </a:xfrm>
          <a:prstGeom prst="line">
            <a:avLst/>
          </a:prstGeom>
          <a:noFill/>
          <a:ln w="19050">
            <a:solidFill>
              <a:schemeClr val="accent5"/>
            </a:solidFill>
            <a:prstDash val="solid"/>
            <a:tailEnd type="triangle"/>
          </a:ln>
        </p:spPr>
      </p:sp>
      <p:sp>
        <p:nvSpPr>
          <p:cNvPr id="25" name="text-167"/>
          <p:cNvSpPr txBox="1"/>
          <p:nvPr/>
        </p:nvSpPr>
        <p:spPr>
          <a:xfrm>
            <a:off x="4480560" y="2971800"/>
            <a:ext cx="2834640" cy="292608"/>
          </a:xfrm>
          <a:prstGeom prst="rect">
            <a:avLst/>
          </a:prstGeom>
          <a:noFill/>
          <a:ln/>
        </p:spPr>
        <p:txBody>
          <a:bodyPr wrap="square" lIns="0" tIns="0" rIns="0" bIns="0" rtlCol="0" anchor="t"/>
          <a:lstStyle/>
          <a:p>
            <a:pPr indent="0" marL="0">
              <a:buNone/>
            </a:pPr>
            <a:r>
              <a:rPr lang="en-US" sz="1200" b="1" dirty="0">
                <a:solidFill>
                  <a:schemeClr val="tx1"/>
                </a:solidFill>
              </a:rPr>
              <a:t>RadImageNet ResNet-50  ·  frozen features</a:t>
            </a:r>
            <a:endParaRPr lang="en-US" sz="1200" dirty="0"/>
          </a:p>
        </p:txBody>
      </p:sp>
      <p:sp>
        <p:nvSpPr>
          <p:cNvPr id="26" name="letter-168"/>
          <p:cNvSpPr/>
          <p:nvPr/>
        </p:nvSpPr>
        <p:spPr>
          <a:xfrm>
            <a:off x="7360920" y="2953512"/>
            <a:ext cx="274320" cy="27432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27" name="letter-169"/>
          <p:cNvSpPr/>
          <p:nvPr/>
        </p:nvSpPr>
        <p:spPr>
          <a:xfrm>
            <a:off x="7708392" y="2953512"/>
            <a:ext cx="274320" cy="27432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28" name="tile-170"/>
          <p:cNvSpPr/>
          <p:nvPr/>
        </p:nvSpPr>
        <p:spPr>
          <a:xfrm>
            <a:off x="4480560" y="338328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ResNet-50 features</a:t>
            </a:r>
            <a:endParaRPr lang="en-US" sz="1100" dirty="0"/>
          </a:p>
        </p:txBody>
      </p:sp>
      <p:sp>
        <p:nvSpPr>
          <p:cNvPr id="29" name="arrow-171"/>
          <p:cNvSpPr/>
          <p:nvPr/>
        </p:nvSpPr>
        <p:spPr>
          <a:xfrm>
            <a:off x="5550408" y="3703320"/>
            <a:ext cx="173736" cy="0"/>
          </a:xfrm>
          <a:prstGeom prst="line">
            <a:avLst/>
          </a:prstGeom>
          <a:noFill/>
          <a:ln w="15875">
            <a:solidFill>
              <a:schemeClr val="accent5"/>
            </a:solidFill>
            <a:prstDash val="solid"/>
            <a:tailEnd type="triangle"/>
          </a:ln>
        </p:spPr>
      </p:sp>
      <p:sp>
        <p:nvSpPr>
          <p:cNvPr id="30" name="tile-172"/>
          <p:cNvSpPr/>
          <p:nvPr/>
        </p:nvSpPr>
        <p:spPr>
          <a:xfrm>
            <a:off x="5724144" y="338328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Heads: ref · E13 · E11 · E10</a:t>
            </a:r>
            <a:endParaRPr lang="en-US" sz="1100" dirty="0"/>
          </a:p>
        </p:txBody>
      </p:sp>
      <p:sp>
        <p:nvSpPr>
          <p:cNvPr id="31" name="arrow-173"/>
          <p:cNvSpPr/>
          <p:nvPr/>
        </p:nvSpPr>
        <p:spPr>
          <a:xfrm>
            <a:off x="6793992" y="3703320"/>
            <a:ext cx="173736" cy="0"/>
          </a:xfrm>
          <a:prstGeom prst="line">
            <a:avLst/>
          </a:prstGeom>
          <a:noFill/>
          <a:ln w="15875">
            <a:solidFill>
              <a:schemeClr val="accent5"/>
            </a:solidFill>
            <a:prstDash val="solid"/>
            <a:tailEnd type="triangle"/>
          </a:ln>
        </p:spPr>
      </p:sp>
      <p:sp>
        <p:nvSpPr>
          <p:cNvPr id="32" name="tile-174"/>
          <p:cNvSpPr/>
          <p:nvPr/>
        </p:nvSpPr>
        <p:spPr>
          <a:xfrm>
            <a:off x="6967728" y="338328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Frozen calibrator</a:t>
            </a:r>
            <a:endParaRPr lang="en-US" sz="1100" dirty="0"/>
          </a:p>
        </p:txBody>
      </p:sp>
      <p:sp>
        <p:nvSpPr>
          <p:cNvPr id="33" name="arrow-175"/>
          <p:cNvSpPr/>
          <p:nvPr/>
        </p:nvSpPr>
        <p:spPr>
          <a:xfrm>
            <a:off x="8092440" y="3543300"/>
            <a:ext cx="228600" cy="0"/>
          </a:xfrm>
          <a:prstGeom prst="line">
            <a:avLst/>
          </a:prstGeom>
          <a:noFill/>
          <a:ln w="19050">
            <a:solidFill>
              <a:schemeClr val="accent5"/>
            </a:solidFill>
            <a:prstDash val="solid"/>
            <a:tailEnd type="triangle"/>
          </a:ln>
        </p:spPr>
      </p:sp>
      <p:sp>
        <p:nvSpPr>
          <p:cNvPr id="34" name="card-176"/>
          <p:cNvSpPr/>
          <p:nvPr/>
        </p:nvSpPr>
        <p:spPr>
          <a:xfrm>
            <a:off x="4343400" y="4343400"/>
            <a:ext cx="3749040" cy="1325880"/>
          </a:xfrm>
          <a:prstGeom prst="roundRect">
            <a:avLst>
              <a:gd name="adj" fmla="val 8276"/>
            </a:avLst>
          </a:prstGeom>
          <a:solidFill>
            <a:schemeClr val="accent3">
              <a:alpha val="18000"/>
            </a:schemeClr>
          </a:solidFill>
          <a:ln/>
        </p:spPr>
      </p:sp>
      <p:sp>
        <p:nvSpPr>
          <p:cNvPr id="35" name="arrow-177"/>
          <p:cNvSpPr/>
          <p:nvPr/>
        </p:nvSpPr>
        <p:spPr>
          <a:xfrm>
            <a:off x="4224528" y="5006340"/>
            <a:ext cx="118872" cy="0"/>
          </a:xfrm>
          <a:prstGeom prst="line">
            <a:avLst/>
          </a:prstGeom>
          <a:noFill/>
          <a:ln w="19050">
            <a:solidFill>
              <a:schemeClr val="accent5"/>
            </a:solidFill>
            <a:prstDash val="solid"/>
            <a:tailEnd type="triangle"/>
          </a:ln>
        </p:spPr>
      </p:sp>
      <p:sp>
        <p:nvSpPr>
          <p:cNvPr id="36" name="text-178"/>
          <p:cNvSpPr txBox="1"/>
          <p:nvPr/>
        </p:nvSpPr>
        <p:spPr>
          <a:xfrm>
            <a:off x="4480560" y="4434840"/>
            <a:ext cx="2834640" cy="292608"/>
          </a:xfrm>
          <a:prstGeom prst="rect">
            <a:avLst/>
          </a:prstGeom>
          <a:noFill/>
          <a:ln/>
        </p:spPr>
        <p:txBody>
          <a:bodyPr wrap="square" lIns="0" tIns="0" rIns="0" bIns="0" rtlCol="0" anchor="t"/>
          <a:lstStyle/>
          <a:p>
            <a:pPr indent="0" marL="0">
              <a:buNone/>
            </a:pPr>
            <a:r>
              <a:rPr lang="en-US" sz="1200" b="1" dirty="0">
                <a:solidFill>
                  <a:schemeClr val="tx1"/>
                </a:solidFill>
              </a:rPr>
              <a:t>CoAtNet  ·  Raptor 4 arms + residual CoAt</a:t>
            </a:r>
            <a:endParaRPr lang="en-US" sz="1200" dirty="0"/>
          </a:p>
        </p:txBody>
      </p:sp>
      <p:sp>
        <p:nvSpPr>
          <p:cNvPr id="37" name="letter-179"/>
          <p:cNvSpPr/>
          <p:nvPr/>
        </p:nvSpPr>
        <p:spPr>
          <a:xfrm>
            <a:off x="7708392" y="4416552"/>
            <a:ext cx="274320" cy="27432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G</a:t>
            </a:r>
            <a:endParaRPr lang="en-US" sz="1200" dirty="0"/>
          </a:p>
        </p:txBody>
      </p:sp>
      <p:sp>
        <p:nvSpPr>
          <p:cNvPr id="38" name="tile-180"/>
          <p:cNvSpPr/>
          <p:nvPr/>
        </p:nvSpPr>
        <p:spPr>
          <a:xfrm>
            <a:off x="4480560" y="484632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Raptor ×4 arms</a:t>
            </a:r>
            <a:endParaRPr lang="en-US" sz="1100" dirty="0"/>
          </a:p>
        </p:txBody>
      </p:sp>
      <p:sp>
        <p:nvSpPr>
          <p:cNvPr id="39" name="arrow-181"/>
          <p:cNvSpPr/>
          <p:nvPr/>
        </p:nvSpPr>
        <p:spPr>
          <a:xfrm>
            <a:off x="5550408" y="5166360"/>
            <a:ext cx="173736" cy="0"/>
          </a:xfrm>
          <a:prstGeom prst="line">
            <a:avLst/>
          </a:prstGeom>
          <a:noFill/>
          <a:ln w="15875">
            <a:solidFill>
              <a:schemeClr val="accent5"/>
            </a:solidFill>
            <a:prstDash val="solid"/>
            <a:tailEnd type="triangle"/>
          </a:ln>
        </p:spPr>
      </p:sp>
      <p:sp>
        <p:nvSpPr>
          <p:cNvPr id="40" name="tile-182"/>
          <p:cNvSpPr/>
          <p:nvPr/>
        </p:nvSpPr>
        <p:spPr>
          <a:xfrm>
            <a:off x="5724144" y="484632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Gain views 0.9 · 1.0 · 1.1</a:t>
            </a:r>
            <a:endParaRPr lang="en-US" sz="1100" dirty="0"/>
          </a:p>
        </p:txBody>
      </p:sp>
      <p:sp>
        <p:nvSpPr>
          <p:cNvPr id="41" name="arrow-183"/>
          <p:cNvSpPr/>
          <p:nvPr/>
        </p:nvSpPr>
        <p:spPr>
          <a:xfrm>
            <a:off x="6793992" y="5166360"/>
            <a:ext cx="173736" cy="0"/>
          </a:xfrm>
          <a:prstGeom prst="line">
            <a:avLst/>
          </a:prstGeom>
          <a:noFill/>
          <a:ln w="15875">
            <a:solidFill>
              <a:schemeClr val="accent5"/>
            </a:solidFill>
            <a:prstDash val="solid"/>
            <a:tailEnd type="triangle"/>
          </a:ln>
        </p:spPr>
      </p:sp>
      <p:sp>
        <p:nvSpPr>
          <p:cNvPr id="42" name="tile-184"/>
          <p:cNvSpPr/>
          <p:nvPr/>
        </p:nvSpPr>
        <p:spPr>
          <a:xfrm>
            <a:off x="6967728" y="4846320"/>
            <a:ext cx="1069848" cy="640080"/>
          </a:xfrm>
          <a:prstGeom prst="roundRect">
            <a:avLst>
              <a:gd name="adj" fmla="val 11429"/>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100" dirty="0">
                <a:solidFill>
                  <a:schemeClr val="tx1"/>
                </a:solidFill>
              </a:rPr>
              <a:t>+ residual CoAt (60/40)</a:t>
            </a:r>
            <a:endParaRPr lang="en-US" sz="1100" dirty="0"/>
          </a:p>
        </p:txBody>
      </p:sp>
      <p:sp>
        <p:nvSpPr>
          <p:cNvPr id="43" name="arrow-185"/>
          <p:cNvSpPr/>
          <p:nvPr/>
        </p:nvSpPr>
        <p:spPr>
          <a:xfrm>
            <a:off x="8092440" y="5006340"/>
            <a:ext cx="228600" cy="0"/>
          </a:xfrm>
          <a:prstGeom prst="line">
            <a:avLst/>
          </a:prstGeom>
          <a:noFill/>
          <a:ln w="19050">
            <a:solidFill>
              <a:schemeClr val="accent5"/>
            </a:solidFill>
            <a:prstDash val="solid"/>
            <a:tailEnd type="triangle"/>
          </a:ln>
        </p:spPr>
      </p:sp>
      <p:sp>
        <p:nvSpPr>
          <p:cNvPr id="44" name="fusion-panel"/>
          <p:cNvSpPr/>
          <p:nvPr/>
        </p:nvSpPr>
        <p:spPr>
          <a:xfrm>
            <a:off x="8321040" y="1417320"/>
            <a:ext cx="1828800" cy="4251960"/>
          </a:xfrm>
          <a:prstGeom prst="roundRect">
            <a:avLst>
              <a:gd name="adj" fmla="val 6000"/>
            </a:avLst>
          </a:prstGeom>
          <a:solidFill>
            <a:schemeClr val="tx2"/>
          </a:solidFill>
          <a:ln/>
        </p:spPr>
      </p:sp>
      <p:sp>
        <p:nvSpPr>
          <p:cNvPr id="45" name="text-186"/>
          <p:cNvSpPr txBox="1"/>
          <p:nvPr/>
        </p:nvSpPr>
        <p:spPr>
          <a:xfrm>
            <a:off x="8458200" y="1527048"/>
            <a:ext cx="1554480" cy="228600"/>
          </a:xfrm>
          <a:prstGeom prst="rect">
            <a:avLst/>
          </a:prstGeom>
          <a:noFill/>
          <a:ln/>
        </p:spPr>
        <p:txBody>
          <a:bodyPr wrap="square" lIns="0" tIns="0" rIns="0" bIns="0" rtlCol="0" anchor="t"/>
          <a:lstStyle/>
          <a:p>
            <a:pPr indent="0" marL="0">
              <a:buNone/>
            </a:pPr>
            <a:r>
              <a:rPr lang="en-US" sz="1100" b="1" spc="200" kern="0" dirty="0">
                <a:solidFill>
                  <a:srgbClr val="B9C7D3"/>
                </a:solidFill>
              </a:rPr>
              <a:t>RANK FUSION</a:t>
            </a:r>
            <a:endParaRPr lang="en-US" sz="1100" dirty="0"/>
          </a:p>
        </p:txBody>
      </p:sp>
      <p:sp>
        <p:nvSpPr>
          <p:cNvPr id="46" name="Text 43"/>
          <p:cNvSpPr txBox="1"/>
          <p:nvPr/>
        </p:nvSpPr>
        <p:spPr>
          <a:xfrm>
            <a:off x="8458200" y="1920240"/>
            <a:ext cx="1600200" cy="3566160"/>
          </a:xfrm>
          <a:prstGeom prst="rect">
            <a:avLst/>
          </a:prstGeom>
          <a:noFill/>
          <a:ln/>
        </p:spPr>
        <p:txBody>
          <a:bodyPr wrap="square" lIns="0" tIns="0" rIns="0" bIns="0" rtlCol="0" anchor="t"/>
          <a:lstStyle/>
          <a:p>
            <a:pPr indent="0" marL="0">
              <a:buNone/>
            </a:pPr>
            <a:r>
              <a:rPr lang="en-US" sz="1400" dirty="0">
                <a:solidFill>
                  <a:schemeClr val="bg1"/>
                </a:solidFill>
              </a:rPr>
              <a:t>T′ = rank(T + R</a:t>
            </a:r>
            <a:pPr indent="0" marL="0">
              <a:buNone/>
            </a:pPr>
            <a:r>
              <a:rPr lang="en-US" sz="1400" baseline="-40000" dirty="0">
                <a:solidFill>
                  <a:schemeClr val="bg1"/>
                </a:solidFill>
              </a:rPr>
              <a:t>A</a:t>
            </a:r>
            <a:pPr indent="0" marL="0">
              <a:buNone/>
            </a:pPr>
            <a:r>
              <a:rPr lang="en-US" sz="1400" dirty="0">
                <a:solidFill>
                  <a:schemeClr val="bg1"/>
                </a:solidFill>
              </a:rPr>
              <a:t> + R</a:t>
            </a:r>
            <a:pPr indent="0" marL="0">
              <a:buNone/>
            </a:pPr>
            <a:r>
              <a:rPr lang="en-US" sz="1400" baseline="-40000" dirty="0">
                <a:solidFill>
                  <a:schemeClr val="bg1"/>
                </a:solidFill>
              </a:rPr>
              <a:t>B</a:t>
            </a:r>
            <a:pPr indent="0" marL="0">
              <a:buNone/>
            </a:pPr>
            <a:r>
              <a:rPr lang="en-US" sz="1400" dirty="0">
                <a:solidFill>
                  <a:schemeClr val="bg1"/>
                </a:solidFill>
              </a:rPr>
              <a:t>)</a:t>
            </a:r>
            <a:endParaRPr lang="en-US" sz="1400" dirty="0"/>
          </a:p>
          <a:p>
            <a:pPr indent="0" marL="0">
              <a:buNone/>
            </a:pPr>
            <a:r>
              <a:rPr lang="en-US" sz="600" dirty="0">
                <a:solidFill>
                  <a:schemeClr val="bg1"/>
                </a:solidFill>
              </a:rPr>
              <a:t> </a:t>
            </a:r>
            <a:endParaRPr lang="en-US" sz="1400" dirty="0"/>
          </a:p>
          <a:p>
            <a:pPr indent="0" marL="0">
              <a:buNone/>
            </a:pPr>
            <a:r>
              <a:rPr lang="en-US" sz="1400" dirty="0">
                <a:solidFill>
                  <a:schemeClr val="bg1"/>
                </a:solidFill>
              </a:rPr>
              <a:t>H = 0.6·Raptor + 0.4·ResCoAt</a:t>
            </a:r>
            <a:endParaRPr lang="en-US" sz="1400" dirty="0"/>
          </a:p>
          <a:p>
            <a:pPr indent="0" marL="0">
              <a:buNone/>
            </a:pPr>
            <a:r>
              <a:rPr lang="en-US" sz="600" dirty="0">
                <a:solidFill>
                  <a:schemeClr val="bg1"/>
                </a:solidFill>
              </a:rPr>
              <a:t> </a:t>
            </a:r>
            <a:endParaRPr lang="en-US" sz="1400" dirty="0"/>
          </a:p>
          <a:p>
            <a:pPr indent="0" marL="0">
              <a:buNone/>
            </a:pPr>
            <a:r>
              <a:rPr lang="en-US" sz="1400" dirty="0">
                <a:solidFill>
                  <a:schemeClr val="bg1"/>
                </a:solidFill>
              </a:rPr>
              <a:t>final = rank((1−w)·T′ + w·H)</a:t>
            </a:r>
            <a:endParaRPr lang="en-US" sz="1400" dirty="0"/>
          </a:p>
          <a:p>
            <a:pPr indent="0" marL="0">
              <a:buNone/>
            </a:pPr>
            <a:r>
              <a:rPr lang="en-US" sz="600" dirty="0">
                <a:solidFill>
                  <a:schemeClr val="bg1"/>
                </a:solidFill>
              </a:rPr>
              <a:t> </a:t>
            </a:r>
            <a:endParaRPr lang="en-US" sz="1400" dirty="0"/>
          </a:p>
          <a:p>
            <a:pPr indent="0" marL="0">
              <a:buNone/>
            </a:pPr>
            <a:r>
              <a:rPr lang="en-US" sz="1200" dirty="0">
                <a:solidFill>
                  <a:srgbClr val="B9C7D3"/>
                </a:solidFill>
              </a:rPr>
              <a:t>w = 0.60; lateral meniscus 1.00</a:t>
            </a:r>
            <a:endParaRPr lang="en-US" sz="1400" dirty="0"/>
          </a:p>
        </p:txBody>
      </p:sp>
      <p:sp>
        <p:nvSpPr>
          <p:cNvPr id="47" name="arrow-187"/>
          <p:cNvSpPr/>
          <p:nvPr/>
        </p:nvSpPr>
        <p:spPr>
          <a:xfrm>
            <a:off x="10149840" y="2926080"/>
            <a:ext cx="228600" cy="0"/>
          </a:xfrm>
          <a:prstGeom prst="line">
            <a:avLst/>
          </a:prstGeom>
          <a:noFill/>
          <a:ln w="19050">
            <a:solidFill>
              <a:schemeClr val="accent5"/>
            </a:solidFill>
            <a:prstDash val="solid"/>
            <a:tailEnd type="triangle"/>
          </a:ln>
        </p:spPr>
      </p:sp>
      <p:sp>
        <p:nvSpPr>
          <p:cNvPr id="48" name="card-188"/>
          <p:cNvSpPr/>
          <p:nvPr/>
        </p:nvSpPr>
        <p:spPr>
          <a:xfrm>
            <a:off x="10378440" y="1417320"/>
            <a:ext cx="1261872" cy="3017520"/>
          </a:xfrm>
          <a:prstGeom prst="roundRect">
            <a:avLst>
              <a:gd name="adj" fmla="val 8696"/>
            </a:avLst>
          </a:prstGeom>
          <a:solidFill>
            <a:schemeClr val="bg2"/>
          </a:solidFill>
          <a:ln/>
        </p:spPr>
      </p:sp>
      <p:sp>
        <p:nvSpPr>
          <p:cNvPr id="49" name="text-189"/>
          <p:cNvSpPr txBox="1"/>
          <p:nvPr/>
        </p:nvSpPr>
        <p:spPr>
          <a:xfrm>
            <a:off x="10488168" y="1527048"/>
            <a:ext cx="109728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12 SCORES</a:t>
            </a:r>
            <a:endParaRPr lang="en-US" sz="1100" dirty="0"/>
          </a:p>
        </p:txBody>
      </p:sp>
      <p:sp>
        <p:nvSpPr>
          <p:cNvPr id="50" name="text-190"/>
          <p:cNvSpPr txBox="1"/>
          <p:nvPr/>
        </p:nvSpPr>
        <p:spPr>
          <a:xfrm>
            <a:off x="10488168" y="1828800"/>
            <a:ext cx="1097280" cy="2560320"/>
          </a:xfrm>
          <a:prstGeom prst="rect">
            <a:avLst/>
          </a:prstGeom>
          <a:noFill/>
          <a:ln/>
        </p:spPr>
        <p:txBody>
          <a:bodyPr wrap="square" lIns="0" tIns="0" rIns="0" bIns="0" rtlCol="0" anchor="t"/>
          <a:lstStyle/>
          <a:p>
            <a:pPr indent="0" marL="0">
              <a:buNone/>
            </a:pPr>
            <a:r>
              <a:rPr lang="en-US" sz="1100" dirty="0">
                <a:solidFill>
                  <a:schemeClr val="tx2"/>
                </a:solidFill>
              </a:rPr>
              <a:t>ACL</a:t>
            </a:r>
            <a:endParaRPr lang="en-US" sz="1100" dirty="0"/>
          </a:p>
          <a:p>
            <a:pPr indent="0" marL="0">
              <a:buNone/>
            </a:pPr>
            <a:r>
              <a:rPr lang="en-US" sz="1100" dirty="0">
                <a:solidFill>
                  <a:schemeClr val="tx2"/>
                </a:solidFill>
              </a:rPr>
              <a:t>MCL</a:t>
            </a:r>
            <a:endParaRPr lang="en-US" sz="1100" dirty="0"/>
          </a:p>
          <a:p>
            <a:pPr indent="0" marL="0">
              <a:buNone/>
            </a:pPr>
            <a:r>
              <a:rPr lang="en-US" sz="1100" dirty="0">
                <a:solidFill>
                  <a:schemeClr val="tx2"/>
                </a:solidFill>
              </a:rPr>
              <a:t>Med. meniscus</a:t>
            </a:r>
            <a:endParaRPr lang="en-US" sz="1100" dirty="0"/>
          </a:p>
          <a:p>
            <a:pPr indent="0" marL="0">
              <a:buNone/>
            </a:pPr>
            <a:r>
              <a:rPr lang="en-US" sz="1100" dirty="0">
                <a:solidFill>
                  <a:schemeClr val="tx2"/>
                </a:solidFill>
              </a:rPr>
              <a:t>Lat. meniscus</a:t>
            </a:r>
            <a:endParaRPr lang="en-US" sz="1100" dirty="0"/>
          </a:p>
          <a:p>
            <a:pPr indent="0" marL="0">
              <a:buNone/>
            </a:pPr>
            <a:r>
              <a:rPr lang="en-US" sz="1100" dirty="0">
                <a:solidFill>
                  <a:schemeClr val="tx2"/>
                </a:solidFill>
              </a:rPr>
              <a:t>Med. OA</a:t>
            </a:r>
            <a:endParaRPr lang="en-US" sz="1100" dirty="0"/>
          </a:p>
          <a:p>
            <a:pPr indent="0" marL="0">
              <a:buNone/>
            </a:pPr>
            <a:r>
              <a:rPr lang="en-US" sz="1100" dirty="0">
                <a:solidFill>
                  <a:schemeClr val="tx2"/>
                </a:solidFill>
              </a:rPr>
              <a:t>Lat. OA</a:t>
            </a:r>
            <a:endParaRPr lang="en-US" sz="1100" dirty="0"/>
          </a:p>
          <a:p>
            <a:pPr indent="0" marL="0">
              <a:buNone/>
            </a:pPr>
            <a:r>
              <a:rPr lang="en-US" sz="1100" dirty="0">
                <a:solidFill>
                  <a:schemeClr val="tx2"/>
                </a:solidFill>
              </a:rPr>
              <a:t>PF OA</a:t>
            </a:r>
            <a:endParaRPr lang="en-US" sz="1100" dirty="0"/>
          </a:p>
          <a:p>
            <a:pPr indent="0" marL="0">
              <a:buNone/>
            </a:pPr>
            <a:r>
              <a:rPr lang="en-US" sz="1100" dirty="0">
                <a:solidFill>
                  <a:schemeClr val="tx2"/>
                </a:solidFill>
              </a:rPr>
              <a:t>Effusion</a:t>
            </a:r>
            <a:endParaRPr lang="en-US" sz="1100" dirty="0"/>
          </a:p>
          <a:p>
            <a:pPr indent="0" marL="0">
              <a:buNone/>
            </a:pPr>
            <a:r>
              <a:rPr lang="en-US" sz="1100" dirty="0">
                <a:solidFill>
                  <a:schemeClr val="tx2"/>
                </a:solidFill>
              </a:rPr>
              <a:t>Synovitis</a:t>
            </a:r>
            <a:endParaRPr lang="en-US" sz="1100" dirty="0"/>
          </a:p>
          <a:p>
            <a:pPr indent="0" marL="0">
              <a:buNone/>
            </a:pPr>
            <a:r>
              <a:rPr lang="en-US" sz="1100" dirty="0">
                <a:solidFill>
                  <a:schemeClr val="tx2"/>
                </a:solidFill>
              </a:rPr>
              <a:t>Baker's cyst</a:t>
            </a:r>
            <a:endParaRPr lang="en-US" sz="1100" dirty="0"/>
          </a:p>
          <a:p>
            <a:pPr indent="0" marL="0">
              <a:buNone/>
            </a:pPr>
            <a:r>
              <a:rPr lang="en-US" sz="1100" dirty="0">
                <a:solidFill>
                  <a:schemeClr val="tx2"/>
                </a:solidFill>
              </a:rPr>
              <a:t>Contusion</a:t>
            </a:r>
            <a:endParaRPr lang="en-US" sz="1100" dirty="0"/>
          </a:p>
          <a:p>
            <a:pPr indent="0" marL="0">
              <a:buNone/>
            </a:pPr>
            <a:r>
              <a:rPr lang="en-US" sz="1100" dirty="0">
                <a:solidFill>
                  <a:schemeClr val="tx2"/>
                </a:solidFill>
              </a:rPr>
              <a:t>Fracture</a:t>
            </a:r>
            <a:endParaRPr lang="en-US" sz="1100" dirty="0"/>
          </a:p>
        </p:txBody>
      </p:sp>
      <p:sp>
        <p:nvSpPr>
          <p:cNvPr id="51" name="card-191"/>
          <p:cNvSpPr/>
          <p:nvPr/>
        </p:nvSpPr>
        <p:spPr>
          <a:xfrm>
            <a:off x="10378440" y="4572000"/>
            <a:ext cx="1261872" cy="1097280"/>
          </a:xfrm>
          <a:prstGeom prst="roundRect">
            <a:avLst>
              <a:gd name="adj" fmla="val 10000"/>
            </a:avLst>
          </a:prstGeom>
          <a:solidFill>
            <a:schemeClr val="accent4">
              <a:alpha val="12000"/>
            </a:schemeClr>
          </a:solidFill>
          <a:ln/>
        </p:spPr>
      </p:sp>
      <p:sp>
        <p:nvSpPr>
          <p:cNvPr id="52" name="text-192"/>
          <p:cNvSpPr txBox="1"/>
          <p:nvPr/>
        </p:nvSpPr>
        <p:spPr>
          <a:xfrm>
            <a:off x="10488168" y="4709160"/>
            <a:ext cx="1097280" cy="822960"/>
          </a:xfrm>
          <a:prstGeom prst="rect">
            <a:avLst/>
          </a:prstGeom>
          <a:noFill/>
          <a:ln/>
        </p:spPr>
        <p:txBody>
          <a:bodyPr wrap="square" lIns="0" tIns="0" rIns="0" bIns="0" rtlCol="0" anchor="t"/>
          <a:lstStyle/>
          <a:p>
            <a:pPr indent="0" marL="0">
              <a:buNone/>
            </a:pPr>
            <a:r>
              <a:rPr lang="en-US" sz="1200" b="1" dirty="0">
                <a:solidFill>
                  <a:schemeClr val="tx1"/>
                </a:solidFill>
              </a:rPr>
              <a:t>submission.csv + hashed receipt</a:t>
            </a:r>
            <a:endParaRPr lang="en-US" sz="1200" dirty="0"/>
          </a:p>
        </p:txBody>
      </p:sp>
      <p:sp>
        <p:nvSpPr>
          <p:cNvPr id="53" name="Shape 50"/>
          <p:cNvSpPr/>
          <p:nvPr/>
        </p:nvSpPr>
        <p:spPr>
          <a:xfrm>
            <a:off x="548640" y="5916168"/>
            <a:ext cx="201168" cy="201168"/>
          </a:xfrm>
          <a:prstGeom prst="roundRect">
            <a:avLst>
              <a:gd name="adj" fmla="val 18182"/>
            </a:avLst>
          </a:prstGeom>
          <a:solidFill>
            <a:schemeClr val="accent1"/>
          </a:solidFill>
          <a:ln/>
        </p:spPr>
      </p:sp>
      <p:sp>
        <p:nvSpPr>
          <p:cNvPr id="54" name="text-193"/>
          <p:cNvSpPr txBox="1"/>
          <p:nvPr/>
        </p:nvSpPr>
        <p:spPr>
          <a:xfrm>
            <a:off x="841248" y="5870448"/>
            <a:ext cx="1188720" cy="292608"/>
          </a:xfrm>
          <a:prstGeom prst="rect">
            <a:avLst/>
          </a:prstGeom>
          <a:noFill/>
          <a:ln/>
        </p:spPr>
        <p:txBody>
          <a:bodyPr wrap="square" lIns="0" tIns="0" rIns="0" bIns="0" rtlCol="0" anchor="ctr"/>
          <a:lstStyle/>
          <a:p>
            <a:pPr indent="0" marL="0">
              <a:buNone/>
            </a:pPr>
            <a:r>
              <a:rPr lang="en-US" sz="1200" dirty="0">
                <a:solidFill>
                  <a:schemeClr val="tx1"/>
                </a:solidFill>
              </a:rPr>
              <a:t>DINOv3</a:t>
            </a:r>
            <a:endParaRPr lang="en-US" sz="1200" dirty="0"/>
          </a:p>
        </p:txBody>
      </p:sp>
      <p:sp>
        <p:nvSpPr>
          <p:cNvPr id="55" name="Shape 52"/>
          <p:cNvSpPr/>
          <p:nvPr/>
        </p:nvSpPr>
        <p:spPr>
          <a:xfrm>
            <a:off x="2103120" y="5916168"/>
            <a:ext cx="201168" cy="201168"/>
          </a:xfrm>
          <a:prstGeom prst="roundRect">
            <a:avLst>
              <a:gd name="adj" fmla="val 18182"/>
            </a:avLst>
          </a:prstGeom>
          <a:solidFill>
            <a:schemeClr val="accent2"/>
          </a:solidFill>
          <a:ln/>
        </p:spPr>
      </p:sp>
      <p:sp>
        <p:nvSpPr>
          <p:cNvPr id="56" name="text-194"/>
          <p:cNvSpPr txBox="1"/>
          <p:nvPr/>
        </p:nvSpPr>
        <p:spPr>
          <a:xfrm>
            <a:off x="2395728" y="5870448"/>
            <a:ext cx="1188720" cy="292608"/>
          </a:xfrm>
          <a:prstGeom prst="rect">
            <a:avLst/>
          </a:prstGeom>
          <a:noFill/>
          <a:ln/>
        </p:spPr>
        <p:txBody>
          <a:bodyPr wrap="square" lIns="0" tIns="0" rIns="0" bIns="0" rtlCol="0" anchor="ctr"/>
          <a:lstStyle/>
          <a:p>
            <a:pPr indent="0" marL="0">
              <a:buNone/>
            </a:pPr>
            <a:r>
              <a:rPr lang="en-US" sz="1200" dirty="0">
                <a:solidFill>
                  <a:schemeClr val="tx1"/>
                </a:solidFill>
              </a:rPr>
              <a:t>RadImageNet</a:t>
            </a:r>
            <a:endParaRPr lang="en-US" sz="1200" dirty="0"/>
          </a:p>
        </p:txBody>
      </p:sp>
      <p:sp>
        <p:nvSpPr>
          <p:cNvPr id="57" name="Shape 54"/>
          <p:cNvSpPr/>
          <p:nvPr/>
        </p:nvSpPr>
        <p:spPr>
          <a:xfrm>
            <a:off x="3657600" y="5916168"/>
            <a:ext cx="201168" cy="201168"/>
          </a:xfrm>
          <a:prstGeom prst="roundRect">
            <a:avLst>
              <a:gd name="adj" fmla="val 18182"/>
            </a:avLst>
          </a:prstGeom>
          <a:solidFill>
            <a:schemeClr val="accent3"/>
          </a:solidFill>
          <a:ln/>
        </p:spPr>
      </p:sp>
      <p:sp>
        <p:nvSpPr>
          <p:cNvPr id="58" name="text-195"/>
          <p:cNvSpPr txBox="1"/>
          <p:nvPr/>
        </p:nvSpPr>
        <p:spPr>
          <a:xfrm>
            <a:off x="3950208" y="5870448"/>
            <a:ext cx="1188720" cy="292608"/>
          </a:xfrm>
          <a:prstGeom prst="rect">
            <a:avLst/>
          </a:prstGeom>
          <a:noFill/>
          <a:ln/>
        </p:spPr>
        <p:txBody>
          <a:bodyPr wrap="square" lIns="0" tIns="0" rIns="0" bIns="0" rtlCol="0" anchor="ctr"/>
          <a:lstStyle/>
          <a:p>
            <a:pPr indent="0" marL="0">
              <a:buNone/>
            </a:pPr>
            <a:r>
              <a:rPr lang="en-US" sz="1200" dirty="0">
                <a:solidFill>
                  <a:schemeClr val="tx1"/>
                </a:solidFill>
              </a:rPr>
              <a:t>CoAtNet</a:t>
            </a:r>
            <a:endParaRPr lang="en-US" sz="1200" dirty="0"/>
          </a:p>
        </p:txBody>
      </p:sp>
      <p:sp>
        <p:nvSpPr>
          <p:cNvPr id="59" name="letter-196"/>
          <p:cNvSpPr/>
          <p:nvPr/>
        </p:nvSpPr>
        <p:spPr>
          <a:xfrm>
            <a:off x="5394960" y="5870448"/>
            <a:ext cx="274320" cy="27432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60" name="letter-197"/>
          <p:cNvSpPr/>
          <p:nvPr/>
        </p:nvSpPr>
        <p:spPr>
          <a:xfrm>
            <a:off x="5715000" y="5870448"/>
            <a:ext cx="274320" cy="27432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61" name="letter-198"/>
          <p:cNvSpPr/>
          <p:nvPr/>
        </p:nvSpPr>
        <p:spPr>
          <a:xfrm>
            <a:off x="6035040" y="5870448"/>
            <a:ext cx="274320" cy="27432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G</a:t>
            </a:r>
            <a:endParaRPr lang="en-US" sz="1200" dirty="0"/>
          </a:p>
        </p:txBody>
      </p:sp>
      <p:sp>
        <p:nvSpPr>
          <p:cNvPr id="62" name="text-199"/>
          <p:cNvSpPr txBox="1"/>
          <p:nvPr/>
        </p:nvSpPr>
        <p:spPr>
          <a:xfrm>
            <a:off x="6446520" y="5870448"/>
            <a:ext cx="2926080" cy="292608"/>
          </a:xfrm>
          <a:prstGeom prst="rect">
            <a:avLst/>
          </a:prstGeom>
          <a:noFill/>
          <a:ln/>
        </p:spPr>
        <p:txBody>
          <a:bodyPr wrap="square" lIns="0" tIns="0" rIns="0" bIns="0" rtlCol="0" anchor="ctr"/>
          <a:lstStyle/>
          <a:p>
            <a:pPr indent="0" marL="0">
              <a:buNone/>
            </a:pPr>
            <a:r>
              <a:rPr lang="en-US" sz="1200" dirty="0">
                <a:solidFill>
                  <a:schemeClr val="tx1"/>
                </a:solidFill>
              </a:rPr>
              <a:t>ABG experiment additions</a:t>
            </a:r>
            <a:endParaRPr lang="en-US" sz="1200" dirty="0"/>
          </a:p>
        </p:txBody>
      </p:sp>
      <p:sp>
        <p:nvSpPr>
          <p:cNvPr id="63" name="text-200"/>
          <p:cNvSpPr txBox="1"/>
          <p:nvPr/>
        </p:nvSpPr>
        <p:spPr>
          <a:xfrm>
            <a:off x="8961120" y="5870448"/>
            <a:ext cx="2651760" cy="292608"/>
          </a:xfrm>
          <a:prstGeom prst="rect">
            <a:avLst/>
          </a:prstGeom>
          <a:noFill/>
          <a:ln/>
        </p:spPr>
        <p:txBody>
          <a:bodyPr wrap="square" lIns="0" tIns="0" rIns="0" bIns="0" rtlCol="0" anchor="ctr"/>
          <a:lstStyle/>
          <a:p>
            <a:pPr algn="r" indent="0" marL="0">
              <a:buNone/>
            </a:pPr>
            <a:r>
              <a:rPr lang="en-US" sz="1100" dirty="0">
                <a:solidFill>
                  <a:schemeClr val="accent5"/>
                </a:solidFill>
              </a:rPr>
              <a:t>T = DINO/A5 + calibrated Rad branch</a:t>
            </a:r>
            <a:endParaRPr lang="en-US" sz="11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METHOD</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From DICOM series to a six-slot input</a:t>
            </a:r>
            <a:endParaRPr lang="en-US" sz="3400" dirty="0"/>
          </a:p>
        </p:txBody>
      </p:sp>
      <p:sp>
        <p:nvSpPr>
          <p:cNvPr id="4" name="card-201"/>
          <p:cNvSpPr/>
          <p:nvPr/>
        </p:nvSpPr>
        <p:spPr>
          <a:xfrm>
            <a:off x="548640" y="1508760"/>
            <a:ext cx="2514600" cy="2468880"/>
          </a:xfrm>
          <a:prstGeom prst="roundRect">
            <a:avLst>
              <a:gd name="adj" fmla="val 4444"/>
            </a:avLst>
          </a:prstGeom>
          <a:solidFill>
            <a:schemeClr val="bg2"/>
          </a:solidFill>
          <a:ln/>
        </p:spPr>
      </p:sp>
      <p:sp>
        <p:nvSpPr>
          <p:cNvPr id="5" name="letter-202"/>
          <p:cNvSpPr/>
          <p:nvPr/>
        </p:nvSpPr>
        <p:spPr>
          <a:xfrm>
            <a:off x="731520" y="166420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203"/>
          <p:cNvSpPr txBox="1"/>
          <p:nvPr/>
        </p:nvSpPr>
        <p:spPr>
          <a:xfrm>
            <a:off x="1170432" y="1691640"/>
            <a:ext cx="1783080" cy="292608"/>
          </a:xfrm>
          <a:prstGeom prst="rect">
            <a:avLst/>
          </a:prstGeom>
          <a:noFill/>
          <a:ln/>
        </p:spPr>
        <p:txBody>
          <a:bodyPr wrap="square" lIns="0" tIns="0" rIns="0" bIns="0" rtlCol="0" anchor="ctr"/>
          <a:lstStyle/>
          <a:p>
            <a:pPr indent="0" marL="0">
              <a:buNone/>
            </a:pPr>
            <a:r>
              <a:rPr lang="en-US" sz="1700" b="1" dirty="0">
                <a:solidFill>
                  <a:schemeClr val="tx1"/>
                </a:solidFill>
              </a:rPr>
              <a:t>Study</a:t>
            </a:r>
            <a:endParaRPr lang="en-US" sz="1700" dirty="0"/>
          </a:p>
        </p:txBody>
      </p:sp>
      <p:sp>
        <p:nvSpPr>
          <p:cNvPr id="7" name="text-204"/>
          <p:cNvSpPr txBox="1"/>
          <p:nvPr/>
        </p:nvSpPr>
        <p:spPr>
          <a:xfrm>
            <a:off x="731520" y="2148840"/>
            <a:ext cx="2148840" cy="1737360"/>
          </a:xfrm>
          <a:prstGeom prst="rect">
            <a:avLst/>
          </a:prstGeom>
          <a:noFill/>
          <a:ln/>
        </p:spPr>
        <p:txBody>
          <a:bodyPr wrap="square" lIns="0" tIns="0" rIns="0" bIns="0" rtlCol="0" anchor="t"/>
          <a:lstStyle/>
          <a:p>
            <a:pPr indent="0" marL="0">
              <a:buNone/>
            </a:pPr>
            <a:r>
              <a:rPr lang="en-US" sz="1300" dirty="0">
                <a:solidFill>
                  <a:schemeClr val="tx2"/>
                </a:solidFill>
              </a:rPr>
              <a:t>Several DICOM series per exam: sagittal, coronal and axial, fluid-sensitive (fat-sat) and structural.</a:t>
            </a:r>
            <a:endParaRPr lang="en-US" sz="1300" dirty="0"/>
          </a:p>
        </p:txBody>
      </p:sp>
      <p:sp>
        <p:nvSpPr>
          <p:cNvPr id="8" name="arrow-205"/>
          <p:cNvSpPr/>
          <p:nvPr/>
        </p:nvSpPr>
        <p:spPr>
          <a:xfrm>
            <a:off x="3099816" y="2743200"/>
            <a:ext cx="271577" cy="0"/>
          </a:xfrm>
          <a:prstGeom prst="line">
            <a:avLst/>
          </a:prstGeom>
          <a:noFill/>
          <a:ln w="25400">
            <a:solidFill>
              <a:schemeClr val="accent1"/>
            </a:solidFill>
            <a:prstDash val="solid"/>
            <a:tailEnd type="triangle"/>
          </a:ln>
        </p:spPr>
      </p:sp>
      <p:sp>
        <p:nvSpPr>
          <p:cNvPr id="9" name="card-206"/>
          <p:cNvSpPr/>
          <p:nvPr/>
        </p:nvSpPr>
        <p:spPr>
          <a:xfrm>
            <a:off x="3407969" y="1508760"/>
            <a:ext cx="2514600" cy="2468880"/>
          </a:xfrm>
          <a:prstGeom prst="roundRect">
            <a:avLst>
              <a:gd name="adj" fmla="val 4444"/>
            </a:avLst>
          </a:prstGeom>
          <a:solidFill>
            <a:schemeClr val="bg2"/>
          </a:solidFill>
          <a:ln/>
        </p:spPr>
      </p:sp>
      <p:sp>
        <p:nvSpPr>
          <p:cNvPr id="10" name="letter-207"/>
          <p:cNvSpPr/>
          <p:nvPr/>
        </p:nvSpPr>
        <p:spPr>
          <a:xfrm>
            <a:off x="3590849" y="166420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208"/>
          <p:cNvSpPr txBox="1"/>
          <p:nvPr/>
        </p:nvSpPr>
        <p:spPr>
          <a:xfrm>
            <a:off x="4029761" y="1691640"/>
            <a:ext cx="1783080" cy="292608"/>
          </a:xfrm>
          <a:prstGeom prst="rect">
            <a:avLst/>
          </a:prstGeom>
          <a:noFill/>
          <a:ln/>
        </p:spPr>
        <p:txBody>
          <a:bodyPr wrap="square" lIns="0" tIns="0" rIns="0" bIns="0" rtlCol="0" anchor="ctr"/>
          <a:lstStyle/>
          <a:p>
            <a:pPr indent="0" marL="0">
              <a:buNone/>
            </a:pPr>
            <a:r>
              <a:rPr lang="en-US" sz="1700" b="1" dirty="0">
                <a:solidFill>
                  <a:schemeClr val="tx1"/>
                </a:solidFill>
              </a:rPr>
              <a:t>Read headers</a:t>
            </a:r>
            <a:endParaRPr lang="en-US" sz="1700" dirty="0"/>
          </a:p>
        </p:txBody>
      </p:sp>
      <p:sp>
        <p:nvSpPr>
          <p:cNvPr id="12" name="text-209"/>
          <p:cNvSpPr txBox="1"/>
          <p:nvPr/>
        </p:nvSpPr>
        <p:spPr>
          <a:xfrm>
            <a:off x="3590849" y="2148840"/>
            <a:ext cx="2148840" cy="1737360"/>
          </a:xfrm>
          <a:prstGeom prst="rect">
            <a:avLst/>
          </a:prstGeom>
          <a:noFill/>
          <a:ln/>
        </p:spPr>
        <p:txBody>
          <a:bodyPr wrap="square" lIns="0" tIns="0" rIns="0" bIns="0" rtlCol="0" anchor="t"/>
          <a:lstStyle/>
          <a:p>
            <a:pPr indent="0" marL="0">
              <a:buNone/>
            </a:pPr>
            <a:r>
              <a:rPr lang="en-US" sz="1300" dirty="0">
                <a:solidFill>
                  <a:schemeClr val="tx2"/>
                </a:solidFill>
              </a:rPr>
              <a:t>Plane from image orientation; fat-sat from series text and sequence tags; laterality from tag or geometry; slices ordered by position.</a:t>
            </a:r>
            <a:endParaRPr lang="en-US" sz="1300" dirty="0"/>
          </a:p>
        </p:txBody>
      </p:sp>
      <p:sp>
        <p:nvSpPr>
          <p:cNvPr id="13" name="arrow-210"/>
          <p:cNvSpPr/>
          <p:nvPr/>
        </p:nvSpPr>
        <p:spPr>
          <a:xfrm>
            <a:off x="5959145" y="2743200"/>
            <a:ext cx="271577" cy="0"/>
          </a:xfrm>
          <a:prstGeom prst="line">
            <a:avLst/>
          </a:prstGeom>
          <a:noFill/>
          <a:ln w="25400">
            <a:solidFill>
              <a:schemeClr val="accent1"/>
            </a:solidFill>
            <a:prstDash val="solid"/>
            <a:tailEnd type="triangle"/>
          </a:ln>
        </p:spPr>
      </p:sp>
      <p:sp>
        <p:nvSpPr>
          <p:cNvPr id="14" name="card-211"/>
          <p:cNvSpPr/>
          <p:nvPr/>
        </p:nvSpPr>
        <p:spPr>
          <a:xfrm>
            <a:off x="6267298" y="1508760"/>
            <a:ext cx="2514600" cy="2468880"/>
          </a:xfrm>
          <a:prstGeom prst="roundRect">
            <a:avLst>
              <a:gd name="adj" fmla="val 4444"/>
            </a:avLst>
          </a:prstGeom>
          <a:solidFill>
            <a:schemeClr val="bg2"/>
          </a:solidFill>
          <a:ln/>
        </p:spPr>
      </p:sp>
      <p:sp>
        <p:nvSpPr>
          <p:cNvPr id="15" name="letter-212"/>
          <p:cNvSpPr/>
          <p:nvPr/>
        </p:nvSpPr>
        <p:spPr>
          <a:xfrm>
            <a:off x="6450178" y="166420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213"/>
          <p:cNvSpPr txBox="1"/>
          <p:nvPr/>
        </p:nvSpPr>
        <p:spPr>
          <a:xfrm>
            <a:off x="6889090" y="1691640"/>
            <a:ext cx="1783080" cy="292608"/>
          </a:xfrm>
          <a:prstGeom prst="rect">
            <a:avLst/>
          </a:prstGeom>
          <a:noFill/>
          <a:ln/>
        </p:spPr>
        <p:txBody>
          <a:bodyPr wrap="square" lIns="0" tIns="0" rIns="0" bIns="0" rtlCol="0" anchor="ctr"/>
          <a:lstStyle/>
          <a:p>
            <a:pPr indent="0" marL="0">
              <a:buNone/>
            </a:pPr>
            <a:r>
              <a:rPr lang="en-US" sz="1700" b="1" dirty="0">
                <a:solidFill>
                  <a:schemeClr val="tx1"/>
                </a:solidFill>
              </a:rPr>
              <a:t>Fill slots</a:t>
            </a:r>
            <a:endParaRPr lang="en-US" sz="1700" dirty="0"/>
          </a:p>
        </p:txBody>
      </p:sp>
      <p:sp>
        <p:nvSpPr>
          <p:cNvPr id="17" name="arrow-214"/>
          <p:cNvSpPr/>
          <p:nvPr/>
        </p:nvSpPr>
        <p:spPr>
          <a:xfrm>
            <a:off x="8818474" y="2743200"/>
            <a:ext cx="271577" cy="0"/>
          </a:xfrm>
          <a:prstGeom prst="line">
            <a:avLst/>
          </a:prstGeom>
          <a:noFill/>
          <a:ln w="25400">
            <a:solidFill>
              <a:schemeClr val="accent1"/>
            </a:solidFill>
            <a:prstDash val="solid"/>
            <a:tailEnd type="triangle"/>
          </a:ln>
        </p:spPr>
      </p:sp>
      <p:sp>
        <p:nvSpPr>
          <p:cNvPr id="18" name="card-215"/>
          <p:cNvSpPr/>
          <p:nvPr/>
        </p:nvSpPr>
        <p:spPr>
          <a:xfrm>
            <a:off x="9126626" y="1508760"/>
            <a:ext cx="2514600" cy="2468880"/>
          </a:xfrm>
          <a:prstGeom prst="roundRect">
            <a:avLst>
              <a:gd name="adj" fmla="val 4444"/>
            </a:avLst>
          </a:prstGeom>
          <a:solidFill>
            <a:schemeClr val="bg2"/>
          </a:solidFill>
          <a:ln/>
        </p:spPr>
      </p:sp>
      <p:sp>
        <p:nvSpPr>
          <p:cNvPr id="19" name="letter-216"/>
          <p:cNvSpPr/>
          <p:nvPr/>
        </p:nvSpPr>
        <p:spPr>
          <a:xfrm>
            <a:off x="9309506" y="1664208"/>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text-217"/>
          <p:cNvSpPr txBox="1"/>
          <p:nvPr/>
        </p:nvSpPr>
        <p:spPr>
          <a:xfrm>
            <a:off x="9748418" y="1691640"/>
            <a:ext cx="1783080" cy="292608"/>
          </a:xfrm>
          <a:prstGeom prst="rect">
            <a:avLst/>
          </a:prstGeom>
          <a:noFill/>
          <a:ln/>
        </p:spPr>
        <p:txBody>
          <a:bodyPr wrap="square" lIns="0" tIns="0" rIns="0" bIns="0" rtlCol="0" anchor="ctr"/>
          <a:lstStyle/>
          <a:p>
            <a:pPr indent="0" marL="0">
              <a:buNone/>
            </a:pPr>
            <a:r>
              <a:rPr lang="en-US" sz="1700" b="1" dirty="0">
                <a:solidFill>
                  <a:schemeClr val="tx1"/>
                </a:solidFill>
              </a:rPr>
              <a:t>Normalise</a:t>
            </a:r>
            <a:endParaRPr lang="en-US" sz="1700" dirty="0"/>
          </a:p>
        </p:txBody>
      </p:sp>
      <p:sp>
        <p:nvSpPr>
          <p:cNvPr id="21" name="text-218"/>
          <p:cNvSpPr txBox="1"/>
          <p:nvPr/>
        </p:nvSpPr>
        <p:spPr>
          <a:xfrm>
            <a:off x="9309506" y="2148840"/>
            <a:ext cx="2148840" cy="1737360"/>
          </a:xfrm>
          <a:prstGeom prst="rect">
            <a:avLst/>
          </a:prstGeom>
          <a:noFill/>
          <a:ln/>
        </p:spPr>
        <p:txBody>
          <a:bodyPr wrap="square" lIns="0" tIns="0" rIns="0" bIns="0" rtlCol="0" anchor="t"/>
          <a:lstStyle/>
          <a:p>
            <a:pPr indent="0" marL="0">
              <a:buNone/>
            </a:pPr>
            <a:r>
              <a:rPr lang="en-US" sz="1300" dirty="0">
                <a:solidFill>
                  <a:schemeClr val="tx2"/>
                </a:solidFill>
              </a:rPr>
              <a:t>Right knees flipped to a common side, ≈130 mm crop around the knee, resize, slice window.</a:t>
            </a:r>
            <a:endParaRPr lang="en-US" sz="1300" dirty="0"/>
          </a:p>
        </p:txBody>
      </p:sp>
      <p:sp>
        <p:nvSpPr>
          <p:cNvPr id="22" name="text-219"/>
          <p:cNvSpPr txBox="1"/>
          <p:nvPr/>
        </p:nvSpPr>
        <p:spPr>
          <a:xfrm>
            <a:off x="7044538" y="2148840"/>
            <a:ext cx="457200" cy="228600"/>
          </a:xfrm>
          <a:prstGeom prst="rect">
            <a:avLst/>
          </a:prstGeom>
          <a:noFill/>
          <a:ln/>
        </p:spPr>
        <p:txBody>
          <a:bodyPr wrap="square" lIns="0" tIns="0" rIns="0" bIns="0" rtlCol="0" anchor="t"/>
          <a:lstStyle/>
          <a:p>
            <a:pPr algn="ctr" indent="0" marL="0">
              <a:buNone/>
            </a:pPr>
            <a:r>
              <a:rPr lang="en-US" sz="1100" b="1" dirty="0">
                <a:solidFill>
                  <a:schemeClr val="accent5"/>
                </a:solidFill>
              </a:rPr>
              <a:t>Sag</a:t>
            </a:r>
            <a:endParaRPr lang="en-US" sz="1100" dirty="0"/>
          </a:p>
        </p:txBody>
      </p:sp>
      <p:sp>
        <p:nvSpPr>
          <p:cNvPr id="23" name="text-220"/>
          <p:cNvSpPr txBox="1"/>
          <p:nvPr/>
        </p:nvSpPr>
        <p:spPr>
          <a:xfrm>
            <a:off x="7556602" y="2148840"/>
            <a:ext cx="457200" cy="228600"/>
          </a:xfrm>
          <a:prstGeom prst="rect">
            <a:avLst/>
          </a:prstGeom>
          <a:noFill/>
          <a:ln/>
        </p:spPr>
        <p:txBody>
          <a:bodyPr wrap="square" lIns="0" tIns="0" rIns="0" bIns="0" rtlCol="0" anchor="t"/>
          <a:lstStyle/>
          <a:p>
            <a:pPr algn="ctr" indent="0" marL="0">
              <a:buNone/>
            </a:pPr>
            <a:r>
              <a:rPr lang="en-US" sz="1100" b="1" dirty="0">
                <a:solidFill>
                  <a:schemeClr val="accent5"/>
                </a:solidFill>
              </a:rPr>
              <a:t>Cor</a:t>
            </a:r>
            <a:endParaRPr lang="en-US" sz="1100" dirty="0"/>
          </a:p>
        </p:txBody>
      </p:sp>
      <p:sp>
        <p:nvSpPr>
          <p:cNvPr id="24" name="text-221"/>
          <p:cNvSpPr txBox="1"/>
          <p:nvPr/>
        </p:nvSpPr>
        <p:spPr>
          <a:xfrm>
            <a:off x="8068666" y="2148840"/>
            <a:ext cx="457200" cy="228600"/>
          </a:xfrm>
          <a:prstGeom prst="rect">
            <a:avLst/>
          </a:prstGeom>
          <a:noFill/>
          <a:ln/>
        </p:spPr>
        <p:txBody>
          <a:bodyPr wrap="square" lIns="0" tIns="0" rIns="0" bIns="0" rtlCol="0" anchor="t"/>
          <a:lstStyle/>
          <a:p>
            <a:pPr algn="ctr" indent="0" marL="0">
              <a:buNone/>
            </a:pPr>
            <a:r>
              <a:rPr lang="en-US" sz="1100" b="1" dirty="0">
                <a:solidFill>
                  <a:schemeClr val="accent5"/>
                </a:solidFill>
              </a:rPr>
              <a:t>Ax</a:t>
            </a:r>
            <a:endParaRPr lang="en-US" sz="1100" dirty="0"/>
          </a:p>
        </p:txBody>
      </p:sp>
      <p:sp>
        <p:nvSpPr>
          <p:cNvPr id="25" name="text-222"/>
          <p:cNvSpPr txBox="1"/>
          <p:nvPr/>
        </p:nvSpPr>
        <p:spPr>
          <a:xfrm>
            <a:off x="6450178" y="2514600"/>
            <a:ext cx="594360" cy="228600"/>
          </a:xfrm>
          <a:prstGeom prst="rect">
            <a:avLst/>
          </a:prstGeom>
          <a:noFill/>
          <a:ln/>
        </p:spPr>
        <p:txBody>
          <a:bodyPr wrap="square" lIns="0" tIns="0" rIns="0" bIns="0" rtlCol="0" anchor="t"/>
          <a:lstStyle/>
          <a:p>
            <a:pPr indent="0" marL="0">
              <a:buNone/>
            </a:pPr>
            <a:r>
              <a:rPr lang="en-US" sz="1000" dirty="0">
                <a:solidFill>
                  <a:schemeClr val="accent5"/>
                </a:solidFill>
              </a:rPr>
              <a:t>fat-sat</a:t>
            </a:r>
            <a:endParaRPr lang="en-US" sz="1000" dirty="0"/>
          </a:p>
        </p:txBody>
      </p:sp>
      <p:sp>
        <p:nvSpPr>
          <p:cNvPr id="26" name="slot-223"/>
          <p:cNvSpPr/>
          <p:nvPr/>
        </p:nvSpPr>
        <p:spPr>
          <a:xfrm>
            <a:off x="7044538" y="2423160"/>
            <a:ext cx="457200" cy="411480"/>
          </a:xfrm>
          <a:prstGeom prst="roundRect">
            <a:avLst>
              <a:gd name="adj" fmla="val 13333"/>
            </a:avLst>
          </a:prstGeom>
          <a:solidFill>
            <a:schemeClr val="accent1">
              <a:alpha val="85000"/>
            </a:schemeClr>
          </a:solidFill>
          <a:ln/>
        </p:spPr>
      </p:sp>
      <p:sp>
        <p:nvSpPr>
          <p:cNvPr id="27" name="slot-224"/>
          <p:cNvSpPr/>
          <p:nvPr/>
        </p:nvSpPr>
        <p:spPr>
          <a:xfrm>
            <a:off x="7556602" y="2423160"/>
            <a:ext cx="457200" cy="411480"/>
          </a:xfrm>
          <a:prstGeom prst="roundRect">
            <a:avLst>
              <a:gd name="adj" fmla="val 13333"/>
            </a:avLst>
          </a:prstGeom>
          <a:solidFill>
            <a:schemeClr val="accent1">
              <a:alpha val="85000"/>
            </a:schemeClr>
          </a:solidFill>
          <a:ln/>
        </p:spPr>
      </p:sp>
      <p:sp>
        <p:nvSpPr>
          <p:cNvPr id="28" name="slot-225"/>
          <p:cNvSpPr/>
          <p:nvPr/>
        </p:nvSpPr>
        <p:spPr>
          <a:xfrm>
            <a:off x="8068666" y="2423160"/>
            <a:ext cx="457200" cy="411480"/>
          </a:xfrm>
          <a:prstGeom prst="roundRect">
            <a:avLst>
              <a:gd name="adj" fmla="val 13333"/>
            </a:avLst>
          </a:prstGeom>
          <a:solidFill>
            <a:schemeClr val="accent1">
              <a:alpha val="85000"/>
            </a:schemeClr>
          </a:solidFill>
          <a:ln/>
        </p:spPr>
      </p:sp>
      <p:sp>
        <p:nvSpPr>
          <p:cNvPr id="29" name="text-226"/>
          <p:cNvSpPr txBox="1"/>
          <p:nvPr/>
        </p:nvSpPr>
        <p:spPr>
          <a:xfrm>
            <a:off x="6450178" y="2980944"/>
            <a:ext cx="594360" cy="228600"/>
          </a:xfrm>
          <a:prstGeom prst="rect">
            <a:avLst/>
          </a:prstGeom>
          <a:noFill/>
          <a:ln/>
        </p:spPr>
        <p:txBody>
          <a:bodyPr wrap="square" lIns="0" tIns="0" rIns="0" bIns="0" rtlCol="0" anchor="t"/>
          <a:lstStyle/>
          <a:p>
            <a:pPr indent="0" marL="0">
              <a:buNone/>
            </a:pPr>
            <a:r>
              <a:rPr lang="en-US" sz="1000" dirty="0">
                <a:solidFill>
                  <a:schemeClr val="accent5"/>
                </a:solidFill>
              </a:rPr>
              <a:t>struct.</a:t>
            </a:r>
            <a:endParaRPr lang="en-US" sz="1000" dirty="0"/>
          </a:p>
        </p:txBody>
      </p:sp>
      <p:sp>
        <p:nvSpPr>
          <p:cNvPr id="30" name="slot-227"/>
          <p:cNvSpPr/>
          <p:nvPr/>
        </p:nvSpPr>
        <p:spPr>
          <a:xfrm>
            <a:off x="7044538" y="2889504"/>
            <a:ext cx="457200" cy="411480"/>
          </a:xfrm>
          <a:prstGeom prst="roundRect">
            <a:avLst>
              <a:gd name="adj" fmla="val 13333"/>
            </a:avLst>
          </a:prstGeom>
          <a:solidFill>
            <a:schemeClr val="accent1">
              <a:alpha val="45000"/>
            </a:schemeClr>
          </a:solidFill>
          <a:ln/>
        </p:spPr>
      </p:sp>
      <p:sp>
        <p:nvSpPr>
          <p:cNvPr id="31" name="slot-228"/>
          <p:cNvSpPr/>
          <p:nvPr/>
        </p:nvSpPr>
        <p:spPr>
          <a:xfrm>
            <a:off x="7556602" y="2889504"/>
            <a:ext cx="457200" cy="411480"/>
          </a:xfrm>
          <a:prstGeom prst="roundRect">
            <a:avLst>
              <a:gd name="adj" fmla="val 13333"/>
            </a:avLst>
          </a:prstGeom>
          <a:solidFill>
            <a:schemeClr val="accent1">
              <a:alpha val="45000"/>
            </a:schemeClr>
          </a:solidFill>
          <a:ln/>
        </p:spPr>
      </p:sp>
      <p:sp>
        <p:nvSpPr>
          <p:cNvPr id="32" name="slot-229"/>
          <p:cNvSpPr/>
          <p:nvPr/>
        </p:nvSpPr>
        <p:spPr>
          <a:xfrm>
            <a:off x="8068666" y="2889504"/>
            <a:ext cx="457200" cy="411480"/>
          </a:xfrm>
          <a:prstGeom prst="roundRect">
            <a:avLst>
              <a:gd name="adj" fmla="val 13333"/>
            </a:avLst>
          </a:prstGeom>
          <a:solidFill>
            <a:schemeClr val="accent1">
              <a:alpha val="45000"/>
            </a:schemeClr>
          </a:solidFill>
          <a:ln/>
        </p:spPr>
      </p:sp>
      <p:sp>
        <p:nvSpPr>
          <p:cNvPr id="33" name="text-230"/>
          <p:cNvSpPr txBox="1"/>
          <p:nvPr/>
        </p:nvSpPr>
        <p:spPr>
          <a:xfrm>
            <a:off x="6450178" y="3364992"/>
            <a:ext cx="2148840" cy="502920"/>
          </a:xfrm>
          <a:prstGeom prst="rect">
            <a:avLst/>
          </a:prstGeom>
          <a:noFill/>
          <a:ln/>
        </p:spPr>
        <p:txBody>
          <a:bodyPr wrap="square" lIns="0" tIns="0" rIns="0" bIns="0" rtlCol="0" anchor="t"/>
          <a:lstStyle/>
          <a:p>
            <a:pPr indent="0" marL="0">
              <a:buNone/>
            </a:pPr>
            <a:r>
              <a:rPr lang="en-US" sz="1200" dirty="0">
                <a:solidFill>
                  <a:schemeClr val="tx2"/>
                </a:solidFill>
              </a:rPr>
              <a:t>6 slots; a missing slot is masked, never invented</a:t>
            </a:r>
            <a:endParaRPr lang="en-US" sz="1200" dirty="0"/>
          </a:p>
        </p:txBody>
      </p:sp>
      <p:sp>
        <p:nvSpPr>
          <p:cNvPr id="34" name="text-231"/>
          <p:cNvSpPr txBox="1"/>
          <p:nvPr/>
        </p:nvSpPr>
        <p:spPr>
          <a:xfrm>
            <a:off x="548640" y="4206240"/>
            <a:ext cx="7315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INPUT GEOMETRY BY MODEL FAMILY</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94415" cy="914400"/>
        </p:xfrm>
        <a:graphic>
          <a:graphicData uri="http://schemas.openxmlformats.org/drawingml/2006/table">
            <a:tbl>
              <a:tblPr/>
              <a:tblGrid>
                <a:gridCol w="2651760"/>
                <a:gridCol w="1828800"/>
                <a:gridCol w="2103120"/>
                <a:gridCol w="4510735"/>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Slices</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r>
              <a:tr h="329184">
                <a:tc>
                  <a:txBody>
                    <a:bodyPr/>
                    <a:lstStyle/>
                    <a:p>
                      <a:pPr indent="0" marL="0">
                        <a:buNone/>
                      </a:pPr>
                      <a:r>
                        <a:rPr lang="en-US" sz="1200" b="1" dirty="0">
                          <a:solidFill>
                            <a:srgbClr val="33424F"/>
                          </a:solidFill>
                          <a:latin typeface="Calibri" pitchFamily="34" charset="0"/>
                          <a:ea typeface="Calibri" pitchFamily="34" charset="-122"/>
                          <a:cs typeface="Calibri" pitchFamily="34" charset="-120"/>
                        </a:rPr>
                        <a:t>DINOv3 members (20)</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336 px</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12 per slot</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≈130 mm crop; 10 overlapping windows vote</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3424F"/>
                          </a:solidFill>
                          <a:latin typeface="Calibri" pitchFamily="34" charset="0"/>
                          <a:ea typeface="Calibri" pitchFamily="34" charset="-122"/>
                          <a:cs typeface="Calibri" pitchFamily="34" charset="-120"/>
                        </a:rPr>
                        <a:t>A5 folds (5)</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336 px</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16, band 12–88 %</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per-slice intensity scaling</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3424F"/>
                          </a:solidFill>
                          <a:latin typeface="Calibri" pitchFamily="34" charset="0"/>
                          <a:ea typeface="Calibri" pitchFamily="34" charset="-122"/>
                          <a:cs typeface="Calibri" pitchFamily="34" charset="-120"/>
                        </a:rPr>
                        <a:t>RadImageNet heads</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224 px</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per slot-series</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E10 layout: 8 slot-series; E11 layout: 7</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3424F"/>
                          </a:solidFill>
                          <a:latin typeface="Calibri" pitchFamily="34" charset="0"/>
                          <a:ea typeface="Calibri" pitchFamily="34" charset="-122"/>
                          <a:cs typeface="Calibri" pitchFamily="34" charset="-120"/>
                        </a:rPr>
                        <a:t>Raptor max-span arm</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336 px (res 384)</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64, span 2–98 %</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latin typeface="Calibri" pitchFamily="34" charset="0"/>
                          <a:ea typeface="Calibri" pitchFamily="34" charset="-122"/>
                          <a:cs typeface="Calibri" pitchFamily="34" charset="-120"/>
                        </a:rPr>
                        <a:t>62 windows per study</a:t>
                      </a:r>
                      <a:endParaRPr lang="en-US" sz="1200" dirty="0">
                        <a:latin typeface="Calibri" charset="0"/>
                        <a:ea typeface="Calibri" charset="0"/>
                        <a:cs typeface="Calibri" charset="0"/>
                      </a:endParaRPr>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METHOD</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DINOv3 ensemble with slot attention</a:t>
            </a:r>
            <a:endParaRPr lang="en-US" sz="3400" dirty="0"/>
          </a:p>
        </p:txBody>
      </p:sp>
      <p:sp>
        <p:nvSpPr>
          <p:cNvPr id="4" name="card-232"/>
          <p:cNvSpPr/>
          <p:nvPr/>
        </p:nvSpPr>
        <p:spPr>
          <a:xfrm>
            <a:off x="548640" y="1508760"/>
            <a:ext cx="1828800" cy="1554480"/>
          </a:xfrm>
          <a:prstGeom prst="roundRect">
            <a:avLst>
              <a:gd name="adj" fmla="val 7059"/>
            </a:avLst>
          </a:prstGeom>
          <a:solidFill>
            <a:schemeClr val="accent1">
              <a:alpha val="15000"/>
            </a:schemeClr>
          </a:solidFill>
          <a:ln/>
        </p:spPr>
      </p:sp>
      <p:sp>
        <p:nvSpPr>
          <p:cNvPr id="5" name="text-233"/>
          <p:cNvSpPr txBox="1"/>
          <p:nvPr/>
        </p:nvSpPr>
        <p:spPr>
          <a:xfrm>
            <a:off x="685800" y="1664208"/>
            <a:ext cx="1554480" cy="365760"/>
          </a:xfrm>
          <a:prstGeom prst="rect">
            <a:avLst/>
          </a:prstGeom>
          <a:noFill/>
          <a:ln/>
        </p:spPr>
        <p:txBody>
          <a:bodyPr wrap="square" lIns="0" tIns="0" rIns="0" bIns="0" rtlCol="0" anchor="t"/>
          <a:lstStyle/>
          <a:p>
            <a:pPr indent="0" marL="0">
              <a:buNone/>
            </a:pPr>
            <a:r>
              <a:rPr lang="en-US" sz="1500" b="1" dirty="0">
                <a:solidFill>
                  <a:schemeClr val="tx1"/>
                </a:solidFill>
              </a:rPr>
              <a:t>Slice stack</a:t>
            </a:r>
            <a:endParaRPr lang="en-US" sz="1500" dirty="0"/>
          </a:p>
        </p:txBody>
      </p:sp>
      <p:sp>
        <p:nvSpPr>
          <p:cNvPr id="6" name="text-234"/>
          <p:cNvSpPr txBox="1"/>
          <p:nvPr/>
        </p:nvSpPr>
        <p:spPr>
          <a:xfrm>
            <a:off x="685800" y="2103120"/>
            <a:ext cx="1554480" cy="1097280"/>
          </a:xfrm>
          <a:prstGeom prst="rect">
            <a:avLst/>
          </a:prstGeom>
          <a:noFill/>
          <a:ln/>
        </p:spPr>
        <p:txBody>
          <a:bodyPr wrap="square" lIns="0" tIns="0" rIns="0" bIns="0" rtlCol="0" anchor="t"/>
          <a:lstStyle/>
          <a:p>
            <a:pPr indent="0" marL="0">
              <a:buNone/>
            </a:pPr>
            <a:r>
              <a:rPr lang="en-US" sz="1300" dirty="0">
                <a:solidFill>
                  <a:schemeClr val="tx2"/>
                </a:solidFill>
              </a:rPr>
              <a:t>12–16 slices per slot, 336 × 336</a:t>
            </a:r>
            <a:endParaRPr lang="en-US" sz="1300" dirty="0"/>
          </a:p>
        </p:txBody>
      </p:sp>
      <p:sp>
        <p:nvSpPr>
          <p:cNvPr id="7" name="arrow-235"/>
          <p:cNvSpPr/>
          <p:nvPr/>
        </p:nvSpPr>
        <p:spPr>
          <a:xfrm>
            <a:off x="2414016" y="2377440"/>
            <a:ext cx="414452" cy="0"/>
          </a:xfrm>
          <a:prstGeom prst="line">
            <a:avLst/>
          </a:prstGeom>
          <a:noFill/>
          <a:ln w="25400">
            <a:solidFill>
              <a:schemeClr val="accent1"/>
            </a:solidFill>
            <a:prstDash val="solid"/>
            <a:tailEnd type="triangle"/>
          </a:ln>
        </p:spPr>
      </p:sp>
      <p:sp>
        <p:nvSpPr>
          <p:cNvPr id="8" name="card-236"/>
          <p:cNvSpPr/>
          <p:nvPr/>
        </p:nvSpPr>
        <p:spPr>
          <a:xfrm>
            <a:off x="2865044" y="1508760"/>
            <a:ext cx="1828800" cy="1554480"/>
          </a:xfrm>
          <a:prstGeom prst="roundRect">
            <a:avLst>
              <a:gd name="adj" fmla="val 7059"/>
            </a:avLst>
          </a:prstGeom>
          <a:solidFill>
            <a:schemeClr val="accent1">
              <a:alpha val="15000"/>
            </a:schemeClr>
          </a:solidFill>
          <a:ln/>
        </p:spPr>
      </p:sp>
      <p:sp>
        <p:nvSpPr>
          <p:cNvPr id="9" name="text-237"/>
          <p:cNvSpPr txBox="1"/>
          <p:nvPr/>
        </p:nvSpPr>
        <p:spPr>
          <a:xfrm>
            <a:off x="3002204" y="1664208"/>
            <a:ext cx="1554480" cy="365760"/>
          </a:xfrm>
          <a:prstGeom prst="rect">
            <a:avLst/>
          </a:prstGeom>
          <a:noFill/>
          <a:ln/>
        </p:spPr>
        <p:txBody>
          <a:bodyPr wrap="square" lIns="0" tIns="0" rIns="0" bIns="0" rtlCol="0" anchor="t"/>
          <a:lstStyle/>
          <a:p>
            <a:pPr indent="0" marL="0">
              <a:buNone/>
            </a:pPr>
            <a:r>
              <a:rPr lang="en-US" sz="1500" b="1" dirty="0">
                <a:solidFill>
                  <a:schemeClr val="tx1"/>
                </a:solidFill>
              </a:rPr>
              <a:t>Patch embedding</a:t>
            </a:r>
            <a:endParaRPr lang="en-US" sz="1500" dirty="0"/>
          </a:p>
        </p:txBody>
      </p:sp>
      <p:sp>
        <p:nvSpPr>
          <p:cNvPr id="10" name="text-238"/>
          <p:cNvSpPr txBox="1"/>
          <p:nvPr/>
        </p:nvSpPr>
        <p:spPr>
          <a:xfrm>
            <a:off x="3002204" y="2103120"/>
            <a:ext cx="1554480" cy="1097280"/>
          </a:xfrm>
          <a:prstGeom prst="rect">
            <a:avLst/>
          </a:prstGeom>
          <a:noFill/>
          <a:ln/>
        </p:spPr>
        <p:txBody>
          <a:bodyPr wrap="square" lIns="0" tIns="0" rIns="0" bIns="0" rtlCol="0" anchor="t"/>
          <a:lstStyle/>
          <a:p>
            <a:pPr indent="0" marL="0">
              <a:buNone/>
            </a:pPr>
            <a:r>
              <a:rPr lang="en-US" sz="1300" dirty="0">
                <a:solidFill>
                  <a:schemeClr val="tx2"/>
                </a:solidFill>
              </a:rPr>
              <a:t>16 × 16 patches become tokens plus CLS</a:t>
            </a:r>
            <a:endParaRPr lang="en-US" sz="1300" dirty="0"/>
          </a:p>
        </p:txBody>
      </p:sp>
      <p:sp>
        <p:nvSpPr>
          <p:cNvPr id="11" name="arrow-239"/>
          <p:cNvSpPr/>
          <p:nvPr/>
        </p:nvSpPr>
        <p:spPr>
          <a:xfrm>
            <a:off x="4730420" y="2377440"/>
            <a:ext cx="414452" cy="0"/>
          </a:xfrm>
          <a:prstGeom prst="line">
            <a:avLst/>
          </a:prstGeom>
          <a:noFill/>
          <a:ln w="25400">
            <a:solidFill>
              <a:schemeClr val="accent1"/>
            </a:solidFill>
            <a:prstDash val="solid"/>
            <a:tailEnd type="triangle"/>
          </a:ln>
        </p:spPr>
      </p:sp>
      <p:sp>
        <p:nvSpPr>
          <p:cNvPr id="12" name="card-240"/>
          <p:cNvSpPr/>
          <p:nvPr/>
        </p:nvSpPr>
        <p:spPr>
          <a:xfrm>
            <a:off x="5181448" y="1508760"/>
            <a:ext cx="1828800" cy="1554480"/>
          </a:xfrm>
          <a:prstGeom prst="roundRect">
            <a:avLst>
              <a:gd name="adj" fmla="val 7059"/>
            </a:avLst>
          </a:prstGeom>
          <a:solidFill>
            <a:schemeClr val="accent1">
              <a:alpha val="15000"/>
            </a:schemeClr>
          </a:solidFill>
          <a:ln/>
        </p:spPr>
      </p:sp>
      <p:sp>
        <p:nvSpPr>
          <p:cNvPr id="13" name="text-241"/>
          <p:cNvSpPr txBox="1"/>
          <p:nvPr/>
        </p:nvSpPr>
        <p:spPr>
          <a:xfrm>
            <a:off x="5318608" y="1664208"/>
            <a:ext cx="1554480" cy="365760"/>
          </a:xfrm>
          <a:prstGeom prst="rect">
            <a:avLst/>
          </a:prstGeom>
          <a:noFill/>
          <a:ln/>
        </p:spPr>
        <p:txBody>
          <a:bodyPr wrap="square" lIns="0" tIns="0" rIns="0" bIns="0" rtlCol="0" anchor="t"/>
          <a:lstStyle/>
          <a:p>
            <a:pPr indent="0" marL="0">
              <a:buNone/>
            </a:pPr>
            <a:r>
              <a:rPr lang="en-US" sz="1500" b="1" dirty="0">
                <a:solidFill>
                  <a:schemeClr val="tx1"/>
                </a:solidFill>
              </a:rPr>
              <a:t>ViT-S/16 backbone</a:t>
            </a:r>
            <a:endParaRPr lang="en-US" sz="1500" dirty="0"/>
          </a:p>
        </p:txBody>
      </p:sp>
      <p:sp>
        <p:nvSpPr>
          <p:cNvPr id="14" name="text-242"/>
          <p:cNvSpPr txBox="1"/>
          <p:nvPr/>
        </p:nvSpPr>
        <p:spPr>
          <a:xfrm>
            <a:off x="5318608" y="2103120"/>
            <a:ext cx="1554480" cy="1097280"/>
          </a:xfrm>
          <a:prstGeom prst="rect">
            <a:avLst/>
          </a:prstGeom>
          <a:noFill/>
          <a:ln/>
        </p:spPr>
        <p:txBody>
          <a:bodyPr wrap="square" lIns="0" tIns="0" rIns="0" bIns="0" rtlCol="0" anchor="t"/>
          <a:lstStyle/>
          <a:p>
            <a:pPr indent="0" marL="0">
              <a:buNone/>
            </a:pPr>
            <a:r>
              <a:rPr lang="en-US" sz="1300" dirty="0">
                <a:solidFill>
                  <a:schemeClr val="tx2"/>
                </a:solidFill>
              </a:rPr>
              <a:t>12 blocks; last 6 trainable (≈10.7 M params)</a:t>
            </a:r>
            <a:endParaRPr lang="en-US" sz="1300" dirty="0"/>
          </a:p>
        </p:txBody>
      </p:sp>
      <p:sp>
        <p:nvSpPr>
          <p:cNvPr id="15" name="arrow-243"/>
          <p:cNvSpPr/>
          <p:nvPr/>
        </p:nvSpPr>
        <p:spPr>
          <a:xfrm>
            <a:off x="7046824" y="2377440"/>
            <a:ext cx="414452" cy="0"/>
          </a:xfrm>
          <a:prstGeom prst="line">
            <a:avLst/>
          </a:prstGeom>
          <a:noFill/>
          <a:ln w="25400">
            <a:solidFill>
              <a:schemeClr val="accent1"/>
            </a:solidFill>
            <a:prstDash val="solid"/>
            <a:tailEnd type="triangle"/>
          </a:ln>
        </p:spPr>
      </p:sp>
      <p:sp>
        <p:nvSpPr>
          <p:cNvPr id="16" name="card-244"/>
          <p:cNvSpPr/>
          <p:nvPr/>
        </p:nvSpPr>
        <p:spPr>
          <a:xfrm>
            <a:off x="7497851" y="1508760"/>
            <a:ext cx="1828800" cy="1554480"/>
          </a:xfrm>
          <a:prstGeom prst="roundRect">
            <a:avLst>
              <a:gd name="adj" fmla="val 7059"/>
            </a:avLst>
          </a:prstGeom>
          <a:solidFill>
            <a:schemeClr val="accent1">
              <a:alpha val="15000"/>
            </a:schemeClr>
          </a:solidFill>
          <a:ln/>
        </p:spPr>
      </p:sp>
      <p:sp>
        <p:nvSpPr>
          <p:cNvPr id="17" name="text-245"/>
          <p:cNvSpPr txBox="1"/>
          <p:nvPr/>
        </p:nvSpPr>
        <p:spPr>
          <a:xfrm>
            <a:off x="7635011" y="1664208"/>
            <a:ext cx="1554480" cy="365760"/>
          </a:xfrm>
          <a:prstGeom prst="rect">
            <a:avLst/>
          </a:prstGeom>
          <a:noFill/>
          <a:ln/>
        </p:spPr>
        <p:txBody>
          <a:bodyPr wrap="square" lIns="0" tIns="0" rIns="0" bIns="0" rtlCol="0" anchor="t"/>
          <a:lstStyle/>
          <a:p>
            <a:pPr indent="0" marL="0">
              <a:buNone/>
            </a:pPr>
            <a:r>
              <a:rPr lang="en-US" sz="1500" b="1" dirty="0">
                <a:solidFill>
                  <a:schemeClr val="tx1"/>
                </a:solidFill>
              </a:rPr>
              <a:t>Pool per slot</a:t>
            </a:r>
            <a:endParaRPr lang="en-US" sz="1500" dirty="0"/>
          </a:p>
        </p:txBody>
      </p:sp>
      <p:sp>
        <p:nvSpPr>
          <p:cNvPr id="18" name="text-246"/>
          <p:cNvSpPr txBox="1"/>
          <p:nvPr/>
        </p:nvSpPr>
        <p:spPr>
          <a:xfrm>
            <a:off x="7635011" y="2103120"/>
            <a:ext cx="1554480" cy="1097280"/>
          </a:xfrm>
          <a:prstGeom prst="rect">
            <a:avLst/>
          </a:prstGeom>
          <a:noFill/>
          <a:ln/>
        </p:spPr>
        <p:txBody>
          <a:bodyPr wrap="square" lIns="0" tIns="0" rIns="0" bIns="0" rtlCol="0" anchor="t"/>
          <a:lstStyle/>
          <a:p>
            <a:pPr indent="0" marL="0">
              <a:buNone/>
            </a:pPr>
            <a:r>
              <a:rPr lang="en-US" sz="1300" dirty="0">
                <a:solidFill>
                  <a:schemeClr val="tx2"/>
                </a:solidFill>
              </a:rPr>
              <a:t>CLS + mean-pooled feature, dim 768</a:t>
            </a:r>
            <a:endParaRPr lang="en-US" sz="1300" dirty="0"/>
          </a:p>
        </p:txBody>
      </p:sp>
      <p:sp>
        <p:nvSpPr>
          <p:cNvPr id="19" name="arrow-247"/>
          <p:cNvSpPr/>
          <p:nvPr/>
        </p:nvSpPr>
        <p:spPr>
          <a:xfrm>
            <a:off x="9363227" y="2377440"/>
            <a:ext cx="414452" cy="0"/>
          </a:xfrm>
          <a:prstGeom prst="line">
            <a:avLst/>
          </a:prstGeom>
          <a:noFill/>
          <a:ln w="25400">
            <a:solidFill>
              <a:schemeClr val="accent1"/>
            </a:solidFill>
            <a:prstDash val="solid"/>
            <a:tailEnd type="triangle"/>
          </a:ln>
        </p:spPr>
      </p:sp>
      <p:sp>
        <p:nvSpPr>
          <p:cNvPr id="20" name="card-248"/>
          <p:cNvSpPr/>
          <p:nvPr/>
        </p:nvSpPr>
        <p:spPr>
          <a:xfrm>
            <a:off x="9814255" y="1508760"/>
            <a:ext cx="1828800" cy="1554480"/>
          </a:xfrm>
          <a:prstGeom prst="roundRect">
            <a:avLst>
              <a:gd name="adj" fmla="val 7059"/>
            </a:avLst>
          </a:prstGeom>
          <a:solidFill>
            <a:schemeClr val="accent1">
              <a:alpha val="15000"/>
            </a:schemeClr>
          </a:solidFill>
          <a:ln/>
        </p:spPr>
      </p:sp>
      <p:sp>
        <p:nvSpPr>
          <p:cNvPr id="21" name="text-249"/>
          <p:cNvSpPr txBox="1"/>
          <p:nvPr/>
        </p:nvSpPr>
        <p:spPr>
          <a:xfrm>
            <a:off x="9951415" y="1664208"/>
            <a:ext cx="1554480" cy="365760"/>
          </a:xfrm>
          <a:prstGeom prst="rect">
            <a:avLst/>
          </a:prstGeom>
          <a:noFill/>
          <a:ln/>
        </p:spPr>
        <p:txBody>
          <a:bodyPr wrap="square" lIns="0" tIns="0" rIns="0" bIns="0" rtlCol="0" anchor="t"/>
          <a:lstStyle/>
          <a:p>
            <a:pPr indent="0" marL="0">
              <a:buNone/>
            </a:pPr>
            <a:r>
              <a:rPr lang="en-US" sz="1500" b="1" dirty="0">
                <a:solidFill>
                  <a:schemeClr val="tx1"/>
                </a:solidFill>
              </a:rPr>
              <a:t>Slot head</a:t>
            </a:r>
            <a:endParaRPr lang="en-US" sz="1500" dirty="0"/>
          </a:p>
        </p:txBody>
      </p:sp>
      <p:sp>
        <p:nvSpPr>
          <p:cNvPr id="22" name="text-250"/>
          <p:cNvSpPr txBox="1"/>
          <p:nvPr/>
        </p:nvSpPr>
        <p:spPr>
          <a:xfrm>
            <a:off x="9951415" y="2103120"/>
            <a:ext cx="1554480" cy="1097280"/>
          </a:xfrm>
          <a:prstGeom prst="rect">
            <a:avLst/>
          </a:prstGeom>
          <a:noFill/>
          <a:ln/>
        </p:spPr>
        <p:txBody>
          <a:bodyPr wrap="square" lIns="0" tIns="0" rIns="0" bIns="0" rtlCol="0" anchor="t"/>
          <a:lstStyle/>
          <a:p>
            <a:pPr indent="0" marL="0">
              <a:buNone/>
            </a:pPr>
            <a:r>
              <a:rPr lang="en-US" sz="1300" dirty="0">
                <a:solidFill>
                  <a:schemeClr val="tx2"/>
                </a:solidFill>
              </a:rPr>
              <a:t>12 finding queries attend over 6 slots; missing slots masked</a:t>
            </a:r>
            <a:endParaRPr lang="en-US" sz="1300" dirty="0"/>
          </a:p>
        </p:txBody>
      </p:sp>
      <p:sp>
        <p:nvSpPr>
          <p:cNvPr id="23" name="card-251"/>
          <p:cNvSpPr/>
          <p:nvPr/>
        </p:nvSpPr>
        <p:spPr>
          <a:xfrm>
            <a:off x="548640" y="3337560"/>
            <a:ext cx="5486400" cy="2697480"/>
          </a:xfrm>
          <a:prstGeom prst="roundRect">
            <a:avLst>
              <a:gd name="adj" fmla="val 4068"/>
            </a:avLst>
          </a:prstGeom>
          <a:solidFill>
            <a:schemeClr val="bg2"/>
          </a:solidFill>
          <a:ln/>
        </p:spPr>
      </p:sp>
      <p:sp>
        <p:nvSpPr>
          <p:cNvPr id="24" name="text-252"/>
          <p:cNvSpPr txBox="1"/>
          <p:nvPr/>
        </p:nvSpPr>
        <p:spPr>
          <a:xfrm>
            <a:off x="822960" y="3566160"/>
            <a:ext cx="4937760" cy="320040"/>
          </a:xfrm>
          <a:prstGeom prst="rect">
            <a:avLst/>
          </a:prstGeom>
          <a:noFill/>
          <a:ln/>
        </p:spPr>
        <p:txBody>
          <a:bodyPr wrap="square" lIns="0" tIns="0" rIns="0" bIns="0" rtlCol="0" anchor="t"/>
          <a:lstStyle/>
          <a:p>
            <a:pPr indent="0" marL="0">
              <a:buNone/>
            </a:pPr>
            <a:r>
              <a:rPr lang="en-US" sz="1800" b="1" dirty="0">
                <a:solidFill>
                  <a:schemeClr val="tx1"/>
                </a:solidFill>
              </a:rPr>
              <a:t>20-member ensemble</a:t>
            </a:r>
            <a:endParaRPr lang="en-US" sz="1800" dirty="0"/>
          </a:p>
        </p:txBody>
      </p:sp>
      <p:sp>
        <p:nvSpPr>
          <p:cNvPr id="25" name="Text 23"/>
          <p:cNvSpPr txBox="1"/>
          <p:nvPr/>
        </p:nvSpPr>
        <p:spPr>
          <a:xfrm>
            <a:off x="822960" y="4114800"/>
            <a:ext cx="4937760" cy="1737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Released DINO MRI weights, each with its own saved preprocessing</a:t>
            </a:r>
            <a:endParaRPr lang="en-US" sz="1500" dirty="0"/>
          </a:p>
          <a:p>
            <a:pPr marL="203200" indent="-203200">
              <a:spcAft>
                <a:spcPts val="800"/>
              </a:spcAft>
              <a:buSzPct val="100000"/>
              <a:buChar char="•"/>
            </a:pPr>
            <a:r>
              <a:rPr lang="en-US" sz="1500" dirty="0">
                <a:solidFill>
                  <a:schemeClr val="tx2"/>
                </a:solidFill>
              </a:rPr>
              <a:t>Combined by rank mean across members</a:t>
            </a:r>
            <a:endParaRPr lang="en-US" sz="1500" dirty="0"/>
          </a:p>
          <a:p>
            <a:pPr marL="203200" indent="-203200">
              <a:spcAft>
                <a:spcPts val="800"/>
              </a:spcAft>
              <a:buSzPct val="100000"/>
              <a:buChar char="•"/>
            </a:pPr>
            <a:r>
              <a:rPr lang="en-US" sz="1500" dirty="0">
                <a:solidFill>
                  <a:schemeClr val="tx2"/>
                </a:solidFill>
              </a:rPr>
              <a:t>Every weight fingerprint verified: 20 of 20 matched, largest difference 0.0000046</a:t>
            </a:r>
            <a:endParaRPr lang="en-US" sz="1500" dirty="0"/>
          </a:p>
        </p:txBody>
      </p:sp>
      <p:sp>
        <p:nvSpPr>
          <p:cNvPr id="26" name="card-253"/>
          <p:cNvSpPr/>
          <p:nvPr/>
        </p:nvSpPr>
        <p:spPr>
          <a:xfrm>
            <a:off x="6153912" y="3337560"/>
            <a:ext cx="5486400" cy="2697480"/>
          </a:xfrm>
          <a:prstGeom prst="roundRect">
            <a:avLst>
              <a:gd name="adj" fmla="val 4068"/>
            </a:avLst>
          </a:prstGeom>
          <a:solidFill>
            <a:schemeClr val="bg2"/>
          </a:solidFill>
          <a:ln/>
        </p:spPr>
      </p:sp>
      <p:sp>
        <p:nvSpPr>
          <p:cNvPr id="27" name="text-254"/>
          <p:cNvSpPr txBox="1"/>
          <p:nvPr/>
        </p:nvSpPr>
        <p:spPr>
          <a:xfrm>
            <a:off x="6428232" y="3566160"/>
            <a:ext cx="3108960" cy="320040"/>
          </a:xfrm>
          <a:prstGeom prst="rect">
            <a:avLst/>
          </a:prstGeom>
          <a:noFill/>
          <a:ln/>
        </p:spPr>
        <p:txBody>
          <a:bodyPr wrap="square" lIns="0" tIns="0" rIns="0" bIns="0" rtlCol="0" anchor="t"/>
          <a:lstStyle/>
          <a:p>
            <a:pPr indent="0" marL="0">
              <a:buNone/>
            </a:pPr>
            <a:r>
              <a:rPr lang="en-US" sz="1800" b="1" dirty="0">
                <a:solidFill>
                  <a:schemeClr val="tx1"/>
                </a:solidFill>
              </a:rPr>
              <a:t>A5 attention-pooling folds</a:t>
            </a:r>
            <a:endParaRPr lang="en-US" sz="1800" dirty="0"/>
          </a:p>
        </p:txBody>
      </p:sp>
      <p:sp>
        <p:nvSpPr>
          <p:cNvPr id="28" name="Text 26"/>
          <p:cNvSpPr txBox="1"/>
          <p:nvPr/>
        </p:nvSpPr>
        <p:spPr>
          <a:xfrm>
            <a:off x="6428232" y="4114800"/>
            <a:ext cx="3017520" cy="1737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5 further DINOv3 folds with token cross-attention pooling</a:t>
            </a:r>
            <a:endParaRPr lang="en-US" sz="1500" dirty="0"/>
          </a:p>
          <a:p>
            <a:pPr marL="203200" indent="-203200">
              <a:spcAft>
                <a:spcPts val="800"/>
              </a:spcAft>
              <a:buSzPct val="100000"/>
              <a:buChar char="•"/>
            </a:pPr>
            <a:r>
              <a:rPr lang="en-US" sz="1500" dirty="0">
                <a:solidFill>
                  <a:schemeClr val="tx2"/>
                </a:solidFill>
              </a:rPr>
              <a:t>Blended at a fixed weight, not tuned</a:t>
            </a:r>
            <a:endParaRPr lang="en-US" sz="1500" dirty="0"/>
          </a:p>
        </p:txBody>
      </p:sp>
      <p:sp>
        <p:nvSpPr>
          <p:cNvPr id="29" name="text-255"/>
          <p:cNvSpPr txBox="1"/>
          <p:nvPr/>
        </p:nvSpPr>
        <p:spPr>
          <a:xfrm>
            <a:off x="9555480" y="3840480"/>
            <a:ext cx="192024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45%</a:t>
            </a:r>
            <a:endParaRPr lang="en-US" sz="4800" dirty="0"/>
          </a:p>
        </p:txBody>
      </p:sp>
      <p:sp>
        <p:nvSpPr>
          <p:cNvPr id="30" name="text-256"/>
          <p:cNvSpPr txBox="1"/>
          <p:nvPr/>
        </p:nvSpPr>
        <p:spPr>
          <a:xfrm>
            <a:off x="9555480" y="4709160"/>
            <a:ext cx="1920240" cy="640080"/>
          </a:xfrm>
          <a:prstGeom prst="rect">
            <a:avLst/>
          </a:prstGeom>
          <a:noFill/>
          <a:ln/>
        </p:spPr>
        <p:txBody>
          <a:bodyPr wrap="square" lIns="0" tIns="0" rIns="0" bIns="0" rtlCol="0" anchor="t"/>
          <a:lstStyle/>
          <a:p>
            <a:pPr indent="0" marL="0">
              <a:buNone/>
            </a:pPr>
            <a:r>
              <a:rPr lang="en-US" sz="1200" dirty="0">
                <a:solidFill>
                  <a:schemeClr val="accent5"/>
                </a:solidFill>
              </a:rPr>
              <a:t>A5 weight in the DINO / A5 blend</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METHOD</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RadImageNet heads and CoAtNet arms</a:t>
            </a:r>
            <a:endParaRPr lang="en-US" sz="3400" dirty="0"/>
          </a:p>
        </p:txBody>
      </p:sp>
      <p:sp>
        <p:nvSpPr>
          <p:cNvPr id="4" name="card-257"/>
          <p:cNvSpPr/>
          <p:nvPr/>
        </p:nvSpPr>
        <p:spPr>
          <a:xfrm>
            <a:off x="548640" y="1508760"/>
            <a:ext cx="5468112" cy="4526280"/>
          </a:xfrm>
          <a:prstGeom prst="roundRect">
            <a:avLst>
              <a:gd name="adj" fmla="val 2424"/>
            </a:avLst>
          </a:prstGeom>
          <a:solidFill>
            <a:schemeClr val="accent2">
              <a:alpha val="15000"/>
            </a:schemeClr>
          </a:solidFill>
          <a:ln/>
        </p:spPr>
      </p:sp>
      <p:sp>
        <p:nvSpPr>
          <p:cNvPr id="5" name="text-258"/>
          <p:cNvSpPr txBox="1"/>
          <p:nvPr/>
        </p:nvSpPr>
        <p:spPr>
          <a:xfrm>
            <a:off x="822960" y="1664208"/>
            <a:ext cx="4919472" cy="365760"/>
          </a:xfrm>
          <a:prstGeom prst="rect">
            <a:avLst/>
          </a:prstGeom>
          <a:noFill/>
          <a:ln/>
        </p:spPr>
        <p:txBody>
          <a:bodyPr wrap="square" lIns="0" tIns="0" rIns="0" bIns="0" rtlCol="0" anchor="t"/>
          <a:lstStyle/>
          <a:p>
            <a:pPr indent="0" marL="0">
              <a:buNone/>
            </a:pPr>
            <a:r>
              <a:rPr lang="en-US" sz="1800" b="1" dirty="0">
                <a:solidFill>
                  <a:schemeClr val="tx1"/>
                </a:solidFill>
              </a:rPr>
              <a:t>RadImageNet ResNet-50  →  Rad heads</a:t>
            </a:r>
            <a:endParaRPr lang="en-US" sz="1800" dirty="0"/>
          </a:p>
        </p:txBody>
      </p:sp>
      <p:sp>
        <p:nvSpPr>
          <p:cNvPr id="6" name="tile-259"/>
          <p:cNvSpPr/>
          <p:nvPr/>
        </p:nvSpPr>
        <p:spPr>
          <a:xfrm>
            <a:off x="822960" y="2240280"/>
            <a:ext cx="4919472" cy="566928"/>
          </a:xfrm>
          <a:prstGeom prst="roundRect">
            <a:avLst>
              <a:gd name="adj" fmla="val 12903"/>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300" dirty="0">
                <a:solidFill>
                  <a:schemeClr val="tx1"/>
                </a:solidFill>
              </a:rPr>
              <a:t>Frozen ResNet-50 (RadImageNet) features, 224 px</a:t>
            </a:r>
            <a:endParaRPr lang="en-US" sz="1300" dirty="0"/>
          </a:p>
        </p:txBody>
      </p:sp>
      <p:sp>
        <p:nvSpPr>
          <p:cNvPr id="7" name="arrow-260"/>
          <p:cNvSpPr/>
          <p:nvPr/>
        </p:nvSpPr>
        <p:spPr>
          <a:xfrm>
            <a:off x="3282696" y="2807208"/>
            <a:ext cx="0" cy="256032"/>
          </a:xfrm>
          <a:prstGeom prst="line">
            <a:avLst/>
          </a:prstGeom>
          <a:noFill/>
          <a:ln w="19050">
            <a:solidFill>
              <a:schemeClr val="accent5"/>
            </a:solidFill>
            <a:prstDash val="solid"/>
            <a:tailEnd type="triangle"/>
          </a:ln>
        </p:spPr>
      </p:sp>
      <p:sp>
        <p:nvSpPr>
          <p:cNvPr id="8" name="text-261"/>
          <p:cNvSpPr txBox="1"/>
          <p:nvPr/>
        </p:nvSpPr>
        <p:spPr>
          <a:xfrm>
            <a:off x="822960" y="3108960"/>
            <a:ext cx="2743200" cy="228600"/>
          </a:xfrm>
          <a:prstGeom prst="rect">
            <a:avLst/>
          </a:prstGeom>
          <a:noFill/>
          <a:ln/>
        </p:spPr>
        <p:txBody>
          <a:bodyPr wrap="square" lIns="0" tIns="0" rIns="0" bIns="0" rtlCol="0" anchor="t"/>
          <a:lstStyle/>
          <a:p>
            <a:pPr indent="0" marL="0">
              <a:buNone/>
            </a:pPr>
            <a:r>
              <a:rPr lang="en-US" sz="1000" b="1" spc="200" kern="0" dirty="0">
                <a:solidFill>
                  <a:schemeClr val="accent5"/>
                </a:solidFill>
              </a:rPr>
              <a:t>HEAD FAMILIES</a:t>
            </a:r>
            <a:endParaRPr lang="en-US" sz="1000" dirty="0"/>
          </a:p>
        </p:txBody>
      </p:sp>
      <p:sp>
        <p:nvSpPr>
          <p:cNvPr id="9" name="tile-262"/>
          <p:cNvSpPr/>
          <p:nvPr/>
        </p:nvSpPr>
        <p:spPr>
          <a:xfrm>
            <a:off x="822960" y="3401568"/>
            <a:ext cx="2377440" cy="457200"/>
          </a:xfrm>
          <a:prstGeom prst="roundRect">
            <a:avLst>
              <a:gd name="adj" fmla="val 16000"/>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200" dirty="0">
                <a:solidFill>
                  <a:schemeClr val="tx1"/>
                </a:solidFill>
              </a:rPr>
              <a:t>Reference (v15)</a:t>
            </a:r>
            <a:endParaRPr lang="en-US" sz="1200" dirty="0"/>
          </a:p>
        </p:txBody>
      </p:sp>
      <p:sp>
        <p:nvSpPr>
          <p:cNvPr id="10" name="tile-263"/>
          <p:cNvSpPr/>
          <p:nvPr/>
        </p:nvSpPr>
        <p:spPr>
          <a:xfrm>
            <a:off x="3355848" y="3401568"/>
            <a:ext cx="2377440" cy="457200"/>
          </a:xfrm>
          <a:prstGeom prst="roundRect">
            <a:avLst>
              <a:gd name="adj" fmla="val 16000"/>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200" dirty="0">
                <a:solidFill>
                  <a:schemeClr val="tx1"/>
                </a:solidFill>
              </a:rPr>
              <a:t>E13, two-pass (α 0.15)</a:t>
            </a:r>
            <a:endParaRPr lang="en-US" sz="1200" dirty="0"/>
          </a:p>
        </p:txBody>
      </p:sp>
      <p:sp>
        <p:nvSpPr>
          <p:cNvPr id="11" name="tile-264"/>
          <p:cNvSpPr/>
          <p:nvPr/>
        </p:nvSpPr>
        <p:spPr>
          <a:xfrm>
            <a:off x="822960" y="3968496"/>
            <a:ext cx="2377440" cy="457200"/>
          </a:xfrm>
          <a:prstGeom prst="roundRect">
            <a:avLst>
              <a:gd name="adj" fmla="val 16000"/>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200" dirty="0">
                <a:solidFill>
                  <a:schemeClr val="tx1"/>
                </a:solidFill>
              </a:rPr>
              <a:t>E11 native</a:t>
            </a:r>
            <a:endParaRPr lang="en-US" sz="1200" dirty="0"/>
          </a:p>
        </p:txBody>
      </p:sp>
      <p:sp>
        <p:nvSpPr>
          <p:cNvPr id="12" name="letter-265"/>
          <p:cNvSpPr/>
          <p:nvPr/>
        </p:nvSpPr>
        <p:spPr>
          <a:xfrm>
            <a:off x="3017520" y="3877056"/>
            <a:ext cx="256032" cy="256032"/>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3" name="tile-266"/>
          <p:cNvSpPr/>
          <p:nvPr/>
        </p:nvSpPr>
        <p:spPr>
          <a:xfrm>
            <a:off x="3355848" y="3968496"/>
            <a:ext cx="2377440" cy="457200"/>
          </a:xfrm>
          <a:prstGeom prst="roundRect">
            <a:avLst>
              <a:gd name="adj" fmla="val 16000"/>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200" dirty="0">
                <a:solidFill>
                  <a:schemeClr val="tx1"/>
                </a:solidFill>
              </a:rPr>
              <a:t>E10 alternate</a:t>
            </a:r>
            <a:endParaRPr lang="en-US" sz="1200" dirty="0"/>
          </a:p>
        </p:txBody>
      </p:sp>
      <p:sp>
        <p:nvSpPr>
          <p:cNvPr id="14" name="letter-267"/>
          <p:cNvSpPr/>
          <p:nvPr/>
        </p:nvSpPr>
        <p:spPr>
          <a:xfrm>
            <a:off x="5550408" y="3877056"/>
            <a:ext cx="256032" cy="256032"/>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5" name="arrow-268"/>
          <p:cNvSpPr/>
          <p:nvPr/>
        </p:nvSpPr>
        <p:spPr>
          <a:xfrm>
            <a:off x="3282696" y="4526280"/>
            <a:ext cx="0" cy="228600"/>
          </a:xfrm>
          <a:prstGeom prst="line">
            <a:avLst/>
          </a:prstGeom>
          <a:noFill/>
          <a:ln w="19050">
            <a:solidFill>
              <a:schemeClr val="accent5"/>
            </a:solidFill>
            <a:prstDash val="solid"/>
            <a:tailEnd type="triangle"/>
          </a:ln>
        </p:spPr>
      </p:sp>
      <p:sp>
        <p:nvSpPr>
          <p:cNvPr id="16" name="tile-269"/>
          <p:cNvSpPr/>
          <p:nvPr/>
        </p:nvSpPr>
        <p:spPr>
          <a:xfrm>
            <a:off x="822960" y="4782312"/>
            <a:ext cx="4919472" cy="566928"/>
          </a:xfrm>
          <a:prstGeom prst="roundRect">
            <a:avLst>
              <a:gd name="adj" fmla="val 12903"/>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300" b="1" dirty="0">
                <a:solidFill>
                  <a:schemeClr val="tx1"/>
                </a:solidFill>
              </a:rPr>
              <a:t>Original frozen calibrator  →  T branch</a:t>
            </a:r>
            <a:endParaRPr lang="en-US" sz="1300" dirty="0"/>
          </a:p>
        </p:txBody>
      </p:sp>
      <p:sp>
        <p:nvSpPr>
          <p:cNvPr id="17" name="text-270"/>
          <p:cNvSpPr txBox="1"/>
          <p:nvPr/>
        </p:nvSpPr>
        <p:spPr>
          <a:xfrm>
            <a:off x="822960" y="5440680"/>
            <a:ext cx="4919472" cy="457200"/>
          </a:xfrm>
          <a:prstGeom prst="rect">
            <a:avLst/>
          </a:prstGeom>
          <a:noFill/>
          <a:ln/>
        </p:spPr>
        <p:txBody>
          <a:bodyPr wrap="square" lIns="0" tIns="0" rIns="0" bIns="0" rtlCol="0" anchor="t"/>
          <a:lstStyle/>
          <a:p>
            <a:pPr indent="0" marL="0">
              <a:buNone/>
            </a:pPr>
            <a:r>
              <a:rPr lang="en-US" sz="1200" dirty="0">
                <a:solidFill>
                  <a:schemeClr val="tx2"/>
                </a:solidFill>
              </a:rPr>
              <a:t>A and B are added after the calibrator; its inputs and coefficients stay untouched.</a:t>
            </a:r>
            <a:endParaRPr lang="en-US" sz="1200" dirty="0"/>
          </a:p>
        </p:txBody>
      </p:sp>
      <p:sp>
        <p:nvSpPr>
          <p:cNvPr id="18" name="card-271"/>
          <p:cNvSpPr/>
          <p:nvPr/>
        </p:nvSpPr>
        <p:spPr>
          <a:xfrm>
            <a:off x="6172200" y="1508760"/>
            <a:ext cx="5468112" cy="4526280"/>
          </a:xfrm>
          <a:prstGeom prst="roundRect">
            <a:avLst>
              <a:gd name="adj" fmla="val 2424"/>
            </a:avLst>
          </a:prstGeom>
          <a:solidFill>
            <a:schemeClr val="accent3">
              <a:alpha val="12000"/>
            </a:schemeClr>
          </a:solidFill>
          <a:ln/>
        </p:spPr>
      </p:sp>
      <p:sp>
        <p:nvSpPr>
          <p:cNvPr id="19" name="text-272"/>
          <p:cNvSpPr txBox="1"/>
          <p:nvPr/>
        </p:nvSpPr>
        <p:spPr>
          <a:xfrm>
            <a:off x="6446520" y="1664208"/>
            <a:ext cx="4919472" cy="365760"/>
          </a:xfrm>
          <a:prstGeom prst="rect">
            <a:avLst/>
          </a:prstGeom>
          <a:noFill/>
          <a:ln/>
        </p:spPr>
        <p:txBody>
          <a:bodyPr wrap="square" lIns="0" tIns="0" rIns="0" bIns="0" rtlCol="0" anchor="t"/>
          <a:lstStyle/>
          <a:p>
            <a:pPr indent="0" marL="0">
              <a:buNone/>
            </a:pPr>
            <a:r>
              <a:rPr lang="en-US" sz="1800" b="1" dirty="0">
                <a:solidFill>
                  <a:schemeClr val="tx1"/>
                </a:solidFill>
              </a:rPr>
              <a:t>CoAtNet  →  Raptor + residual CoAt</a:t>
            </a:r>
            <a:endParaRPr lang="en-US" sz="1800" dirty="0"/>
          </a:p>
        </p:txBody>
      </p:sp>
      <p:sp>
        <p:nvSpPr>
          <p:cNvPr id="20" name="text-273"/>
          <p:cNvSpPr txBox="1"/>
          <p:nvPr/>
        </p:nvSpPr>
        <p:spPr>
          <a:xfrm>
            <a:off x="6446520" y="2194560"/>
            <a:ext cx="4114800" cy="228600"/>
          </a:xfrm>
          <a:prstGeom prst="rect">
            <a:avLst/>
          </a:prstGeom>
          <a:noFill/>
          <a:ln/>
        </p:spPr>
        <p:txBody>
          <a:bodyPr wrap="square" lIns="0" tIns="0" rIns="0" bIns="0" rtlCol="0" anchor="t"/>
          <a:lstStyle/>
          <a:p>
            <a:pPr indent="0" marL="0">
              <a:buNone/>
            </a:pPr>
            <a:r>
              <a:rPr lang="en-US" sz="1000" b="1" spc="200" kern="0" dirty="0">
                <a:solidFill>
                  <a:schemeClr val="accent5"/>
                </a:solidFill>
              </a:rPr>
              <a:t>RAPTOR ARM MIXTURE (4 VIEWS)</a:t>
            </a:r>
            <a:endParaRPr lang="en-US" sz="1000" dirty="0"/>
          </a:p>
        </p:txBody>
      </p:sp>
      <p:sp>
        <p:nvSpPr>
          <p:cNvPr id="21" name="seg-274"/>
          <p:cNvSpPr/>
          <p:nvPr/>
        </p:nvSpPr>
        <p:spPr>
          <a:xfrm>
            <a:off x="6446520" y="2487168"/>
            <a:ext cx="2915107" cy="457200"/>
          </a:xfrm>
          <a:prstGeom prst="rect">
            <a:avLst/>
          </a:prstGeom>
          <a:solidFill>
            <a:schemeClr val="accent3"/>
          </a:solidFill>
          <a:ln/>
        </p:spPr>
        <p:txBody>
          <a:bodyPr wrap="square" lIns="0" tIns="0" rIns="0" bIns="0" rtlCol="0" anchor="ctr"/>
          <a:lstStyle/>
          <a:p>
            <a:pPr algn="ctr" indent="0" marL="0">
              <a:buNone/>
            </a:pPr>
            <a:r>
              <a:rPr lang="en-US" sz="1300" b="1" dirty="0">
                <a:solidFill>
                  <a:schemeClr val="bg1"/>
                </a:solidFill>
              </a:rPr>
              <a:t>60</a:t>
            </a:r>
            <a:endParaRPr lang="en-US" sz="1300" dirty="0"/>
          </a:p>
        </p:txBody>
      </p:sp>
      <p:sp>
        <p:nvSpPr>
          <p:cNvPr id="22" name="seg-275"/>
          <p:cNvSpPr/>
          <p:nvPr/>
        </p:nvSpPr>
        <p:spPr>
          <a:xfrm>
            <a:off x="9398203" y="2487168"/>
            <a:ext cx="455371" cy="457200"/>
          </a:xfrm>
          <a:prstGeom prst="rect">
            <a:avLst/>
          </a:prstGeom>
          <a:solidFill>
            <a:schemeClr val="accent5"/>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23" name="seg-276"/>
          <p:cNvSpPr/>
          <p:nvPr/>
        </p:nvSpPr>
        <p:spPr>
          <a:xfrm>
            <a:off x="9890150" y="2487168"/>
            <a:ext cx="455371" cy="457200"/>
          </a:xfrm>
          <a:prstGeom prst="rect">
            <a:avLst/>
          </a:prstGeom>
          <a:solidFill>
            <a:schemeClr val="accent3"/>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24" name="seg-277"/>
          <p:cNvSpPr/>
          <p:nvPr/>
        </p:nvSpPr>
        <p:spPr>
          <a:xfrm>
            <a:off x="10382098" y="2487168"/>
            <a:ext cx="947318" cy="457200"/>
          </a:xfrm>
          <a:prstGeom prst="rect">
            <a:avLst/>
          </a:prstGeom>
          <a:solidFill>
            <a:schemeClr val="accent5"/>
          </a:solidFill>
          <a:ln/>
        </p:spPr>
        <p:txBody>
          <a:bodyPr wrap="square" lIns="0" tIns="0" rIns="0" bIns="0" rtlCol="0" anchor="ctr"/>
          <a:lstStyle/>
          <a:p>
            <a:pPr algn="ctr" indent="0" marL="0">
              <a:buNone/>
            </a:pPr>
            <a:r>
              <a:rPr lang="en-US" sz="1300" b="1" dirty="0">
                <a:solidFill>
                  <a:schemeClr val="bg1"/>
                </a:solidFill>
              </a:rPr>
              <a:t>20</a:t>
            </a:r>
            <a:endParaRPr lang="en-US" sz="1300" dirty="0"/>
          </a:p>
        </p:txBody>
      </p:sp>
      <p:sp>
        <p:nvSpPr>
          <p:cNvPr id="25" name="tile-278"/>
          <p:cNvSpPr/>
          <p:nvPr/>
        </p:nvSpPr>
        <p:spPr>
          <a:xfrm>
            <a:off x="6446520" y="3154680"/>
            <a:ext cx="4919472" cy="713232"/>
          </a:xfrm>
          <a:prstGeom prst="roundRect">
            <a:avLst>
              <a:gd name="adj" fmla="val 10256"/>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300" dirty="0">
                <a:solidFill>
                  <a:schemeClr val="tx1"/>
                </a:solidFill>
              </a:rPr>
              <a:t>Gain marginalisation G: each arm averaged over gains 0.9 · 1.0 · 1.1 with weights 1/6 · 4/6 · 1/6</a:t>
            </a:r>
            <a:endParaRPr lang="en-US" sz="1300" dirty="0"/>
          </a:p>
        </p:txBody>
      </p:sp>
      <p:sp>
        <p:nvSpPr>
          <p:cNvPr id="26" name="letter-279"/>
          <p:cNvSpPr/>
          <p:nvPr/>
        </p:nvSpPr>
        <p:spPr>
          <a:xfrm>
            <a:off x="11183112" y="3063240"/>
            <a:ext cx="256032" cy="256032"/>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G</a:t>
            </a:r>
            <a:endParaRPr lang="en-US" sz="1200" dirty="0"/>
          </a:p>
        </p:txBody>
      </p:sp>
      <p:sp>
        <p:nvSpPr>
          <p:cNvPr id="27" name="tile-280"/>
          <p:cNvSpPr/>
          <p:nvPr/>
        </p:nvSpPr>
        <p:spPr>
          <a:xfrm>
            <a:off x="6446520" y="4041648"/>
            <a:ext cx="4919472" cy="502920"/>
          </a:xfrm>
          <a:prstGeom prst="roundRect">
            <a:avLst>
              <a:gd name="adj" fmla="val 14545"/>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300" dirty="0">
                <a:solidFill>
                  <a:schemeClr val="tx1"/>
                </a:solidFill>
              </a:rPr>
              <a:t>Residual CoAtNet, epochs 4 · 6 · 8</a:t>
            </a:r>
            <a:endParaRPr lang="en-US" sz="1300" dirty="0"/>
          </a:p>
        </p:txBody>
      </p:sp>
      <p:sp>
        <p:nvSpPr>
          <p:cNvPr id="28" name="arrow-281"/>
          <p:cNvSpPr/>
          <p:nvPr/>
        </p:nvSpPr>
        <p:spPr>
          <a:xfrm>
            <a:off x="8906256" y="4544568"/>
            <a:ext cx="0" cy="210312"/>
          </a:xfrm>
          <a:prstGeom prst="line">
            <a:avLst/>
          </a:prstGeom>
          <a:noFill/>
          <a:ln w="19050">
            <a:solidFill>
              <a:schemeClr val="accent5"/>
            </a:solidFill>
            <a:prstDash val="solid"/>
            <a:tailEnd type="triangle"/>
          </a:ln>
        </p:spPr>
      </p:sp>
      <p:sp>
        <p:nvSpPr>
          <p:cNvPr id="29" name="tile-282"/>
          <p:cNvSpPr/>
          <p:nvPr/>
        </p:nvSpPr>
        <p:spPr>
          <a:xfrm>
            <a:off x="6446520" y="4782312"/>
            <a:ext cx="4919472" cy="566928"/>
          </a:xfrm>
          <a:prstGeom prst="roundRect">
            <a:avLst>
              <a:gd name="adj" fmla="val 12903"/>
            </a:avLst>
          </a:prstGeom>
          <a:solidFill>
            <a:schemeClr val="bg1"/>
          </a:solidFill>
          <a:ln w="9525">
            <a:solidFill>
              <a:schemeClr val="accent5">
                <a:alpha val="45000"/>
              </a:schemeClr>
            </a:solidFill>
          </a:ln>
        </p:spPr>
        <p:txBody>
          <a:bodyPr wrap="square" lIns="50800" tIns="50800" rIns="50800" bIns="50800" rtlCol="0" anchor="ctr"/>
          <a:lstStyle/>
          <a:p>
            <a:pPr algn="ctr" indent="0" marL="0">
              <a:buNone/>
            </a:pPr>
            <a:r>
              <a:rPr lang="en-US" sz="1400" b="1" dirty="0">
                <a:solidFill>
                  <a:schemeClr val="tx1"/>
                </a:solidFill>
              </a:rPr>
              <a:t>H = 0.60 · Raptor + 0.40 · ResCoAt</a:t>
            </a:r>
            <a:endParaRPr lang="en-US" sz="1400" dirty="0"/>
          </a:p>
        </p:txBody>
      </p:sp>
      <p:sp>
        <p:nvSpPr>
          <p:cNvPr id="30" name="text-283"/>
          <p:cNvSpPr txBox="1"/>
          <p:nvPr/>
        </p:nvSpPr>
        <p:spPr>
          <a:xfrm>
            <a:off x="6446520" y="5440680"/>
            <a:ext cx="4919472" cy="457200"/>
          </a:xfrm>
          <a:prstGeom prst="rect">
            <a:avLst/>
          </a:prstGeom>
          <a:noFill/>
          <a:ln/>
        </p:spPr>
        <p:txBody>
          <a:bodyPr wrap="square" lIns="0" tIns="0" rIns="0" bIns="0" rtlCol="0" anchor="t"/>
          <a:lstStyle/>
          <a:p>
            <a:pPr indent="0" marL="0">
              <a:buNone/>
            </a:pPr>
            <a:r>
              <a:rPr lang="en-US" sz="1200" dirty="0">
                <a:solidFill>
                  <a:schemeClr val="tx2"/>
                </a:solidFill>
              </a:rPr>
              <a:t>For the lateral meniscus the final score is H alone.</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METHOD</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Percentile-rank fusion</a:t>
            </a:r>
            <a:endParaRPr lang="en-US" sz="3400" dirty="0"/>
          </a:p>
        </p:txBody>
      </p:sp>
      <p:sp>
        <p:nvSpPr>
          <p:cNvPr id="4" name="card-284"/>
          <p:cNvSpPr/>
          <p:nvPr/>
        </p:nvSpPr>
        <p:spPr>
          <a:xfrm>
            <a:off x="548640" y="1508760"/>
            <a:ext cx="5806440" cy="4526280"/>
          </a:xfrm>
          <a:prstGeom prst="roundRect">
            <a:avLst>
              <a:gd name="adj" fmla="val 2424"/>
            </a:avLst>
          </a:prstGeom>
          <a:solidFill>
            <a:schemeClr val="bg2"/>
          </a:solidFill>
          <a:ln/>
        </p:spPr>
      </p:sp>
      <p:sp>
        <p:nvSpPr>
          <p:cNvPr id="5" name="text-285"/>
          <p:cNvSpPr txBox="1"/>
          <p:nvPr/>
        </p:nvSpPr>
        <p:spPr>
          <a:xfrm>
            <a:off x="868680" y="1691640"/>
            <a:ext cx="5029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FUSION RULE</a:t>
            </a:r>
            <a:endParaRPr lang="en-US" sz="1100" dirty="0"/>
          </a:p>
        </p:txBody>
      </p:sp>
      <p:sp>
        <p:nvSpPr>
          <p:cNvPr id="6" name="Text 4"/>
          <p:cNvSpPr txBox="1"/>
          <p:nvPr/>
        </p:nvSpPr>
        <p:spPr>
          <a:xfrm>
            <a:off x="868680" y="2057400"/>
            <a:ext cx="5212080" cy="457200"/>
          </a:xfrm>
          <a:prstGeom prst="rect">
            <a:avLst/>
          </a:prstGeom>
          <a:noFill/>
          <a:ln/>
        </p:spPr>
        <p:txBody>
          <a:bodyPr wrap="square" lIns="0" tIns="0" rIns="0" bIns="0" rtlCol="0" anchor="ctr"/>
          <a:lstStyle/>
          <a:p>
            <a:pPr indent="0" marL="0">
              <a:buNone/>
            </a:pPr>
            <a:r>
              <a:rPr lang="en-US" sz="1900" dirty="0">
                <a:solidFill>
                  <a:schemeClr val="tx2"/>
                </a:solidFill>
                <a:latin typeface="Cambria" pitchFamily="34" charset="0"/>
                <a:ea typeface="Cambria" pitchFamily="34" charset="-122"/>
                <a:cs typeface="Cambria" pitchFamily="34" charset="-120"/>
              </a:rPr>
              <a:t>T′ = rank( T + R</a:t>
            </a:r>
            <a:pPr indent="0" marL="0">
              <a:buNone/>
            </a:pPr>
            <a:r>
              <a:rPr lang="en-US" sz="1900" baseline="-40000" dirty="0">
                <a:solidFill>
                  <a:schemeClr val="tx2"/>
                </a:solidFill>
                <a:latin typeface="Cambria" pitchFamily="34" charset="0"/>
                <a:ea typeface="Cambria" pitchFamily="34" charset="-122"/>
                <a:cs typeface="Cambria" pitchFamily="34" charset="-120"/>
              </a:rPr>
              <a:t>A</a:t>
            </a:r>
            <a:pPr indent="0" marL="0">
              <a:buNone/>
            </a:pPr>
            <a:r>
              <a:rPr lang="en-US" sz="1900" dirty="0">
                <a:solidFill>
                  <a:schemeClr val="tx2"/>
                </a:solidFill>
                <a:latin typeface="Cambria" pitchFamily="34" charset="0"/>
                <a:ea typeface="Cambria" pitchFamily="34" charset="-122"/>
                <a:cs typeface="Cambria" pitchFamily="34" charset="-120"/>
              </a:rPr>
              <a:t> + R</a:t>
            </a:r>
            <a:pPr indent="0" marL="0">
              <a:buNone/>
            </a:pPr>
            <a:r>
              <a:rPr lang="en-US" sz="1900" baseline="-40000" dirty="0">
                <a:solidFill>
                  <a:schemeClr val="tx2"/>
                </a:solidFill>
                <a:latin typeface="Cambria" pitchFamily="34" charset="0"/>
                <a:ea typeface="Cambria" pitchFamily="34" charset="-122"/>
                <a:cs typeface="Cambria" pitchFamily="34" charset="-120"/>
              </a:rPr>
              <a:t>B</a:t>
            </a:r>
            <a:pPr indent="0" marL="0">
              <a:buNone/>
            </a:pPr>
            <a:r>
              <a:rPr lang="en-US" sz="1900" dirty="0">
                <a:solidFill>
                  <a:schemeClr val="tx2"/>
                </a:solidFill>
                <a:latin typeface="Cambria" pitchFamily="34" charset="0"/>
                <a:ea typeface="Cambria" pitchFamily="34" charset="-122"/>
                <a:cs typeface="Cambria" pitchFamily="34" charset="-120"/>
              </a:rPr>
              <a:t> )</a:t>
            </a:r>
            <a:endParaRPr lang="en-US" sz="1900" dirty="0"/>
          </a:p>
        </p:txBody>
      </p:sp>
      <p:sp>
        <p:nvSpPr>
          <p:cNvPr id="7" name="Text 5"/>
          <p:cNvSpPr txBox="1"/>
          <p:nvPr/>
        </p:nvSpPr>
        <p:spPr>
          <a:xfrm>
            <a:off x="868680" y="2651760"/>
            <a:ext cx="5212080" cy="457200"/>
          </a:xfrm>
          <a:prstGeom prst="rect">
            <a:avLst/>
          </a:prstGeom>
          <a:noFill/>
          <a:ln/>
        </p:spPr>
        <p:txBody>
          <a:bodyPr wrap="square" lIns="0" tIns="0" rIns="0" bIns="0" rtlCol="0" anchor="ctr"/>
          <a:lstStyle/>
          <a:p>
            <a:pPr indent="0" marL="0">
              <a:buNone/>
            </a:pPr>
            <a:r>
              <a:rPr lang="en-US" sz="1900" dirty="0">
                <a:solidFill>
                  <a:schemeClr val="tx2"/>
                </a:solidFill>
                <a:latin typeface="Cambria" pitchFamily="34" charset="0"/>
                <a:ea typeface="Cambria" pitchFamily="34" charset="-122"/>
                <a:cs typeface="Cambria" pitchFamily="34" charset="-120"/>
              </a:rPr>
              <a:t>H = 0.60 · rank(Raptor</a:t>
            </a:r>
            <a:pPr indent="0" marL="0">
              <a:buNone/>
            </a:pPr>
            <a:r>
              <a:rPr lang="en-US" sz="1900" baseline="-40000" dirty="0">
                <a:solidFill>
                  <a:schemeClr val="tx2"/>
                </a:solidFill>
                <a:latin typeface="Cambria" pitchFamily="34" charset="0"/>
                <a:ea typeface="Cambria" pitchFamily="34" charset="-122"/>
                <a:cs typeface="Cambria" pitchFamily="34" charset="-120"/>
              </a:rPr>
              <a:t>G</a:t>
            </a:r>
            <a:pPr indent="0" marL="0">
              <a:buNone/>
            </a:pPr>
            <a:r>
              <a:rPr lang="en-US" sz="1900" dirty="0">
                <a:solidFill>
                  <a:schemeClr val="tx2"/>
                </a:solidFill>
                <a:latin typeface="Cambria" pitchFamily="34" charset="0"/>
                <a:ea typeface="Cambria" pitchFamily="34" charset="-122"/>
                <a:cs typeface="Cambria" pitchFamily="34" charset="-120"/>
              </a:rPr>
              <a:t>) + 0.40 · rank(CoAt</a:t>
            </a:r>
            <a:pPr indent="0" marL="0">
              <a:buNone/>
            </a:pPr>
            <a:r>
              <a:rPr lang="en-US" sz="1900" baseline="-40000" dirty="0">
                <a:solidFill>
                  <a:schemeClr val="tx2"/>
                </a:solidFill>
                <a:latin typeface="Cambria" pitchFamily="34" charset="0"/>
                <a:ea typeface="Cambria" pitchFamily="34" charset="-122"/>
                <a:cs typeface="Cambria" pitchFamily="34" charset="-120"/>
              </a:rPr>
              <a:t>res</a:t>
            </a:r>
            <a:pPr indent="0" marL="0">
              <a:buNone/>
            </a:pPr>
            <a:r>
              <a:rPr lang="en-US" sz="1900" dirty="0">
                <a:solidFill>
                  <a:schemeClr val="tx2"/>
                </a:solidFill>
                <a:latin typeface="Cambria" pitchFamily="34" charset="0"/>
                <a:ea typeface="Cambria" pitchFamily="34" charset="-122"/>
                <a:cs typeface="Cambria" pitchFamily="34" charset="-120"/>
              </a:rPr>
              <a:t>)</a:t>
            </a:r>
            <a:endParaRPr lang="en-US" sz="1900" dirty="0"/>
          </a:p>
        </p:txBody>
      </p:sp>
      <p:sp>
        <p:nvSpPr>
          <p:cNvPr id="8" name="Text 6"/>
          <p:cNvSpPr txBox="1"/>
          <p:nvPr/>
        </p:nvSpPr>
        <p:spPr>
          <a:xfrm>
            <a:off x="868680" y="3246120"/>
            <a:ext cx="5212080" cy="457200"/>
          </a:xfrm>
          <a:prstGeom prst="rect">
            <a:avLst/>
          </a:prstGeom>
          <a:noFill/>
          <a:ln/>
        </p:spPr>
        <p:txBody>
          <a:bodyPr wrap="square" lIns="0" tIns="0" rIns="0" bIns="0" rtlCol="0" anchor="ctr"/>
          <a:lstStyle/>
          <a:p>
            <a:pPr indent="0" marL="0">
              <a:buNone/>
            </a:pPr>
            <a:r>
              <a:rPr lang="en-US" sz="1900" dirty="0">
                <a:solidFill>
                  <a:schemeClr val="tx2"/>
                </a:solidFill>
                <a:latin typeface="Cambria" pitchFamily="34" charset="0"/>
                <a:ea typeface="Cambria" pitchFamily="34" charset="-122"/>
                <a:cs typeface="Cambria" pitchFamily="34" charset="-120"/>
              </a:rPr>
              <a:t>ŷ</a:t>
            </a:r>
            <a:pPr indent="0" marL="0">
              <a:buNone/>
            </a:pPr>
            <a:r>
              <a:rPr lang="en-US" sz="1900" baseline="-40000" dirty="0">
                <a:solidFill>
                  <a:schemeClr val="tx2"/>
                </a:solidFill>
                <a:latin typeface="Cambria" pitchFamily="34" charset="0"/>
                <a:ea typeface="Cambria" pitchFamily="34" charset="-122"/>
                <a:cs typeface="Cambria" pitchFamily="34" charset="-120"/>
              </a:rPr>
              <a:t>k</a:t>
            </a:r>
            <a:pPr indent="0" marL="0">
              <a:buNone/>
            </a:pPr>
            <a:r>
              <a:rPr lang="en-US" sz="1900" dirty="0">
                <a:solidFill>
                  <a:schemeClr val="tx2"/>
                </a:solidFill>
                <a:latin typeface="Cambria" pitchFamily="34" charset="0"/>
                <a:ea typeface="Cambria" pitchFamily="34" charset="-122"/>
                <a:cs typeface="Cambria" pitchFamily="34" charset="-120"/>
              </a:rPr>
              <a:t> = rank( (1 − w</a:t>
            </a:r>
            <a:pPr indent="0" marL="0">
              <a:buNone/>
            </a:pPr>
            <a:r>
              <a:rPr lang="en-US" sz="1900" baseline="-40000" dirty="0">
                <a:solidFill>
                  <a:schemeClr val="tx2"/>
                </a:solidFill>
                <a:latin typeface="Cambria" pitchFamily="34" charset="0"/>
                <a:ea typeface="Cambria" pitchFamily="34" charset="-122"/>
                <a:cs typeface="Cambria" pitchFamily="34" charset="-120"/>
              </a:rPr>
              <a:t>k</a:t>
            </a:r>
            <a:pPr indent="0" marL="0">
              <a:buNone/>
            </a:pPr>
            <a:r>
              <a:rPr lang="en-US" sz="1900" dirty="0">
                <a:solidFill>
                  <a:schemeClr val="tx2"/>
                </a:solidFill>
                <a:latin typeface="Cambria" pitchFamily="34" charset="0"/>
                <a:ea typeface="Cambria" pitchFamily="34" charset="-122"/>
                <a:cs typeface="Cambria" pitchFamily="34" charset="-120"/>
              </a:rPr>
              <a:t>)·T′ + w</a:t>
            </a:r>
            <a:pPr indent="0" marL="0">
              <a:buNone/>
            </a:pPr>
            <a:r>
              <a:rPr lang="en-US" sz="1900" baseline="-40000" dirty="0">
                <a:solidFill>
                  <a:schemeClr val="tx2"/>
                </a:solidFill>
                <a:latin typeface="Cambria" pitchFamily="34" charset="0"/>
                <a:ea typeface="Cambria" pitchFamily="34" charset="-122"/>
                <a:cs typeface="Cambria" pitchFamily="34" charset="-120"/>
              </a:rPr>
              <a:t>k</a:t>
            </a:r>
            <a:pPr indent="0" marL="0">
              <a:buNone/>
            </a:pPr>
            <a:r>
              <a:rPr lang="en-US" sz="1900" dirty="0">
                <a:solidFill>
                  <a:schemeClr val="tx2"/>
                </a:solidFill>
                <a:latin typeface="Cambria" pitchFamily="34" charset="0"/>
                <a:ea typeface="Cambria" pitchFamily="34" charset="-122"/>
                <a:cs typeface="Cambria" pitchFamily="34" charset="-120"/>
              </a:rPr>
              <a:t>·H )</a:t>
            </a:r>
            <a:endParaRPr lang="en-US" sz="1900" dirty="0"/>
          </a:p>
        </p:txBody>
      </p:sp>
      <p:sp>
        <p:nvSpPr>
          <p:cNvPr id="9" name="Text 7"/>
          <p:cNvSpPr txBox="1"/>
          <p:nvPr/>
        </p:nvSpPr>
        <p:spPr>
          <a:xfrm>
            <a:off x="868680" y="3840480"/>
            <a:ext cx="5212080" cy="457200"/>
          </a:xfrm>
          <a:prstGeom prst="rect">
            <a:avLst/>
          </a:prstGeom>
          <a:noFill/>
          <a:ln/>
        </p:spPr>
        <p:txBody>
          <a:bodyPr wrap="square" lIns="0" tIns="0" rIns="0" bIns="0" rtlCol="0" anchor="ctr"/>
          <a:lstStyle/>
          <a:p>
            <a:pPr indent="0" marL="0">
              <a:buNone/>
            </a:pPr>
            <a:r>
              <a:rPr lang="en-US" sz="1900" dirty="0">
                <a:solidFill>
                  <a:schemeClr val="tx2"/>
                </a:solidFill>
                <a:latin typeface="Cambria" pitchFamily="34" charset="0"/>
                <a:ea typeface="Cambria" pitchFamily="34" charset="-122"/>
                <a:cs typeface="Cambria" pitchFamily="34" charset="-120"/>
              </a:rPr>
              <a:t>w</a:t>
            </a:r>
            <a:pPr indent="0" marL="0">
              <a:buNone/>
            </a:pPr>
            <a:r>
              <a:rPr lang="en-US" sz="1900" baseline="-40000" dirty="0">
                <a:solidFill>
                  <a:schemeClr val="tx2"/>
                </a:solidFill>
                <a:latin typeface="Cambria" pitchFamily="34" charset="0"/>
                <a:ea typeface="Cambria" pitchFamily="34" charset="-122"/>
                <a:cs typeface="Cambria" pitchFamily="34" charset="-120"/>
              </a:rPr>
              <a:t>k</a:t>
            </a:r>
            <a:pPr indent="0" marL="0">
              <a:buNone/>
            </a:pPr>
            <a:r>
              <a:rPr lang="en-US" sz="1900" dirty="0">
                <a:solidFill>
                  <a:schemeClr val="tx2"/>
                </a:solidFill>
                <a:latin typeface="Cambria" pitchFamily="34" charset="0"/>
                <a:ea typeface="Cambria" pitchFamily="34" charset="-122"/>
                <a:cs typeface="Cambria" pitchFamily="34" charset="-120"/>
              </a:rPr>
              <a:t> = 0.60;  lateral meniscus: w = 1.00</a:t>
            </a:r>
            <a:endParaRPr lang="en-US" sz="1900" dirty="0"/>
          </a:p>
        </p:txBody>
      </p:sp>
      <p:sp>
        <p:nvSpPr>
          <p:cNvPr id="10" name="text-286"/>
          <p:cNvSpPr txBox="1"/>
          <p:nvPr/>
        </p:nvSpPr>
        <p:spPr>
          <a:xfrm>
            <a:off x="868680" y="4572000"/>
            <a:ext cx="5120640" cy="292608"/>
          </a:xfrm>
          <a:prstGeom prst="rect">
            <a:avLst/>
          </a:prstGeom>
          <a:noFill/>
          <a:ln/>
        </p:spPr>
        <p:txBody>
          <a:bodyPr wrap="square" lIns="0" tIns="0" rIns="0" bIns="0" rtlCol="0" anchor="t"/>
          <a:lstStyle/>
          <a:p>
            <a:pPr indent="0" marL="0">
              <a:buNone/>
            </a:pPr>
            <a:r>
              <a:rPr lang="en-US" sz="1600" b="1" dirty="0">
                <a:solidFill>
                  <a:schemeClr val="tx1"/>
                </a:solidFill>
              </a:rPr>
              <a:t>Why rank space?</a:t>
            </a:r>
            <a:endParaRPr lang="en-US" sz="1600" dirty="0"/>
          </a:p>
        </p:txBody>
      </p:sp>
      <p:sp>
        <p:nvSpPr>
          <p:cNvPr id="11" name="text-287"/>
          <p:cNvSpPr txBox="1"/>
          <p:nvPr/>
        </p:nvSpPr>
        <p:spPr>
          <a:xfrm>
            <a:off x="868680" y="4892040"/>
            <a:ext cx="5166360" cy="1005840"/>
          </a:xfrm>
          <a:prstGeom prst="rect">
            <a:avLst/>
          </a:prstGeom>
          <a:noFill/>
          <a:ln/>
        </p:spPr>
        <p:txBody>
          <a:bodyPr wrap="square" lIns="0" tIns="0" rIns="0" bIns="0" rtlCol="0" anchor="t"/>
          <a:lstStyle/>
          <a:p>
            <a:pPr indent="0" marL="0">
              <a:buNone/>
            </a:pPr>
            <a:r>
              <a:rPr lang="en-US" sz="1400" dirty="0">
                <a:solidFill>
                  <a:schemeClr val="tx2"/>
                </a:solidFill>
              </a:rPr>
              <a:t>Each model emits scores on its own scale. AUC depends only on ordering, so we blend percentile ranks and re-rank, which keeps one model's scale from dominating.</a:t>
            </a:r>
            <a:endParaRPr lang="en-US" sz="1400" dirty="0"/>
          </a:p>
        </p:txBody>
      </p:sp>
      <p:graphicFrame>
        <p:nvGraphicFramePr>
          <p:cNvPr id="12" name="fusion-weights-chart" descr=""/>
          <p:cNvGraphicFramePr/>
          <p:nvPr/>
        </p:nvGraphicFramePr>
        <p:xfrm>
          <a:off x="6583680" y="1508760"/>
          <a:ext cx="5056632"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EXPERIMENTS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ABG: three post-calibration additions</a:t>
            </a:r>
            <a:endParaRPr lang="en-US" sz="3400" dirty="0"/>
          </a:p>
        </p:txBody>
      </p:sp>
      <p:sp>
        <p:nvSpPr>
          <p:cNvPr id="4" name="card-288"/>
          <p:cNvSpPr/>
          <p:nvPr/>
        </p:nvSpPr>
        <p:spPr>
          <a:xfrm>
            <a:off x="548640" y="1508760"/>
            <a:ext cx="3593592" cy="3611880"/>
          </a:xfrm>
          <a:prstGeom prst="roundRect">
            <a:avLst>
              <a:gd name="adj" fmla="val 3053"/>
            </a:avLst>
          </a:prstGeom>
          <a:solidFill>
            <a:schemeClr val="bg2"/>
          </a:solidFill>
          <a:ln/>
        </p:spPr>
      </p:sp>
      <p:sp>
        <p:nvSpPr>
          <p:cNvPr id="5" name="letter-289"/>
          <p:cNvSpPr/>
          <p:nvPr/>
        </p:nvSpPr>
        <p:spPr>
          <a:xfrm>
            <a:off x="822960" y="1719072"/>
            <a:ext cx="457200" cy="45720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6" name="text-290"/>
          <p:cNvSpPr txBox="1"/>
          <p:nvPr/>
        </p:nvSpPr>
        <p:spPr>
          <a:xfrm>
            <a:off x="1417320" y="1719072"/>
            <a:ext cx="2542032" cy="457200"/>
          </a:xfrm>
          <a:prstGeom prst="rect">
            <a:avLst/>
          </a:prstGeom>
          <a:noFill/>
          <a:ln/>
        </p:spPr>
        <p:txBody>
          <a:bodyPr wrap="square" lIns="0" tIns="0" rIns="0" bIns="0" rtlCol="0" anchor="ctr"/>
          <a:lstStyle/>
          <a:p>
            <a:pPr indent="0" marL="0">
              <a:buNone/>
            </a:pPr>
            <a:r>
              <a:rPr lang="en-US" sz="1600" b="1" dirty="0">
                <a:solidFill>
                  <a:schemeClr val="tx1"/>
                </a:solidFill>
              </a:rPr>
              <a:t>Native E11 head residual</a:t>
            </a:r>
            <a:endParaRPr lang="en-US" sz="1600" dirty="0"/>
          </a:p>
        </p:txBody>
      </p:sp>
      <p:sp>
        <p:nvSpPr>
          <p:cNvPr id="7" name="formula-291"/>
          <p:cNvSpPr/>
          <p:nvPr/>
        </p:nvSpPr>
        <p:spPr>
          <a:xfrm>
            <a:off x="822960" y="2423160"/>
            <a:ext cx="3044952" cy="868680"/>
          </a:xfrm>
          <a:prstGeom prst="roundRect">
            <a:avLst>
              <a:gd name="adj" fmla="val 8421"/>
            </a:avLst>
          </a:prstGeom>
          <a:solidFill>
            <a:schemeClr val="bg1"/>
          </a:solidFill>
          <a:ln/>
        </p:spPr>
        <p:txBody>
          <a:bodyPr wrap="square" lIns="101600" tIns="101600" rIns="101600" bIns="101600" rtlCol="0" anchor="ctr"/>
          <a:lstStyle/>
          <a:p>
            <a:pPr indent="0" marL="0">
              <a:buNone/>
            </a:pPr>
            <a:r>
              <a:rPr lang="en-US" sz="1400" dirty="0">
                <a:solidFill>
                  <a:schemeClr val="tx2"/>
                </a:solidFill>
                <a:latin typeface="Cambria" pitchFamily="34" charset="0"/>
                <a:ea typeface="Cambria" pitchFamily="34" charset="-122"/>
                <a:cs typeface="Cambria" pitchFamily="34" charset="-120"/>
              </a:rPr>
              <a:t>R</a:t>
            </a:r>
            <a:pPr indent="0" marL="0">
              <a:buNone/>
            </a:pPr>
            <a:r>
              <a:rPr lang="en-US" sz="1400" baseline="-40000" dirty="0">
                <a:solidFill>
                  <a:schemeClr val="tx2"/>
                </a:solidFill>
                <a:latin typeface="Cambria" pitchFamily="34" charset="0"/>
                <a:ea typeface="Cambria" pitchFamily="34" charset="-122"/>
                <a:cs typeface="Cambria" pitchFamily="34" charset="-120"/>
              </a:rPr>
              <a:t>A</a:t>
            </a:r>
            <a:pPr indent="0" marL="0">
              <a:buNone/>
            </a:pPr>
            <a:r>
              <a:rPr lang="en-US" sz="1400" dirty="0">
                <a:solidFill>
                  <a:schemeClr val="tx2"/>
                </a:solidFill>
                <a:latin typeface="Cambria" pitchFamily="34" charset="0"/>
                <a:ea typeface="Cambria" pitchFamily="34" charset="-122"/>
                <a:cs typeface="Cambria" pitchFamily="34" charset="-120"/>
              </a:rPr>
              <a:t> = 0.15 · (rank(E11 native) − rank(E13 on E11 pixels))</a:t>
            </a:r>
            <a:endParaRPr lang="en-US" sz="1400" dirty="0"/>
          </a:p>
        </p:txBody>
      </p:sp>
      <p:sp>
        <p:nvSpPr>
          <p:cNvPr id="8" name="Text 6"/>
          <p:cNvSpPr txBox="1"/>
          <p:nvPr/>
        </p:nvSpPr>
        <p:spPr>
          <a:xfrm>
            <a:off x="822960" y="3520440"/>
            <a:ext cx="3044952" cy="1508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Five existing E11 heads on features already computed</a:t>
            </a:r>
            <a:endParaRPr lang="en-US" sz="1500" dirty="0"/>
          </a:p>
          <a:p>
            <a:pPr marL="203200" indent="-203200">
              <a:spcAft>
                <a:spcPts val="1000"/>
              </a:spcAft>
              <a:buSzPct val="100000"/>
              <a:buChar char="•"/>
            </a:pPr>
            <a:r>
              <a:rPr lang="en-US" sz="1500" dirty="0">
                <a:solidFill>
                  <a:schemeClr val="tx2"/>
                </a:solidFill>
              </a:rPr>
              <a:t>No extra encoder pass</a:t>
            </a:r>
            <a:endParaRPr lang="en-US" sz="1500" dirty="0"/>
          </a:p>
        </p:txBody>
      </p:sp>
      <p:sp>
        <p:nvSpPr>
          <p:cNvPr id="9" name="card-292"/>
          <p:cNvSpPr/>
          <p:nvPr/>
        </p:nvSpPr>
        <p:spPr>
          <a:xfrm>
            <a:off x="4297680" y="1508760"/>
            <a:ext cx="3593592" cy="3611880"/>
          </a:xfrm>
          <a:prstGeom prst="roundRect">
            <a:avLst>
              <a:gd name="adj" fmla="val 3053"/>
            </a:avLst>
          </a:prstGeom>
          <a:solidFill>
            <a:schemeClr val="bg2"/>
          </a:solidFill>
          <a:ln/>
        </p:spPr>
      </p:sp>
      <p:sp>
        <p:nvSpPr>
          <p:cNvPr id="10" name="letter-293"/>
          <p:cNvSpPr/>
          <p:nvPr/>
        </p:nvSpPr>
        <p:spPr>
          <a:xfrm>
            <a:off x="4572000" y="1719072"/>
            <a:ext cx="457200" cy="45720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1" name="text-294"/>
          <p:cNvSpPr txBox="1"/>
          <p:nvPr/>
        </p:nvSpPr>
        <p:spPr>
          <a:xfrm>
            <a:off x="5166360" y="1719072"/>
            <a:ext cx="2542032" cy="457200"/>
          </a:xfrm>
          <a:prstGeom prst="rect">
            <a:avLst/>
          </a:prstGeom>
          <a:noFill/>
          <a:ln/>
        </p:spPr>
        <p:txBody>
          <a:bodyPr wrap="square" lIns="0" tIns="0" rIns="0" bIns="0" rtlCol="0" anchor="ctr"/>
          <a:lstStyle/>
          <a:p>
            <a:pPr indent="0" marL="0">
              <a:buNone/>
            </a:pPr>
            <a:r>
              <a:rPr lang="en-US" sz="1600" b="1" dirty="0">
                <a:solidFill>
                  <a:schemeClr val="tx1"/>
                </a:solidFill>
              </a:rPr>
              <a:t>Alternate Rad family residual</a:t>
            </a:r>
            <a:endParaRPr lang="en-US" sz="1600" dirty="0"/>
          </a:p>
        </p:txBody>
      </p:sp>
      <p:sp>
        <p:nvSpPr>
          <p:cNvPr id="12" name="formula-295"/>
          <p:cNvSpPr/>
          <p:nvPr/>
        </p:nvSpPr>
        <p:spPr>
          <a:xfrm>
            <a:off x="4572000" y="2423160"/>
            <a:ext cx="3044952" cy="868680"/>
          </a:xfrm>
          <a:prstGeom prst="roundRect">
            <a:avLst>
              <a:gd name="adj" fmla="val 8421"/>
            </a:avLst>
          </a:prstGeom>
          <a:solidFill>
            <a:schemeClr val="bg1"/>
          </a:solidFill>
          <a:ln/>
        </p:spPr>
        <p:txBody>
          <a:bodyPr wrap="square" lIns="101600" tIns="101600" rIns="101600" bIns="101600" rtlCol="0" anchor="ctr"/>
          <a:lstStyle/>
          <a:p>
            <a:pPr indent="0" marL="0">
              <a:buNone/>
            </a:pPr>
            <a:r>
              <a:rPr lang="en-US" sz="1400" dirty="0">
                <a:solidFill>
                  <a:schemeClr val="tx2"/>
                </a:solidFill>
                <a:latin typeface="Cambria" pitchFamily="34" charset="0"/>
                <a:ea typeface="Cambria" pitchFamily="34" charset="-122"/>
                <a:cs typeface="Cambria" pitchFamily="34" charset="-120"/>
              </a:rPr>
              <a:t>R</a:t>
            </a:r>
            <a:pPr indent="0" marL="0">
              <a:buNone/>
            </a:pPr>
            <a:r>
              <a:rPr lang="en-US" sz="1400" baseline="-40000" dirty="0">
                <a:solidFill>
                  <a:schemeClr val="tx2"/>
                </a:solidFill>
                <a:latin typeface="Cambria" pitchFamily="34" charset="0"/>
                <a:ea typeface="Cambria" pitchFamily="34" charset="-122"/>
                <a:cs typeface="Cambria" pitchFamily="34" charset="-120"/>
              </a:rPr>
              <a:t>B</a:t>
            </a:r>
            <a:pPr indent="0" marL="0">
              <a:buNone/>
            </a:pPr>
            <a:r>
              <a:rPr lang="en-US" sz="1400" dirty="0">
                <a:solidFill>
                  <a:schemeClr val="tx2"/>
                </a:solidFill>
                <a:latin typeface="Cambria" pitchFamily="34" charset="0"/>
                <a:ea typeface="Cambria" pitchFamily="34" charset="-122"/>
                <a:cs typeface="Cambria" pitchFamily="34" charset="-120"/>
              </a:rPr>
              <a:t> = 0.85 · 0.500001 · (rank(alt E10) − rank(ref E10))</a:t>
            </a:r>
            <a:endParaRPr lang="en-US" sz="1400" dirty="0"/>
          </a:p>
        </p:txBody>
      </p:sp>
      <p:sp>
        <p:nvSpPr>
          <p:cNvPr id="13" name="Text 11"/>
          <p:cNvSpPr txBox="1"/>
          <p:nvPr/>
        </p:nvSpPr>
        <p:spPr>
          <a:xfrm>
            <a:off x="4572000" y="3520440"/>
            <a:ext cx="3044952" cy="1508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Uses predictions the parent already computes as diagnostics</a:t>
            </a:r>
            <a:endParaRPr lang="en-US" sz="1500" dirty="0"/>
          </a:p>
          <a:p>
            <a:pPr marL="203200" indent="-203200">
              <a:spcAft>
                <a:spcPts val="1000"/>
              </a:spcAft>
              <a:buSzPct val="100000"/>
              <a:buChar char="•"/>
            </a:pPr>
            <a:r>
              <a:rPr lang="en-US" sz="1500" dirty="0">
                <a:solidFill>
                  <a:schemeClr val="tx2"/>
                </a:solidFill>
              </a:rPr>
              <a:t>Exactly zero for Baker's cyst and fracture</a:t>
            </a:r>
            <a:endParaRPr lang="en-US" sz="1500" dirty="0"/>
          </a:p>
        </p:txBody>
      </p:sp>
      <p:sp>
        <p:nvSpPr>
          <p:cNvPr id="14" name="card-296"/>
          <p:cNvSpPr/>
          <p:nvPr/>
        </p:nvSpPr>
        <p:spPr>
          <a:xfrm>
            <a:off x="8046720" y="1508760"/>
            <a:ext cx="3593592" cy="3611880"/>
          </a:xfrm>
          <a:prstGeom prst="roundRect">
            <a:avLst>
              <a:gd name="adj" fmla="val 3053"/>
            </a:avLst>
          </a:prstGeom>
          <a:solidFill>
            <a:schemeClr val="bg2"/>
          </a:solidFill>
          <a:ln/>
        </p:spPr>
      </p:sp>
      <p:sp>
        <p:nvSpPr>
          <p:cNvPr id="15" name="letter-297"/>
          <p:cNvSpPr/>
          <p:nvPr/>
        </p:nvSpPr>
        <p:spPr>
          <a:xfrm>
            <a:off x="8321040" y="1719072"/>
            <a:ext cx="457200" cy="457200"/>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G</a:t>
            </a:r>
            <a:endParaRPr lang="en-US" sz="1200" dirty="0"/>
          </a:p>
        </p:txBody>
      </p:sp>
      <p:sp>
        <p:nvSpPr>
          <p:cNvPr id="16" name="text-298"/>
          <p:cNvSpPr txBox="1"/>
          <p:nvPr/>
        </p:nvSpPr>
        <p:spPr>
          <a:xfrm>
            <a:off x="8915400" y="1719072"/>
            <a:ext cx="2542032" cy="457200"/>
          </a:xfrm>
          <a:prstGeom prst="rect">
            <a:avLst/>
          </a:prstGeom>
          <a:noFill/>
          <a:ln/>
        </p:spPr>
        <p:txBody>
          <a:bodyPr wrap="square" lIns="0" tIns="0" rIns="0" bIns="0" rtlCol="0" anchor="ctr"/>
          <a:lstStyle/>
          <a:p>
            <a:pPr indent="0" marL="0">
              <a:buNone/>
            </a:pPr>
            <a:r>
              <a:rPr lang="en-US" sz="1600" b="1" dirty="0">
                <a:solidFill>
                  <a:schemeClr val="tx1"/>
                </a:solidFill>
              </a:rPr>
              <a:t>Raptor gain marginalisation</a:t>
            </a:r>
            <a:endParaRPr lang="en-US" sz="1600" dirty="0"/>
          </a:p>
        </p:txBody>
      </p:sp>
      <p:sp>
        <p:nvSpPr>
          <p:cNvPr id="17" name="formula-299"/>
          <p:cNvSpPr/>
          <p:nvPr/>
        </p:nvSpPr>
        <p:spPr>
          <a:xfrm>
            <a:off x="8321040" y="2423160"/>
            <a:ext cx="3044952" cy="868680"/>
          </a:xfrm>
          <a:prstGeom prst="roundRect">
            <a:avLst>
              <a:gd name="adj" fmla="val 8421"/>
            </a:avLst>
          </a:prstGeom>
          <a:solidFill>
            <a:schemeClr val="bg1"/>
          </a:solidFill>
          <a:ln/>
        </p:spPr>
        <p:txBody>
          <a:bodyPr wrap="square" lIns="101600" tIns="101600" rIns="101600" bIns="101600" rtlCol="0" anchor="ctr"/>
          <a:lstStyle/>
          <a:p>
            <a:pPr indent="0" marL="0">
              <a:buNone/>
            </a:pPr>
            <a:r>
              <a:rPr lang="en-US" sz="1400" dirty="0">
                <a:solidFill>
                  <a:schemeClr val="tx2"/>
                </a:solidFill>
                <a:latin typeface="Cambria" pitchFamily="34" charset="0"/>
                <a:ea typeface="Cambria" pitchFamily="34" charset="-122"/>
                <a:cs typeface="Cambria" pitchFamily="34" charset="-120"/>
              </a:rPr>
              <a:t>p̄ = ⅙·p(0.9) + ⅔·p(1.0) + ⅙·p(1.1)</a:t>
            </a:r>
            <a:endParaRPr lang="en-US" sz="1400" dirty="0"/>
          </a:p>
        </p:txBody>
      </p:sp>
      <p:sp>
        <p:nvSpPr>
          <p:cNvPr id="18" name="Text 16"/>
          <p:cNvSpPr txBox="1"/>
          <p:nvPr/>
        </p:nvSpPr>
        <p:spPr>
          <a:xfrm>
            <a:off x="8321040" y="3520440"/>
            <a:ext cx="3044952" cy="1508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Each Raptor arm averaged over intensity gains</a:t>
            </a:r>
            <a:endParaRPr lang="en-US" sz="1500" dirty="0"/>
          </a:p>
          <a:p>
            <a:pPr marL="203200" indent="-203200">
              <a:spcAft>
                <a:spcPts val="1000"/>
              </a:spcAft>
              <a:buSzPct val="100000"/>
              <a:buChar char="•"/>
            </a:pPr>
            <a:r>
              <a:rPr lang="en-US" sz="1500" dirty="0">
                <a:solidFill>
                  <a:schemeClr val="tx2"/>
                </a:solidFill>
              </a:rPr>
              <a:t>Two extra forward passes per study and arm</a:t>
            </a:r>
            <a:endParaRPr lang="en-US" sz="1500" dirty="0"/>
          </a:p>
        </p:txBody>
      </p:sp>
      <p:sp>
        <p:nvSpPr>
          <p:cNvPr id="19" name="card-300"/>
          <p:cNvSpPr/>
          <p:nvPr/>
        </p:nvSpPr>
        <p:spPr>
          <a:xfrm>
            <a:off x="548640" y="5303520"/>
            <a:ext cx="11094415" cy="731520"/>
          </a:xfrm>
          <a:prstGeom prst="roundRect">
            <a:avLst>
              <a:gd name="adj" fmla="val 15000"/>
            </a:avLst>
          </a:prstGeom>
          <a:solidFill>
            <a:schemeClr val="accent4">
              <a:alpha val="10000"/>
            </a:schemeClr>
          </a:solidFill>
          <a:ln/>
        </p:spPr>
      </p:sp>
      <p:sp>
        <p:nvSpPr>
          <p:cNvPr id="20" name="text-301"/>
          <p:cNvSpPr txBox="1"/>
          <p:nvPr/>
        </p:nvSpPr>
        <p:spPr>
          <a:xfrm>
            <a:off x="868680" y="5303520"/>
            <a:ext cx="10454335" cy="731520"/>
          </a:xfrm>
          <a:prstGeom prst="rect">
            <a:avLst/>
          </a:prstGeom>
          <a:noFill/>
          <a:ln/>
        </p:spPr>
        <p:txBody>
          <a:bodyPr wrap="square" lIns="0" tIns="0" rIns="0" bIns="0" rtlCol="0" anchor="ctr"/>
          <a:lstStyle/>
          <a:p>
            <a:pPr indent="0" marL="0">
              <a:buNone/>
            </a:pPr>
            <a:r>
              <a:rPr lang="en-US" sz="1400" b="1" dirty="0">
                <a:solidFill>
                  <a:schemeClr val="tx2"/>
                </a:solidFill>
              </a:rPr>
              <a:t>Shared rules: calibrator inputs and coefficients untouched  ·  residual scales inherited, not newly fitted  ·  no new training  ·  hard 8-hour limit</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EXPERIMENTS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Gain marginalisation (G)</a:t>
            </a:r>
            <a:endParaRPr lang="en-US" sz="3400" dirty="0"/>
          </a:p>
        </p:txBody>
      </p:sp>
      <p:graphicFrame>
        <p:nvGraphicFramePr>
          <p:cNvPr id="4" name="gain-weights-chart" descr=""/>
          <p:cNvGraphicFramePr/>
          <p:nvPr/>
        </p:nvGraphicFramePr>
        <p:xfrm>
          <a:off x="548640" y="1508760"/>
          <a:ext cx="5394960" cy="3840480"/>
        </p:xfrm>
        <a:graphic xmlns:a="http://schemas.openxmlformats.org/drawingml/2006/main">
          <a:graphicData uri="http://schemas.openxmlformats.org/drawingml/2006/chart">
            <c:chart xmlns:c="http://schemas.openxmlformats.org/drawingml/2006/chart" r:id="rId1"/>
          </a:graphicData>
        </a:graphic>
      </p:graphicFrame>
      <p:sp>
        <p:nvSpPr>
          <p:cNvPr id="5" name="text-302"/>
          <p:cNvSpPr txBox="1"/>
          <p:nvPr/>
        </p:nvSpPr>
        <p:spPr>
          <a:xfrm>
            <a:off x="548640" y="5440680"/>
            <a:ext cx="5394960" cy="548640"/>
          </a:xfrm>
          <a:prstGeom prst="rect">
            <a:avLst/>
          </a:prstGeom>
          <a:noFill/>
          <a:ln/>
        </p:spPr>
        <p:txBody>
          <a:bodyPr wrap="square" lIns="0" tIns="0" rIns="0" bIns="0" rtlCol="0" anchor="t"/>
          <a:lstStyle/>
          <a:p>
            <a:pPr indent="0" marL="0">
              <a:buNone/>
            </a:pPr>
            <a:r>
              <a:rPr lang="en-US" sz="1300" dirty="0">
                <a:solidFill>
                  <a:schemeClr val="accent5"/>
                </a:solidFill>
              </a:rPr>
              <a:t>Weights 1 : 4 : 1 act like a quadrature over the gain range, so the unmodified view still dominates.</a:t>
            </a:r>
            <a:endParaRPr lang="en-US" sz="1300" dirty="0"/>
          </a:p>
        </p:txBody>
      </p:sp>
      <p:sp>
        <p:nvSpPr>
          <p:cNvPr id="6" name="badge-303"/>
          <p:cNvSpPr/>
          <p:nvPr/>
        </p:nvSpPr>
        <p:spPr>
          <a:xfrm>
            <a:off x="6400800" y="1554480"/>
            <a:ext cx="594360" cy="594360"/>
          </a:xfrm>
          <a:prstGeom prst="ellipse">
            <a:avLst/>
          </a:prstGeom>
          <a:solidFill>
            <a:schemeClr val="accent4"/>
          </a:solidFill>
          <a:ln/>
        </p:spPr>
      </p:sp>
      <p:pic>
        <p:nvPicPr>
          <p:cNvPr id="7" name="icon-304" descr="preencoded.png">    </p:cNvPr>
          <p:cNvPicPr>
            <a:picLocks noChangeAspect="1"/>
          </p:cNvPicPr>
          <p:nvPr/>
        </p:nvPicPr>
        <p:blipFill>
          <a:blip r:embed="rId2"/>
          <a:stretch>
            <a:fillRect/>
          </a:stretch>
        </p:blipFill>
        <p:spPr>
          <a:xfrm>
            <a:off x="6555334" y="1709014"/>
            <a:ext cx="285293" cy="285293"/>
          </a:xfrm>
          <a:prstGeom prst="rect">
            <a:avLst/>
          </a:prstGeom>
        </p:spPr>
      </p:pic>
      <p:sp>
        <p:nvSpPr>
          <p:cNvPr id="8" name="text-305"/>
          <p:cNvSpPr txBox="1"/>
          <p:nvPr/>
        </p:nvSpPr>
        <p:spPr>
          <a:xfrm>
            <a:off x="7223760" y="1536192"/>
            <a:ext cx="4389120" cy="320040"/>
          </a:xfrm>
          <a:prstGeom prst="rect">
            <a:avLst/>
          </a:prstGeom>
          <a:noFill/>
          <a:ln/>
        </p:spPr>
        <p:txBody>
          <a:bodyPr wrap="square" lIns="0" tIns="0" rIns="0" bIns="0" rtlCol="0" anchor="t"/>
          <a:lstStyle/>
          <a:p>
            <a:pPr indent="0" marL="0">
              <a:buNone/>
            </a:pPr>
            <a:r>
              <a:rPr lang="en-US" sz="1700" b="1" dirty="0">
                <a:solidFill>
                  <a:schemeClr val="tx1"/>
                </a:solidFill>
              </a:rPr>
              <a:t>Supported variation</a:t>
            </a:r>
            <a:endParaRPr lang="en-US" sz="1700" dirty="0"/>
          </a:p>
        </p:txBody>
      </p:sp>
      <p:sp>
        <p:nvSpPr>
          <p:cNvPr id="9" name="text-306"/>
          <p:cNvSpPr txBox="1"/>
          <p:nvPr/>
        </p:nvSpPr>
        <p:spPr>
          <a:xfrm>
            <a:off x="7223760" y="1901952"/>
            <a:ext cx="4389120" cy="868680"/>
          </a:xfrm>
          <a:prstGeom prst="rect">
            <a:avLst/>
          </a:prstGeom>
          <a:noFill/>
          <a:ln/>
        </p:spPr>
        <p:txBody>
          <a:bodyPr wrap="square" lIns="0" tIns="0" rIns="0" bIns="0" rtlCol="0" anchor="t"/>
          <a:lstStyle/>
          <a:p>
            <a:pPr indent="0" marL="0">
              <a:buNone/>
            </a:pPr>
            <a:r>
              <a:rPr lang="en-US" sz="1400" dirty="0">
                <a:solidFill>
                  <a:schemeClr val="tx2"/>
                </a:solidFill>
              </a:rPr>
              <a:t>Training used intensity-gain augmentation, so 0.9 and 1.1 stay inside the range the model has seen.</a:t>
            </a:r>
            <a:endParaRPr lang="en-US" sz="1400" dirty="0"/>
          </a:p>
        </p:txBody>
      </p:sp>
      <p:sp>
        <p:nvSpPr>
          <p:cNvPr id="10" name="badge-307"/>
          <p:cNvSpPr/>
          <p:nvPr/>
        </p:nvSpPr>
        <p:spPr>
          <a:xfrm>
            <a:off x="6400800" y="2926080"/>
            <a:ext cx="594360" cy="594360"/>
          </a:xfrm>
          <a:prstGeom prst="ellipse">
            <a:avLst/>
          </a:prstGeom>
          <a:solidFill>
            <a:schemeClr val="accent4"/>
          </a:solidFill>
          <a:ln/>
        </p:spPr>
      </p:sp>
      <p:pic>
        <p:nvPicPr>
          <p:cNvPr id="11" name="icon-308" descr="preencoded.png">    </p:cNvPr>
          <p:cNvPicPr>
            <a:picLocks noChangeAspect="1"/>
          </p:cNvPicPr>
          <p:nvPr/>
        </p:nvPicPr>
        <p:blipFill>
          <a:blip r:embed="rId3"/>
          <a:stretch>
            <a:fillRect/>
          </a:stretch>
        </p:blipFill>
        <p:spPr>
          <a:xfrm>
            <a:off x="6555334" y="3080614"/>
            <a:ext cx="285293" cy="285293"/>
          </a:xfrm>
          <a:prstGeom prst="rect">
            <a:avLst/>
          </a:prstGeom>
        </p:spPr>
      </p:pic>
      <p:sp>
        <p:nvSpPr>
          <p:cNvPr id="12" name="text-309"/>
          <p:cNvSpPr txBox="1"/>
          <p:nvPr/>
        </p:nvSpPr>
        <p:spPr>
          <a:xfrm>
            <a:off x="7223760" y="2907792"/>
            <a:ext cx="4389120" cy="320040"/>
          </a:xfrm>
          <a:prstGeom prst="rect">
            <a:avLst/>
          </a:prstGeom>
          <a:noFill/>
          <a:ln/>
        </p:spPr>
        <p:txBody>
          <a:bodyPr wrap="square" lIns="0" tIns="0" rIns="0" bIns="0" rtlCol="0" anchor="t"/>
          <a:lstStyle/>
          <a:p>
            <a:pPr indent="0" marL="0">
              <a:buNone/>
            </a:pPr>
            <a:r>
              <a:rPr lang="en-US" sz="1700" b="1" dirty="0">
                <a:solidFill>
                  <a:schemeClr val="tx1"/>
                </a:solidFill>
              </a:rPr>
              <a:t>Less scanner sensitivity</a:t>
            </a:r>
            <a:endParaRPr lang="en-US" sz="1700" dirty="0"/>
          </a:p>
        </p:txBody>
      </p:sp>
      <p:sp>
        <p:nvSpPr>
          <p:cNvPr id="13" name="text-310"/>
          <p:cNvSpPr txBox="1"/>
          <p:nvPr/>
        </p:nvSpPr>
        <p:spPr>
          <a:xfrm>
            <a:off x="7223760" y="3273552"/>
            <a:ext cx="4389120" cy="868680"/>
          </a:xfrm>
          <a:prstGeom prst="rect">
            <a:avLst/>
          </a:prstGeom>
          <a:noFill/>
          <a:ln/>
        </p:spPr>
        <p:txBody>
          <a:bodyPr wrap="square" lIns="0" tIns="0" rIns="0" bIns="0" rtlCol="0" anchor="t"/>
          <a:lstStyle/>
          <a:p>
            <a:pPr indent="0" marL="0">
              <a:buNone/>
            </a:pPr>
            <a:r>
              <a:rPr lang="en-US" sz="1400" dirty="0">
                <a:solidFill>
                  <a:schemeClr val="tx2"/>
                </a:solidFill>
              </a:rPr>
              <a:t>Averaging softens dependence on scanner brightness; the arm mixture 60/10/10/20 is kept.</a:t>
            </a:r>
            <a:endParaRPr lang="en-US" sz="1400" dirty="0"/>
          </a:p>
        </p:txBody>
      </p:sp>
      <p:sp>
        <p:nvSpPr>
          <p:cNvPr id="14" name="badge-311"/>
          <p:cNvSpPr/>
          <p:nvPr/>
        </p:nvSpPr>
        <p:spPr>
          <a:xfrm>
            <a:off x="6400800" y="4297680"/>
            <a:ext cx="594360" cy="594360"/>
          </a:xfrm>
          <a:prstGeom prst="ellipse">
            <a:avLst/>
          </a:prstGeom>
          <a:solidFill>
            <a:schemeClr val="accent4"/>
          </a:solidFill>
          <a:ln/>
        </p:spPr>
      </p:sp>
      <p:pic>
        <p:nvPicPr>
          <p:cNvPr id="15" name="icon-312" descr="preencoded.png">    </p:cNvPr>
          <p:cNvPicPr>
            <a:picLocks noChangeAspect="1"/>
          </p:cNvPicPr>
          <p:nvPr/>
        </p:nvPicPr>
        <p:blipFill>
          <a:blip r:embed="rId4"/>
          <a:stretch>
            <a:fillRect/>
          </a:stretch>
        </p:blipFill>
        <p:spPr>
          <a:xfrm>
            <a:off x="6555334" y="4452214"/>
            <a:ext cx="285293" cy="285293"/>
          </a:xfrm>
          <a:prstGeom prst="rect">
            <a:avLst/>
          </a:prstGeom>
        </p:spPr>
      </p:pic>
      <p:sp>
        <p:nvSpPr>
          <p:cNvPr id="16" name="text-313"/>
          <p:cNvSpPr txBox="1"/>
          <p:nvPr/>
        </p:nvSpPr>
        <p:spPr>
          <a:xfrm>
            <a:off x="7223760" y="4279392"/>
            <a:ext cx="4389120" cy="320040"/>
          </a:xfrm>
          <a:prstGeom prst="rect">
            <a:avLst/>
          </a:prstGeom>
          <a:noFill/>
          <a:ln/>
        </p:spPr>
        <p:txBody>
          <a:bodyPr wrap="square" lIns="0" tIns="0" rIns="0" bIns="0" rtlCol="0" anchor="t"/>
          <a:lstStyle/>
          <a:p>
            <a:pPr indent="0" marL="0">
              <a:buNone/>
            </a:pPr>
            <a:r>
              <a:rPr lang="en-US" sz="1700" b="1" dirty="0">
                <a:solidFill>
                  <a:schemeClr val="tx1"/>
                </a:solidFill>
              </a:rPr>
              <a:t>Exactness check</a:t>
            </a:r>
            <a:endParaRPr lang="en-US" sz="1700" dirty="0"/>
          </a:p>
        </p:txBody>
      </p:sp>
      <p:sp>
        <p:nvSpPr>
          <p:cNvPr id="17" name="text-314"/>
          <p:cNvSpPr txBox="1"/>
          <p:nvPr/>
        </p:nvSpPr>
        <p:spPr>
          <a:xfrm>
            <a:off x="7223760" y="4645152"/>
            <a:ext cx="4389120" cy="868680"/>
          </a:xfrm>
          <a:prstGeom prst="rect">
            <a:avLst/>
          </a:prstGeom>
          <a:noFill/>
          <a:ln/>
        </p:spPr>
        <p:txBody>
          <a:bodyPr wrap="square" lIns="0" tIns="0" rIns="0" bIns="0" rtlCol="0" anchor="t"/>
          <a:lstStyle/>
          <a:p>
            <a:pPr indent="0" marL="0">
              <a:buNone/>
            </a:pPr>
            <a:r>
              <a:rPr lang="en-US" sz="1400" dirty="0">
                <a:solidFill>
                  <a:schemeClr val="tx2"/>
                </a:solidFill>
              </a:rPr>
              <a:t>With gains fixed to 1.0 the parent Raptor output is reconstructed exactly.</a:t>
            </a:r>
            <a:endParaRPr lang="en-US" sz="1400" dirty="0"/>
          </a:p>
        </p:txBody>
      </p:sp>
      <p:sp>
        <p:nvSpPr>
          <p:cNvPr id="18" name="card-315"/>
          <p:cNvSpPr/>
          <p:nvPr/>
        </p:nvSpPr>
        <p:spPr>
          <a:xfrm>
            <a:off x="6400800" y="5577840"/>
            <a:ext cx="5239512" cy="502920"/>
          </a:xfrm>
          <a:prstGeom prst="roundRect">
            <a:avLst>
              <a:gd name="adj" fmla="val 21818"/>
            </a:avLst>
          </a:prstGeom>
          <a:solidFill>
            <a:schemeClr val="accent4">
              <a:alpha val="10000"/>
            </a:schemeClr>
          </a:solidFill>
          <a:ln/>
        </p:spPr>
      </p:sp>
      <p:sp>
        <p:nvSpPr>
          <p:cNvPr id="19" name="text-316"/>
          <p:cNvSpPr txBox="1"/>
          <p:nvPr/>
        </p:nvSpPr>
        <p:spPr>
          <a:xfrm>
            <a:off x="6629400" y="5577840"/>
            <a:ext cx="4846320" cy="502920"/>
          </a:xfrm>
          <a:prstGeom prst="rect">
            <a:avLst/>
          </a:prstGeom>
          <a:noFill/>
          <a:ln/>
        </p:spPr>
        <p:txBody>
          <a:bodyPr wrap="square" lIns="0" tIns="0" rIns="0" bIns="0" rtlCol="0" anchor="ctr"/>
          <a:lstStyle/>
          <a:p>
            <a:pPr indent="0" marL="0">
              <a:buNone/>
            </a:pPr>
            <a:r>
              <a:rPr lang="en-US" sz="1300" b="1" dirty="0">
                <a:solidFill>
                  <a:schemeClr val="tx2"/>
                </a:solidFill>
              </a:rPr>
              <a:t>Largest raw difference between gain views: 0.048 (3-study check)</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EXPERIMENTS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Mechanism study: why ensembling helps</a:t>
            </a:r>
            <a:endParaRPr lang="en-US" sz="3400" dirty="0"/>
          </a:p>
        </p:txBody>
      </p:sp>
      <p:graphicFrame>
        <p:nvGraphicFramePr>
          <p:cNvPr id="4" name="sim-size-chart" descr=""/>
          <p:cNvGraphicFramePr/>
          <p:nvPr/>
        </p:nvGraphicFramePr>
        <p:xfrm>
          <a:off x="548640" y="1463040"/>
          <a:ext cx="539496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sim-blend-chart" descr=""/>
          <p:cNvGraphicFramePr/>
          <p:nvPr/>
        </p:nvGraphicFramePr>
        <p:xfrm>
          <a:off x="6217920" y="1463040"/>
          <a:ext cx="5422392" cy="3337560"/>
        </p:xfrm>
        <a:graphic xmlns:a="http://schemas.openxmlformats.org/drawingml/2006/main">
          <a:graphicData uri="http://schemas.openxmlformats.org/drawingml/2006/chart">
            <c:chart xmlns:c="http://schemas.openxmlformats.org/drawingml/2006/chart" r:id="rId2"/>
          </a:graphicData>
        </a:graphic>
      </p:graphicFrame>
      <p:sp>
        <p:nvSpPr>
          <p:cNvPr id="6" name="card-317"/>
          <p:cNvSpPr/>
          <p:nvPr/>
        </p:nvSpPr>
        <p:spPr>
          <a:xfrm>
            <a:off x="548640" y="4937760"/>
            <a:ext cx="11094415" cy="566928"/>
          </a:xfrm>
          <a:prstGeom prst="roundRect">
            <a:avLst>
              <a:gd name="adj" fmla="val 19355"/>
            </a:avLst>
          </a:prstGeom>
          <a:solidFill>
            <a:schemeClr val="accent4">
              <a:alpha val="10000"/>
            </a:schemeClr>
          </a:solidFill>
          <a:ln/>
        </p:spPr>
      </p:sp>
      <p:sp>
        <p:nvSpPr>
          <p:cNvPr id="7" name="text-318"/>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500" b="1" dirty="0">
                <a:solidFill>
                  <a:schemeClr val="tx2"/>
                </a:solidFill>
              </a:rPr>
              <a:t>Going from 10 to 20 members adds only +0.0020. Blending three families gains +0.0284 at ρ = 0.2 but −0.0033 at ρ = 0.8.</a:t>
            </a:r>
            <a:endParaRPr lang="en-US" sz="1500" dirty="0"/>
          </a:p>
        </p:txBody>
      </p:sp>
      <p:sp>
        <p:nvSpPr>
          <p:cNvPr id="8" name="text-319"/>
          <p:cNvSpPr txBox="1"/>
          <p:nvPr/>
        </p:nvSpPr>
        <p:spPr>
          <a:xfrm>
            <a:off x="548640" y="5623560"/>
            <a:ext cx="11094415" cy="457200"/>
          </a:xfrm>
          <a:prstGeom prst="rect">
            <a:avLst/>
          </a:prstGeom>
          <a:noFill/>
          <a:ln/>
        </p:spPr>
        <p:txBody>
          <a:bodyPr wrap="square" lIns="0" tIns="0" rIns="0" bIns="0" rtlCol="0" anchor="t"/>
          <a:lstStyle/>
          <a:p>
            <a:pPr indent="0" marL="0">
              <a:buNone/>
            </a:pPr>
            <a:r>
              <a:rPr lang="en-US" sz="1100" dirty="0">
                <a:solidFill>
                  <a:schemeClr val="accent5"/>
                </a:solidFill>
              </a:rPr>
              <a:t>SYNTHETIC SIMULATION, NOT RSNA DATA  ·  1,500 studies × 12 targets, prevalence 25%, 40 repetitions; score = signal + correlated Gaussian noise; parameters assumed. 95% intervals ≤ ±0.003.</a:t>
            </a:r>
            <a:endParaRPr lang="en-US" sz="11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EXPERIMENTS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Mechanism study: residuals and gain views</a:t>
            </a:r>
            <a:endParaRPr lang="en-US" sz="3400" dirty="0"/>
          </a:p>
        </p:txBody>
      </p:sp>
      <p:graphicFrame>
        <p:nvGraphicFramePr>
          <p:cNvPr id="4" name="sim-resid-chart" descr=""/>
          <p:cNvGraphicFramePr/>
          <p:nvPr/>
        </p:nvGraphicFramePr>
        <p:xfrm>
          <a:off x="548640" y="1463040"/>
          <a:ext cx="585216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sim-gain-chart" descr=""/>
          <p:cNvGraphicFramePr/>
          <p:nvPr/>
        </p:nvGraphicFramePr>
        <p:xfrm>
          <a:off x="6583680" y="1463040"/>
          <a:ext cx="5056632" cy="3337560"/>
        </p:xfrm>
        <a:graphic xmlns:a="http://schemas.openxmlformats.org/drawingml/2006/main">
          <a:graphicData uri="http://schemas.openxmlformats.org/drawingml/2006/chart">
            <c:chart xmlns:c="http://schemas.openxmlformats.org/drawingml/2006/chart" r:id="rId2"/>
          </a:graphicData>
        </a:graphic>
      </p:graphicFrame>
      <p:sp>
        <p:nvSpPr>
          <p:cNvPr id="6" name="card-320"/>
          <p:cNvSpPr/>
          <p:nvPr/>
        </p:nvSpPr>
        <p:spPr>
          <a:xfrm>
            <a:off x="548640" y="4937760"/>
            <a:ext cx="11094415" cy="566928"/>
          </a:xfrm>
          <a:prstGeom prst="roundRect">
            <a:avLst>
              <a:gd name="adj" fmla="val 19355"/>
            </a:avLst>
          </a:prstGeom>
          <a:solidFill>
            <a:schemeClr val="accent4">
              <a:alpha val="10000"/>
            </a:schemeClr>
          </a:solidFill>
          <a:ln/>
        </p:spPr>
      </p:sp>
      <p:sp>
        <p:nvSpPr>
          <p:cNvPr id="7" name="text-321"/>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500" b="1" dirty="0">
                <a:solidFill>
                  <a:schemeClr val="tx2"/>
                </a:solidFill>
              </a:rPr>
              <a:t>At the inherited scale 0.15 a worse head costs −0.0056; 1:4:1 gain weights keep +0.0018 when off-centre views are weaker, equal thirds do not.</a:t>
            </a:r>
            <a:endParaRPr lang="en-US" sz="1500" dirty="0"/>
          </a:p>
        </p:txBody>
      </p:sp>
      <p:sp>
        <p:nvSpPr>
          <p:cNvPr id="8" name="text-322"/>
          <p:cNvSpPr txBox="1"/>
          <p:nvPr/>
        </p:nvSpPr>
        <p:spPr>
          <a:xfrm>
            <a:off x="548640" y="5623560"/>
            <a:ext cx="11094415" cy="457200"/>
          </a:xfrm>
          <a:prstGeom prst="rect">
            <a:avLst/>
          </a:prstGeom>
          <a:noFill/>
          <a:ln/>
        </p:spPr>
        <p:txBody>
          <a:bodyPr wrap="square" lIns="0" tIns="0" rIns="0" bIns="0" rtlCol="0" anchor="t"/>
          <a:lstStyle/>
          <a:p>
            <a:pPr indent="0" marL="0">
              <a:buNone/>
            </a:pPr>
            <a:r>
              <a:rPr lang="en-US" sz="1100" dirty="0">
                <a:solidFill>
                  <a:schemeClr val="accent5"/>
                </a:solidFill>
              </a:rPr>
              <a:t>SYNTHETIC SIMULATION, NOT RSNA DATA  ·  same setup as the previous slide; heads a and b share most of their noise (ρ = 0.92), gain views share noise with ρ = 0.9; parameters assumed. Paired 95% intervals ≤ ±0.0003.</a:t>
            </a:r>
            <a:endParaRPr lang="en-US" sz="11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EXPERIMENTS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Submissions and ablation batch</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914400"/>
        </p:xfrm>
        <a:graphic>
          <a:graphicData uri="http://schemas.openxmlformats.org/drawingml/2006/table">
            <a:tbl>
              <a:tblPr/>
              <a:tblGrid>
                <a:gridCol w="2011680"/>
                <a:gridCol w="731520"/>
                <a:gridCol w="731520"/>
                <a:gridCol w="731520"/>
                <a:gridCol w="2560320"/>
              </a:tblGrid>
              <a:tr h="502920">
                <a:tc>
                  <a:txBody>
                    <a:bodyPr/>
                    <a:lstStyle/>
                    <a:p>
                      <a:pPr indent="0" marL="0">
                        <a:buNone/>
                      </a:pPr>
                      <a:r>
                        <a:rPr lang="en-US" sz="1200" b="1" dirty="0">
                          <a:solidFill>
                            <a:srgbClr val="FFFFFF"/>
                          </a:solidFill>
                        </a:rPr>
                        <a:t>Run</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A</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B</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G</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Status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r>
              <a:tr h="502920">
                <a:tc>
                  <a:txBody>
                    <a:bodyPr/>
                    <a:lstStyle/>
                    <a:p>
                      <a:pPr indent="0" marL="0">
                        <a:buNone/>
                      </a:pPr>
                      <a:r>
                        <a:rPr lang="en-US" sz="1200" b="1" dirty="0">
                          <a:solidFill>
                            <a:srgbClr val="33424F"/>
                          </a:solidFill>
                        </a:rPr>
                        <a:t>Parent recipe (V17)</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b="1" dirty="0">
                          <a:solidFill>
                            <a:srgbClr val="6D5BD0"/>
                          </a:solidFill>
                        </a:rPr>
                        <a:t>Graded: 0.940 (submission 1)</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3424F"/>
                          </a:solidFill>
                        </a:rPr>
                        <a:t>A</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5B6B7A"/>
                          </a:solidFill>
                        </a:rPr>
                        <a:t>Planned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3424F"/>
                          </a:solidFill>
                        </a:rPr>
                        <a:t>B</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5B6B7A"/>
                          </a:solidFill>
                        </a:rPr>
                        <a:t>Planned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3424F"/>
                          </a:solidFill>
                        </a:rPr>
                        <a:t>G</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5B6B7A"/>
                          </a:solidFill>
                        </a:rPr>
                        <a:t>Planned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3424F"/>
                          </a:solidFill>
                        </a:rPr>
                        <a:t>AB</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5B6B7A"/>
                          </a:solidFill>
                        </a:rPr>
                        <a:t>Planned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6D5BD0"/>
                          </a:solidFill>
                        </a:rPr>
                        <a:t>ABG</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6D5BD0"/>
                          </a:solidFill>
                        </a:rPr>
                        <a:t>●</a:t>
                      </a:r>
                      <a:endParaRPr lang="en-US" sz="16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b="1" dirty="0">
                          <a:solidFill>
                            <a:srgbClr val="6D5BD0"/>
                          </a:solidFill>
                        </a:rPr>
                        <a:t>Graded: 0.922 (submission 2)</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bl>
          </a:graphicData>
        </a:graphic>
      </p:graphicFrame>
      <p:sp>
        <p:nvSpPr>
          <p:cNvPr id="5" name="text-323"/>
          <p:cNvSpPr txBox="1"/>
          <p:nvPr/>
        </p:nvSpPr>
        <p:spPr>
          <a:xfrm>
            <a:off x="548640" y="5212080"/>
            <a:ext cx="6766560" cy="548640"/>
          </a:xfrm>
          <a:prstGeom prst="rect">
            <a:avLst/>
          </a:prstGeom>
          <a:noFill/>
          <a:ln/>
        </p:spPr>
        <p:txBody>
          <a:bodyPr wrap="square" lIns="0" tIns="0" rIns="0" bIns="0" rtlCol="0" anchor="t"/>
          <a:lstStyle/>
          <a:p>
            <a:pPr indent="0" marL="0">
              <a:buNone/>
            </a:pPr>
            <a:r>
              <a:rPr lang="en-US" sz="1300" dirty="0">
                <a:solidFill>
                  <a:schemeClr val="accent5"/>
                </a:solidFill>
              </a:rPr>
              <a:t>Two submissions are graded so far. A, B, G and AB are the next runs, and the only way to attribute the change to one addition.</a:t>
            </a:r>
            <a:endParaRPr lang="en-US" sz="1300" dirty="0"/>
          </a:p>
        </p:txBody>
      </p:sp>
      <p:sp>
        <p:nvSpPr>
          <p:cNvPr id="6" name="card-324"/>
          <p:cNvSpPr/>
          <p:nvPr/>
        </p:nvSpPr>
        <p:spPr>
          <a:xfrm>
            <a:off x="7589520" y="1554480"/>
            <a:ext cx="4050792" cy="4526280"/>
          </a:xfrm>
          <a:prstGeom prst="roundRect">
            <a:avLst>
              <a:gd name="adj" fmla="val 2709"/>
            </a:avLst>
          </a:prstGeom>
          <a:solidFill>
            <a:schemeClr val="bg2"/>
          </a:solidFill>
          <a:ln/>
        </p:spPr>
      </p:sp>
      <p:sp>
        <p:nvSpPr>
          <p:cNvPr id="7" name="text-325"/>
          <p:cNvSpPr txBox="1"/>
          <p:nvPr/>
        </p:nvSpPr>
        <p:spPr>
          <a:xfrm>
            <a:off x="7909560" y="1737360"/>
            <a:ext cx="338328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PROTOCOL</a:t>
            </a:r>
            <a:endParaRPr lang="en-US" sz="1100" dirty="0"/>
          </a:p>
        </p:txBody>
      </p:sp>
      <p:sp>
        <p:nvSpPr>
          <p:cNvPr id="8" name="badge-326"/>
          <p:cNvSpPr/>
          <p:nvPr/>
        </p:nvSpPr>
        <p:spPr>
          <a:xfrm>
            <a:off x="7909560" y="2148840"/>
            <a:ext cx="548640" cy="548640"/>
          </a:xfrm>
          <a:prstGeom prst="ellipse">
            <a:avLst/>
          </a:prstGeom>
          <a:solidFill>
            <a:schemeClr val="accent4"/>
          </a:solidFill>
          <a:ln/>
        </p:spPr>
      </p:sp>
      <p:pic>
        <p:nvPicPr>
          <p:cNvPr id="9" name="icon-327" descr="preencoded.png">    </p:cNvPr>
          <p:cNvPicPr>
            <a:picLocks noChangeAspect="1"/>
          </p:cNvPicPr>
          <p:nvPr/>
        </p:nvPicPr>
        <p:blipFill>
          <a:blip r:embed="rId1"/>
          <a:stretch>
            <a:fillRect/>
          </a:stretch>
        </p:blipFill>
        <p:spPr>
          <a:xfrm>
            <a:off x="8052206" y="2291486"/>
            <a:ext cx="263347" cy="263347"/>
          </a:xfrm>
          <a:prstGeom prst="rect">
            <a:avLst/>
          </a:prstGeom>
        </p:spPr>
      </p:pic>
      <p:sp>
        <p:nvSpPr>
          <p:cNvPr id="10" name="text-328"/>
          <p:cNvSpPr txBox="1"/>
          <p:nvPr/>
        </p:nvSpPr>
        <p:spPr>
          <a:xfrm>
            <a:off x="8641080" y="2130552"/>
            <a:ext cx="2834640" cy="292608"/>
          </a:xfrm>
          <a:prstGeom prst="rect">
            <a:avLst/>
          </a:prstGeom>
          <a:noFill/>
          <a:ln/>
        </p:spPr>
        <p:txBody>
          <a:bodyPr wrap="square" lIns="0" tIns="0" rIns="0" bIns="0" rtlCol="0" anchor="t"/>
          <a:lstStyle/>
          <a:p>
            <a:pPr indent="0" marL="0">
              <a:buNone/>
            </a:pPr>
            <a:r>
              <a:rPr lang="en-US" sz="1600" b="1" dirty="0">
                <a:solidFill>
                  <a:schemeClr val="tx1"/>
                </a:solidFill>
              </a:rPr>
              <a:t>Fixed in advance</a:t>
            </a:r>
            <a:endParaRPr lang="en-US" sz="1600" dirty="0"/>
          </a:p>
        </p:txBody>
      </p:sp>
      <p:sp>
        <p:nvSpPr>
          <p:cNvPr id="11" name="text-329"/>
          <p:cNvSpPr txBox="1"/>
          <p:nvPr/>
        </p:nvSpPr>
        <p:spPr>
          <a:xfrm>
            <a:off x="8641080" y="2450592"/>
            <a:ext cx="2834640" cy="868680"/>
          </a:xfrm>
          <a:prstGeom prst="rect">
            <a:avLst/>
          </a:prstGeom>
          <a:noFill/>
          <a:ln/>
        </p:spPr>
        <p:txBody>
          <a:bodyPr wrap="square" lIns="0" tIns="0" rIns="0" bIns="0" rtlCol="0" anchor="t"/>
          <a:lstStyle/>
          <a:p>
            <a:pPr indent="0" marL="0">
              <a:buNone/>
            </a:pPr>
            <a:r>
              <a:rPr lang="en-US" sz="1300" dirty="0">
                <a:solidFill>
                  <a:schemeClr val="tx2"/>
                </a:solidFill>
              </a:rPr>
              <a:t>The whole batch was defined before any leaderboard result.</a:t>
            </a:r>
            <a:endParaRPr lang="en-US" sz="1300" dirty="0"/>
          </a:p>
        </p:txBody>
      </p:sp>
      <p:sp>
        <p:nvSpPr>
          <p:cNvPr id="12" name="badge-330"/>
          <p:cNvSpPr/>
          <p:nvPr/>
        </p:nvSpPr>
        <p:spPr>
          <a:xfrm>
            <a:off x="7909560" y="3429000"/>
            <a:ext cx="548640" cy="548640"/>
          </a:xfrm>
          <a:prstGeom prst="ellipse">
            <a:avLst/>
          </a:prstGeom>
          <a:solidFill>
            <a:schemeClr val="accent4"/>
          </a:solidFill>
          <a:ln/>
        </p:spPr>
      </p:sp>
      <p:pic>
        <p:nvPicPr>
          <p:cNvPr id="13" name="icon-331" descr="preencoded.png">    </p:cNvPr>
          <p:cNvPicPr>
            <a:picLocks noChangeAspect="1"/>
          </p:cNvPicPr>
          <p:nvPr/>
        </p:nvPicPr>
        <p:blipFill>
          <a:blip r:embed="rId2"/>
          <a:stretch>
            <a:fillRect/>
          </a:stretch>
        </p:blipFill>
        <p:spPr>
          <a:xfrm>
            <a:off x="8052206" y="3571646"/>
            <a:ext cx="263347" cy="263347"/>
          </a:xfrm>
          <a:prstGeom prst="rect">
            <a:avLst/>
          </a:prstGeom>
        </p:spPr>
      </p:pic>
      <p:sp>
        <p:nvSpPr>
          <p:cNvPr id="14" name="text-332"/>
          <p:cNvSpPr txBox="1"/>
          <p:nvPr/>
        </p:nvSpPr>
        <p:spPr>
          <a:xfrm>
            <a:off x="8641080" y="3410712"/>
            <a:ext cx="2834640" cy="292608"/>
          </a:xfrm>
          <a:prstGeom prst="rect">
            <a:avLst/>
          </a:prstGeom>
          <a:noFill/>
          <a:ln/>
        </p:spPr>
        <p:txBody>
          <a:bodyPr wrap="square" lIns="0" tIns="0" rIns="0" bIns="0" rtlCol="0" anchor="t"/>
          <a:lstStyle/>
          <a:p>
            <a:pPr indent="0" marL="0">
              <a:buNone/>
            </a:pPr>
            <a:r>
              <a:rPr lang="en-US" sz="1600" b="1" dirty="0">
                <a:solidFill>
                  <a:schemeClr val="tx1"/>
                </a:solidFill>
              </a:rPr>
              <a:t>No chasing the score</a:t>
            </a:r>
            <a:endParaRPr lang="en-US" sz="1600" dirty="0"/>
          </a:p>
        </p:txBody>
      </p:sp>
      <p:sp>
        <p:nvSpPr>
          <p:cNvPr id="15" name="text-333"/>
          <p:cNvSpPr txBox="1"/>
          <p:nvPr/>
        </p:nvSpPr>
        <p:spPr>
          <a:xfrm>
            <a:off x="8641080" y="3730752"/>
            <a:ext cx="2834640" cy="868680"/>
          </a:xfrm>
          <a:prstGeom prst="rect">
            <a:avLst/>
          </a:prstGeom>
          <a:noFill/>
          <a:ln/>
        </p:spPr>
        <p:txBody>
          <a:bodyPr wrap="square" lIns="0" tIns="0" rIns="0" bIns="0" rtlCol="0" anchor="t"/>
          <a:lstStyle/>
          <a:p>
            <a:pPr indent="0" marL="0">
              <a:buNone/>
            </a:pPr>
            <a:r>
              <a:rPr lang="en-US" sz="1300" dirty="0">
                <a:solidFill>
                  <a:schemeClr val="tx2"/>
                </a:solidFill>
              </a:rPr>
              <a:t>Later entries are not tuned to earlier results.</a:t>
            </a:r>
            <a:endParaRPr lang="en-US" sz="1300" dirty="0"/>
          </a:p>
        </p:txBody>
      </p:sp>
      <p:sp>
        <p:nvSpPr>
          <p:cNvPr id="16" name="badge-334"/>
          <p:cNvSpPr/>
          <p:nvPr/>
        </p:nvSpPr>
        <p:spPr>
          <a:xfrm>
            <a:off x="7909560" y="4709160"/>
            <a:ext cx="548640" cy="548640"/>
          </a:xfrm>
          <a:prstGeom prst="ellipse">
            <a:avLst/>
          </a:prstGeom>
          <a:solidFill>
            <a:schemeClr val="accent4"/>
          </a:solidFill>
          <a:ln/>
        </p:spPr>
      </p:sp>
      <p:pic>
        <p:nvPicPr>
          <p:cNvPr id="17" name="icon-335" descr="preencoded.png">    </p:cNvPr>
          <p:cNvPicPr>
            <a:picLocks noChangeAspect="1"/>
          </p:cNvPicPr>
          <p:nvPr/>
        </p:nvPicPr>
        <p:blipFill>
          <a:blip r:embed="rId3"/>
          <a:stretch>
            <a:fillRect/>
          </a:stretch>
        </p:blipFill>
        <p:spPr>
          <a:xfrm>
            <a:off x="8052206" y="4851806"/>
            <a:ext cx="263347" cy="263347"/>
          </a:xfrm>
          <a:prstGeom prst="rect">
            <a:avLst/>
          </a:prstGeom>
        </p:spPr>
      </p:pic>
      <p:sp>
        <p:nvSpPr>
          <p:cNvPr id="18" name="text-336"/>
          <p:cNvSpPr txBox="1"/>
          <p:nvPr/>
        </p:nvSpPr>
        <p:spPr>
          <a:xfrm>
            <a:off x="8641080" y="4690872"/>
            <a:ext cx="2834640" cy="292608"/>
          </a:xfrm>
          <a:prstGeom prst="rect">
            <a:avLst/>
          </a:prstGeom>
          <a:noFill/>
          <a:ln/>
        </p:spPr>
        <p:txBody>
          <a:bodyPr wrap="square" lIns="0" tIns="0" rIns="0" bIns="0" rtlCol="0" anchor="t"/>
          <a:lstStyle/>
          <a:p>
            <a:pPr indent="0" marL="0">
              <a:buNone/>
            </a:pPr>
            <a:r>
              <a:rPr lang="en-US" sz="1600" b="1" dirty="0">
                <a:solidFill>
                  <a:schemeClr val="tx1"/>
                </a:solidFill>
              </a:rPr>
              <a:t>Gates stay failed</a:t>
            </a:r>
            <a:endParaRPr lang="en-US" sz="1600" dirty="0"/>
          </a:p>
        </p:txBody>
      </p:sp>
      <p:sp>
        <p:nvSpPr>
          <p:cNvPr id="19" name="text-337"/>
          <p:cNvSpPr txBox="1"/>
          <p:nvPr/>
        </p:nvSpPr>
        <p:spPr>
          <a:xfrm>
            <a:off x="8641080" y="5010912"/>
            <a:ext cx="2834640" cy="868680"/>
          </a:xfrm>
          <a:prstGeom prst="rect">
            <a:avLst/>
          </a:prstGeom>
          <a:noFill/>
          <a:ln/>
        </p:spPr>
        <p:txBody>
          <a:bodyPr wrap="square" lIns="0" tIns="0" rIns="0" bIns="0" rtlCol="0" anchor="t"/>
          <a:lstStyle/>
          <a:p>
            <a:pPr indent="0" marL="0">
              <a:buNone/>
            </a:pPr>
            <a:r>
              <a:rPr lang="en-US" sz="1300" dirty="0">
                <a:solidFill>
                  <a:schemeClr val="tx2"/>
                </a:solidFill>
              </a:rPr>
              <a:t>Acceptance criteria are set up front; a later score never overrules a failed gate.</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EXPERIMENTS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Ideas tested and retired</a:t>
            </a:r>
            <a:endParaRPr lang="en-US" sz="3400" dirty="0"/>
          </a:p>
        </p:txBody>
      </p:sp>
      <p:graphicFrame>
        <p:nvGraphicFramePr>
          <p:cNvPr id="4" name="retired-chart" descr=""/>
          <p:cNvGraphicFramePr/>
          <p:nvPr/>
        </p:nvGraphicFramePr>
        <p:xfrm>
          <a:off x="548640" y="1508760"/>
          <a:ext cx="4754880" cy="3977640"/>
        </p:xfrm>
        <a:graphic xmlns:a="http://schemas.openxmlformats.org/drawingml/2006/main">
          <a:graphicData uri="http://schemas.openxmlformats.org/drawingml/2006/chart">
            <c:chart xmlns:c="http://schemas.openxmlformats.org/drawingml/2006/chart" r:id="rId1"/>
          </a:graphicData>
        </a:graphic>
      </p:graphicFrame>
      <p:sp>
        <p:nvSpPr>
          <p:cNvPr id="5" name="text-338"/>
          <p:cNvSpPr txBox="1"/>
          <p:nvPr/>
        </p:nvSpPr>
        <p:spPr>
          <a:xfrm>
            <a:off x="548640" y="5577840"/>
            <a:ext cx="4754880" cy="502920"/>
          </a:xfrm>
          <a:prstGeom prst="rect">
            <a:avLst/>
          </a:prstGeom>
          <a:noFill/>
          <a:ln/>
        </p:spPr>
        <p:txBody>
          <a:bodyPr wrap="square" lIns="0" tIns="0" rIns="0" bIns="0" rtlCol="0" anchor="t"/>
          <a:lstStyle/>
          <a:p>
            <a:pPr indent="0" marL="0">
              <a:buNone/>
            </a:pPr>
            <a:r>
              <a:rPr lang="en-US" sz="1200" dirty="0">
                <a:solidFill>
                  <a:schemeClr val="accent5"/>
                </a:solidFill>
              </a:rPr>
              <a:t>A +0.001 change in one target moves the 12-target macro score by only ≈0.0001.</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577840" y="1554480"/>
          <a:ext cx="6062472" cy="914400"/>
        </p:xfrm>
        <a:graphic>
          <a:graphicData uri="http://schemas.openxmlformats.org/drawingml/2006/table">
            <a:tbl>
              <a:tblPr/>
              <a:tblGrid>
                <a:gridCol w="1965960"/>
                <a:gridCol w="2834640"/>
                <a:gridCol w="1261872"/>
              </a:tblGrid>
              <a:tr h="365760">
                <a:tc>
                  <a:txBody>
                    <a:bodyPr/>
                    <a:lstStyle/>
                    <a:p>
                      <a:pPr indent="0" marL="0">
                        <a:buNone/>
                      </a:pPr>
                      <a:r>
                        <a:rPr lang="en-US" sz="1200" b="1" dirty="0">
                          <a:solidFill>
                            <a:srgbClr val="FFFFFF"/>
                          </a:solidFill>
                        </a:rPr>
                        <a:t>Idea</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Recorded evidence</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Decision</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r>
              <a:tr h="777240">
                <a:tc>
                  <a:txBody>
                    <a:bodyPr/>
                    <a:lstStyle/>
                    <a:p>
                      <a:pPr indent="0" marL="0">
                        <a:buNone/>
                      </a:pPr>
                      <a:r>
                        <a:rPr lang="en-US" sz="1200" b="1" dirty="0">
                          <a:solidFill>
                            <a:srgbClr val="33424F"/>
                          </a:solidFill>
                        </a:rPr>
                        <a:t>OrthoDiffusion ACL overlay</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Positive gains, but bootstrap confidence 0.677 vs 0.80 required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b="1" dirty="0">
                          <a:solidFill>
                            <a:srgbClr val="C8403F"/>
                          </a:solidFill>
                        </a:rPr>
                        <a:t>Retired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33424F"/>
                          </a:solidFill>
                        </a:rPr>
                        <a:t>OrthoDiffusion on MCL and menisci</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Negative on all three pre-set targets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b="1" dirty="0">
                          <a:solidFill>
                            <a:srgbClr val="C8403F"/>
                          </a:solidFill>
                        </a:rPr>
                        <a:t>Retired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33424F"/>
                          </a:solidFill>
                        </a:rPr>
                        <a:t>Anchor-bilinear residual</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ACL +0.00095 ≈ +0.00008 macro; below frozen floors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b="1" dirty="0">
                          <a:solidFill>
                            <a:srgbClr val="C8403F"/>
                          </a:solidFill>
                        </a:rPr>
                        <a:t>Retired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33424F"/>
                          </a:solidFill>
                        </a:rPr>
                        <a:t>LCSE anatomical residual</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ACL −0.00109; 2 of 4 folds positive; all six gates failed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b="1" dirty="0">
                          <a:solidFill>
                            <a:srgbClr val="C8403F"/>
                          </a:solidFill>
                        </a:rPr>
                        <a:t>No submission</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r>
            </a:tbl>
          </a:graphicData>
        </a:graphic>
      </p:graphicFrame>
      <p:sp>
        <p:nvSpPr>
          <p:cNvPr id="7" name="card-339"/>
          <p:cNvSpPr/>
          <p:nvPr/>
        </p:nvSpPr>
        <p:spPr>
          <a:xfrm>
            <a:off x="5577840" y="5074920"/>
            <a:ext cx="6062472" cy="960120"/>
          </a:xfrm>
          <a:prstGeom prst="roundRect">
            <a:avLst>
              <a:gd name="adj" fmla="val 11429"/>
            </a:avLst>
          </a:prstGeom>
          <a:solidFill>
            <a:schemeClr val="accent4">
              <a:alpha val="10000"/>
            </a:schemeClr>
          </a:solidFill>
          <a:ln/>
        </p:spPr>
      </p:sp>
      <p:sp>
        <p:nvSpPr>
          <p:cNvPr id="8" name="text-340"/>
          <p:cNvSpPr txBox="1"/>
          <p:nvPr/>
        </p:nvSpPr>
        <p:spPr>
          <a:xfrm>
            <a:off x="5806440" y="5074920"/>
            <a:ext cx="5623560" cy="960120"/>
          </a:xfrm>
          <a:prstGeom prst="rect">
            <a:avLst/>
          </a:prstGeom>
          <a:noFill/>
          <a:ln/>
        </p:spPr>
        <p:txBody>
          <a:bodyPr wrap="square" lIns="0" tIns="0" rIns="0" bIns="0" rtlCol="0" anchor="ctr"/>
          <a:lstStyle/>
          <a:p>
            <a:pPr indent="0" marL="0">
              <a:buNone/>
            </a:pPr>
            <a:r>
              <a:rPr lang="en-US" sz="1300" dirty="0">
                <a:solidFill>
                  <a:schemeClr val="tx2"/>
                </a:solidFill>
              </a:rPr>
              <a:t>A failed gate is never overruled by a later public score. These are historical results from frozen evaluation packages, not fresh runs of this notebook.</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RESULTS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Verification of the final pipeline run</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589520" cy="914400"/>
        </p:xfrm>
        <a:graphic>
          <a:graphicData uri="http://schemas.openxmlformats.org/drawingml/2006/table">
            <a:tbl>
              <a:tblPr/>
              <a:tblGrid>
                <a:gridCol w="1920240"/>
                <a:gridCol w="4754880"/>
                <a:gridCol w="914400"/>
              </a:tblGrid>
              <a:tr h="384048">
                <a:tc>
                  <a:txBody>
                    <a:bodyPr/>
                    <a:lstStyle/>
                    <a:p>
                      <a:pPr indent="0" marL="0">
                        <a:buNone/>
                      </a:pPr>
                      <a:r>
                        <a:rPr lang="en-US" sz="1200" b="1" dirty="0">
                          <a:solidFill>
                            <a:srgbClr val="FFFFFF"/>
                          </a:solidFill>
                        </a:rPr>
                        <a:t>Check</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Outcome</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c>
                  <a:txBody>
                    <a:bodyPr/>
                    <a:lstStyle/>
                    <a:p>
                      <a:pPr indent="0" marL="0">
                        <a:buNone/>
                      </a:pPr>
                      <a:r>
                        <a:rPr lang="en-US" sz="1200" b="1" dirty="0">
                          <a:solidFill>
                            <a:srgbClr val="FFFFFF"/>
                          </a:solidFill>
                        </a:rPr>
                        <a:t>Result</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24384A"/>
                    </a:solidFill>
                  </a:tcPr>
                </a:tc>
              </a:tr>
              <a:tr h="566928">
                <a:tc>
                  <a:txBody>
                    <a:bodyPr/>
                    <a:lstStyle/>
                    <a:p>
                      <a:pPr indent="0" marL="0">
                        <a:buNone/>
                      </a:pPr>
                      <a:r>
                        <a:rPr lang="en-US" sz="1200" b="1" dirty="0">
                          <a:solidFill>
                            <a:srgbClr val="33424F"/>
                          </a:solidFill>
                        </a:rPr>
                        <a:t>GPU preflight</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2 × Tesla T4 detected; CUDA probes passed on both</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57B"/>
                          </a:solidFill>
                        </a:rPr>
                        <a:t>PASS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3F3F1"/>
                    </a:solidFill>
                  </a:tcPr>
                </a:tc>
              </a:tr>
              <a:tr h="566928">
                <a:tc>
                  <a:txBody>
                    <a:bodyPr/>
                    <a:lstStyle/>
                    <a:p>
                      <a:pPr indent="0" marL="0">
                        <a:buNone/>
                      </a:pPr>
                      <a:r>
                        <a:rPr lang="en-US" sz="1200" b="1" dirty="0">
                          <a:solidFill>
                            <a:srgbClr val="33424F"/>
                          </a:solidFill>
                        </a:rPr>
                        <a:t>DINO stage</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20 / 20 weight fingerprints matched (≤ 4.6e-6); output (3, 13)</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57B"/>
                          </a:solidFill>
                        </a:rPr>
                        <a:t>PASS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3F3F1"/>
                    </a:solidFill>
                  </a:tcPr>
                </a:tc>
              </a:tr>
              <a:tr h="566928">
                <a:tc>
                  <a:txBody>
                    <a:bodyPr/>
                    <a:lstStyle/>
                    <a:p>
                      <a:pPr indent="0" marL="0">
                        <a:buNone/>
                      </a:pPr>
                      <a:r>
                        <a:rPr lang="en-US" sz="1200" b="1" dirty="0">
                          <a:solidFill>
                            <a:srgbClr val="33424F"/>
                          </a:solidFill>
                        </a:rPr>
                        <a:t>A5 and Rad stages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Row count, UID order, finite values and 0–1 range checked</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57B"/>
                          </a:solidFill>
                        </a:rPr>
                        <a:t>PASS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3F3F1"/>
                    </a:solidFill>
                  </a:tcPr>
                </a:tc>
              </a:tr>
              <a:tr h="566928">
                <a:tc>
                  <a:txBody>
                    <a:bodyPr/>
                    <a:lstStyle/>
                    <a:p>
                      <a:pPr indent="0" marL="0">
                        <a:buNone/>
                      </a:pPr>
                      <a:r>
                        <a:rPr lang="en-US" sz="1200" b="1" dirty="0">
                          <a:solidFill>
                            <a:srgbClr val="33424F"/>
                          </a:solidFill>
                        </a:rPr>
                        <a:t>Raptor stage</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4 arms completed in ≈93 s for the 3 visible studies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57B"/>
                          </a:solidFill>
                        </a:rPr>
                        <a:t>PASS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3F3F1"/>
                    </a:solidFill>
                  </a:tcPr>
                </a:tc>
              </a:tr>
              <a:tr h="566928">
                <a:tc>
                  <a:txBody>
                    <a:bodyPr/>
                    <a:lstStyle/>
                    <a:p>
                      <a:pPr indent="0" marL="0">
                        <a:buNone/>
                      </a:pPr>
                      <a:r>
                        <a:rPr lang="en-US" sz="1200" b="1" dirty="0">
                          <a:solidFill>
                            <a:srgbClr val="33424F"/>
                          </a:solidFill>
                        </a:rPr>
                        <a:t>Gain check (G)</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Parent output reconstructed exactly; max gain-view difference 0.048</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57B"/>
                          </a:solidFill>
                        </a:rPr>
                        <a:t>PASS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3F3F1"/>
                    </a:solidFill>
                  </a:tcPr>
                </a:tc>
              </a:tr>
              <a:tr h="566928">
                <a:tc>
                  <a:txBody>
                    <a:bodyPr/>
                    <a:lstStyle/>
                    <a:p>
                      <a:pPr indent="0" marL="0">
                        <a:buNone/>
                      </a:pPr>
                      <a:r>
                        <a:rPr lang="en-US" sz="1200" b="1" dirty="0">
                          <a:solidFill>
                            <a:srgbClr val="33424F"/>
                          </a:solidFill>
                        </a:rPr>
                        <a:t>Final candidate</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200" dirty="0">
                          <a:solidFill>
                            <a:srgbClr val="33424F"/>
                          </a:solidFill>
                        </a:rPr>
                        <a:t>Reproduction and candidate check; CSV hash f0ceb6ae…fa48d729</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57B"/>
                          </a:solidFill>
                        </a:rPr>
                        <a:t>PASS</a:t>
                      </a:r>
                      <a:endParaRPr lang="en-US" sz="1200" dirty="0"/>
                    </a:p>
                  </a:txBody>
                  <a:tcPr marL="91440" marR="91440"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E3F3F1"/>
                    </a:solidFill>
                  </a:tcPr>
                </a:tc>
              </a:tr>
            </a:tbl>
          </a:graphicData>
        </a:graphic>
      </p:graphicFrame>
      <p:sp>
        <p:nvSpPr>
          <p:cNvPr id="5" name="card-341"/>
          <p:cNvSpPr/>
          <p:nvPr/>
        </p:nvSpPr>
        <p:spPr>
          <a:xfrm>
            <a:off x="8412480" y="1554480"/>
            <a:ext cx="3227832" cy="1280160"/>
          </a:xfrm>
          <a:prstGeom prst="roundRect">
            <a:avLst>
              <a:gd name="adj" fmla="val 8571"/>
            </a:avLst>
          </a:prstGeom>
          <a:solidFill>
            <a:schemeClr val="bg2"/>
          </a:solidFill>
          <a:ln/>
        </p:spPr>
      </p:sp>
      <p:sp>
        <p:nvSpPr>
          <p:cNvPr id="6" name="text-342"/>
          <p:cNvSpPr txBox="1"/>
          <p:nvPr/>
        </p:nvSpPr>
        <p:spPr>
          <a:xfrm>
            <a:off x="8686800" y="1691640"/>
            <a:ext cx="27432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20 / 20</a:t>
            </a:r>
            <a:endParaRPr lang="en-US" sz="3400" dirty="0"/>
          </a:p>
        </p:txBody>
      </p:sp>
      <p:sp>
        <p:nvSpPr>
          <p:cNvPr id="7" name="text-343"/>
          <p:cNvSpPr txBox="1"/>
          <p:nvPr/>
        </p:nvSpPr>
        <p:spPr>
          <a:xfrm>
            <a:off x="8686800" y="2331720"/>
            <a:ext cx="2743200" cy="365760"/>
          </a:xfrm>
          <a:prstGeom prst="rect">
            <a:avLst/>
          </a:prstGeom>
          <a:noFill/>
          <a:ln/>
        </p:spPr>
        <p:txBody>
          <a:bodyPr wrap="square" lIns="0" tIns="0" rIns="0" bIns="0" rtlCol="0" anchor="t"/>
          <a:lstStyle/>
          <a:p>
            <a:pPr indent="0" marL="0">
              <a:buNone/>
            </a:pPr>
            <a:r>
              <a:rPr lang="en-US" sz="1400" dirty="0">
                <a:solidFill>
                  <a:schemeClr val="accent5"/>
                </a:solidFill>
              </a:rPr>
              <a:t>DINO members matched</a:t>
            </a:r>
            <a:endParaRPr lang="en-US" sz="1400" dirty="0"/>
          </a:p>
        </p:txBody>
      </p:sp>
      <p:sp>
        <p:nvSpPr>
          <p:cNvPr id="8" name="card-344"/>
          <p:cNvSpPr/>
          <p:nvPr/>
        </p:nvSpPr>
        <p:spPr>
          <a:xfrm>
            <a:off x="8412480" y="2971800"/>
            <a:ext cx="3227832" cy="1280160"/>
          </a:xfrm>
          <a:prstGeom prst="roundRect">
            <a:avLst>
              <a:gd name="adj" fmla="val 8571"/>
            </a:avLst>
          </a:prstGeom>
          <a:solidFill>
            <a:schemeClr val="bg2"/>
          </a:solidFill>
          <a:ln/>
        </p:spPr>
      </p:sp>
      <p:sp>
        <p:nvSpPr>
          <p:cNvPr id="9" name="text-345"/>
          <p:cNvSpPr txBox="1"/>
          <p:nvPr/>
        </p:nvSpPr>
        <p:spPr>
          <a:xfrm>
            <a:off x="8686800" y="3108960"/>
            <a:ext cx="27432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≈100 s</a:t>
            </a:r>
            <a:endParaRPr lang="en-US" sz="3400" dirty="0"/>
          </a:p>
        </p:txBody>
      </p:sp>
      <p:sp>
        <p:nvSpPr>
          <p:cNvPr id="10" name="text-346"/>
          <p:cNvSpPr txBox="1"/>
          <p:nvPr/>
        </p:nvSpPr>
        <p:spPr>
          <a:xfrm>
            <a:off x="8686800" y="3749040"/>
            <a:ext cx="2743200" cy="365760"/>
          </a:xfrm>
          <a:prstGeom prst="rect">
            <a:avLst/>
          </a:prstGeom>
          <a:noFill/>
          <a:ln/>
        </p:spPr>
        <p:txBody>
          <a:bodyPr wrap="square" lIns="0" tIns="0" rIns="0" bIns="0" rtlCol="0" anchor="t"/>
          <a:lstStyle/>
          <a:p>
            <a:pPr indent="0" marL="0">
              <a:buNone/>
            </a:pPr>
            <a:r>
              <a:rPr lang="en-US" sz="1400" dirty="0">
                <a:solidFill>
                  <a:schemeClr val="accent5"/>
                </a:solidFill>
              </a:rPr>
              <a:t>3-study run, end to end</a:t>
            </a:r>
            <a:endParaRPr lang="en-US" sz="1400" dirty="0"/>
          </a:p>
        </p:txBody>
      </p:sp>
      <p:sp>
        <p:nvSpPr>
          <p:cNvPr id="11" name="card-347"/>
          <p:cNvSpPr/>
          <p:nvPr/>
        </p:nvSpPr>
        <p:spPr>
          <a:xfrm>
            <a:off x="8412480" y="4389120"/>
            <a:ext cx="3227832" cy="1280160"/>
          </a:xfrm>
          <a:prstGeom prst="roundRect">
            <a:avLst>
              <a:gd name="adj" fmla="val 8571"/>
            </a:avLst>
          </a:prstGeom>
          <a:solidFill>
            <a:schemeClr val="bg2"/>
          </a:solidFill>
          <a:ln/>
        </p:spPr>
      </p:sp>
      <p:sp>
        <p:nvSpPr>
          <p:cNvPr id="12" name="text-348"/>
          <p:cNvSpPr txBox="1"/>
          <p:nvPr/>
        </p:nvSpPr>
        <p:spPr>
          <a:xfrm>
            <a:off x="8686800" y="4526280"/>
            <a:ext cx="27432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PASS</a:t>
            </a:r>
            <a:endParaRPr lang="en-US" sz="3400" dirty="0"/>
          </a:p>
        </p:txBody>
      </p:sp>
      <p:sp>
        <p:nvSpPr>
          <p:cNvPr id="13" name="text-349"/>
          <p:cNvSpPr txBox="1"/>
          <p:nvPr/>
        </p:nvSpPr>
        <p:spPr>
          <a:xfrm>
            <a:off x="8686800" y="5166360"/>
            <a:ext cx="2743200" cy="365760"/>
          </a:xfrm>
          <a:prstGeom prst="rect">
            <a:avLst/>
          </a:prstGeom>
          <a:noFill/>
          <a:ln/>
        </p:spPr>
        <p:txBody>
          <a:bodyPr wrap="square" lIns="0" tIns="0" rIns="0" bIns="0" rtlCol="0" anchor="t"/>
          <a:lstStyle/>
          <a:p>
            <a:pPr indent="0" marL="0">
              <a:buNone/>
            </a:pPr>
            <a:r>
              <a:rPr lang="en-US" sz="1400" dirty="0">
                <a:solidFill>
                  <a:schemeClr val="accent5"/>
                </a:solidFill>
              </a:rPr>
              <a:t>final candidate check</a:t>
            </a:r>
            <a:endParaRPr lang="en-US" sz="1400" dirty="0"/>
          </a:p>
        </p:txBody>
      </p:sp>
      <p:sp>
        <p:nvSpPr>
          <p:cNvPr id="14" name="text-350"/>
          <p:cNvSpPr txBox="1"/>
          <p:nvPr/>
        </p:nvSpPr>
        <p:spPr>
          <a:xfrm>
            <a:off x="548640" y="5715000"/>
            <a:ext cx="7589520" cy="365760"/>
          </a:xfrm>
          <a:prstGeom prst="rect">
            <a:avLst/>
          </a:prstGeom>
          <a:noFill/>
          <a:ln/>
        </p:spPr>
        <p:txBody>
          <a:bodyPr wrap="square" lIns="0" tIns="0" rIns="0" bIns="0" rtlCol="0" anchor="t"/>
          <a:lstStyle/>
          <a:p>
            <a:pPr indent="0" marL="0">
              <a:buNone/>
            </a:pPr>
            <a:r>
              <a:rPr lang="en-US" sz="1300" dirty="0">
                <a:solidFill>
                  <a:schemeClr val="accent5"/>
                </a:solidFill>
              </a:rPr>
              <a:t>These checks show that the pipeline runs correctly and writes a valid file. They do not measure AUC.</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RESULTS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Leaderboard results</a:t>
            </a:r>
            <a:endParaRPr lang="en-US" sz="3400" dirty="0"/>
          </a:p>
        </p:txBody>
      </p:sp>
      <p:sp>
        <p:nvSpPr>
          <p:cNvPr id="4" name="card-351"/>
          <p:cNvSpPr/>
          <p:nvPr/>
        </p:nvSpPr>
        <p:spPr>
          <a:xfrm>
            <a:off x="548640" y="1554480"/>
            <a:ext cx="4206240" cy="4526280"/>
          </a:xfrm>
          <a:prstGeom prst="roundRect">
            <a:avLst>
              <a:gd name="adj" fmla="val 2609"/>
            </a:avLst>
          </a:prstGeom>
          <a:solidFill>
            <a:schemeClr val="bg2"/>
          </a:solidFill>
          <a:ln/>
        </p:spPr>
      </p:sp>
      <p:sp>
        <p:nvSpPr>
          <p:cNvPr id="5" name="text-352"/>
          <p:cNvSpPr txBox="1"/>
          <p:nvPr/>
        </p:nvSpPr>
        <p:spPr>
          <a:xfrm>
            <a:off x="914400" y="1783080"/>
            <a:ext cx="347472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OUR TWO GRADED SUBMISSIONS</a:t>
            </a:r>
            <a:endParaRPr lang="en-US" sz="1100" dirty="0"/>
          </a:p>
        </p:txBody>
      </p:sp>
      <p:sp>
        <p:nvSpPr>
          <p:cNvPr id="6" name="text-353"/>
          <p:cNvSpPr txBox="1"/>
          <p:nvPr/>
        </p:nvSpPr>
        <p:spPr>
          <a:xfrm>
            <a:off x="914400" y="2148840"/>
            <a:ext cx="3474720" cy="1005840"/>
          </a:xfrm>
          <a:prstGeom prst="rect">
            <a:avLst/>
          </a:prstGeom>
          <a:noFill/>
          <a:ln/>
        </p:spPr>
        <p:txBody>
          <a:bodyPr wrap="square" lIns="0" tIns="0" rIns="0" bIns="0" rtlCol="0" anchor="t"/>
          <a:lstStyle/>
          <a:p>
            <a:pPr indent="0" marL="0">
              <a:buNone/>
            </a:pPr>
            <a:r>
              <a:rPr lang="en-US" sz="6400" b="1" dirty="0">
                <a:solidFill>
                  <a:schemeClr val="accent1"/>
                </a:solidFill>
                <a:latin typeface="Cambria" pitchFamily="34" charset="0"/>
                <a:ea typeface="Cambria" pitchFamily="34" charset="-122"/>
                <a:cs typeface="Cambria" pitchFamily="34" charset="-120"/>
              </a:rPr>
              <a:t>0.940</a:t>
            </a:r>
            <a:endParaRPr lang="en-US" sz="6400" dirty="0"/>
          </a:p>
        </p:txBody>
      </p:sp>
      <p:sp>
        <p:nvSpPr>
          <p:cNvPr id="7" name="text-354"/>
          <p:cNvSpPr txBox="1"/>
          <p:nvPr/>
        </p:nvSpPr>
        <p:spPr>
          <a:xfrm>
            <a:off x="914400" y="3154680"/>
            <a:ext cx="3474720" cy="365760"/>
          </a:xfrm>
          <a:prstGeom prst="rect">
            <a:avLst/>
          </a:prstGeom>
          <a:noFill/>
          <a:ln/>
        </p:spPr>
        <p:txBody>
          <a:bodyPr wrap="square" lIns="0" tIns="0" rIns="0" bIns="0" rtlCol="0" anchor="t"/>
          <a:lstStyle/>
          <a:p>
            <a:pPr indent="0" marL="0">
              <a:buNone/>
            </a:pPr>
            <a:r>
              <a:rPr lang="en-US" sz="1500" dirty="0">
                <a:solidFill>
                  <a:schemeClr val="tx2"/>
                </a:solidFill>
              </a:rPr>
              <a:t>submission 1: parent recipe (V17)</a:t>
            </a:r>
            <a:endParaRPr lang="en-US" sz="1500" dirty="0"/>
          </a:p>
        </p:txBody>
      </p:sp>
      <p:sp>
        <p:nvSpPr>
          <p:cNvPr id="8" name="text-355"/>
          <p:cNvSpPr txBox="1"/>
          <p:nvPr/>
        </p:nvSpPr>
        <p:spPr>
          <a:xfrm>
            <a:off x="914400" y="3749040"/>
            <a:ext cx="3474720" cy="1005840"/>
          </a:xfrm>
          <a:prstGeom prst="rect">
            <a:avLst/>
          </a:prstGeom>
          <a:noFill/>
          <a:ln/>
        </p:spPr>
        <p:txBody>
          <a:bodyPr wrap="square" lIns="0" tIns="0" rIns="0" bIns="0" rtlCol="0" anchor="t"/>
          <a:lstStyle/>
          <a:p>
            <a:pPr indent="0" marL="0">
              <a:buNone/>
            </a:pPr>
            <a:r>
              <a:rPr lang="en-US" sz="6400" b="1" dirty="0">
                <a:solidFill>
                  <a:schemeClr val="accent4"/>
                </a:solidFill>
                <a:latin typeface="Cambria" pitchFamily="34" charset="0"/>
                <a:ea typeface="Cambria" pitchFamily="34" charset="-122"/>
                <a:cs typeface="Cambria" pitchFamily="34" charset="-120"/>
              </a:rPr>
              <a:t>0.922</a:t>
            </a:r>
            <a:endParaRPr lang="en-US" sz="6400" dirty="0"/>
          </a:p>
        </p:txBody>
      </p:sp>
      <p:sp>
        <p:nvSpPr>
          <p:cNvPr id="9" name="text-356"/>
          <p:cNvSpPr txBox="1"/>
          <p:nvPr/>
        </p:nvSpPr>
        <p:spPr>
          <a:xfrm>
            <a:off x="914400" y="4754880"/>
            <a:ext cx="3474720" cy="365760"/>
          </a:xfrm>
          <a:prstGeom prst="rect">
            <a:avLst/>
          </a:prstGeom>
          <a:noFill/>
          <a:ln/>
        </p:spPr>
        <p:txBody>
          <a:bodyPr wrap="square" lIns="0" tIns="0" rIns="0" bIns="0" rtlCol="0" anchor="t"/>
          <a:lstStyle/>
          <a:p>
            <a:pPr indent="0" marL="0">
              <a:buNone/>
            </a:pPr>
            <a:r>
              <a:rPr lang="en-US" sz="1500" dirty="0">
                <a:solidFill>
                  <a:schemeClr val="tx2"/>
                </a:solidFill>
              </a:rPr>
              <a:t>submission 2: ABG</a:t>
            </a:r>
            <a:endParaRPr lang="en-US" sz="1500" dirty="0"/>
          </a:p>
        </p:txBody>
      </p:sp>
      <p:sp>
        <p:nvSpPr>
          <p:cNvPr id="10" name="text-357"/>
          <p:cNvSpPr txBox="1"/>
          <p:nvPr/>
        </p:nvSpPr>
        <p:spPr>
          <a:xfrm>
            <a:off x="914400" y="5257800"/>
            <a:ext cx="3474720" cy="731520"/>
          </a:xfrm>
          <a:prstGeom prst="rect">
            <a:avLst/>
          </a:prstGeom>
          <a:noFill/>
          <a:ln/>
        </p:spPr>
        <p:txBody>
          <a:bodyPr wrap="square" lIns="0" tIns="0" rIns="0" bIns="0" rtlCol="0" anchor="t"/>
          <a:lstStyle/>
          <a:p>
            <a:pPr indent="0" marL="0">
              <a:buNone/>
            </a:pPr>
            <a:r>
              <a:rPr lang="en-US" sz="1200" dirty="0">
                <a:solidFill>
                  <a:schemeClr val="accent5"/>
                </a:solidFill>
              </a:rPr>
              <a:t>Public leaderboard, mean AUC over 12 findings; Kaggle re-runs the full notebook on the hidden test set.</a:t>
            </a:r>
            <a:endParaRPr lang="en-US" sz="1200" dirty="0"/>
          </a:p>
        </p:txBody>
      </p:sp>
      <p:graphicFrame>
        <p:nvGraphicFramePr>
          <p:cNvPr id="11" name="leaderboard-chart" descr=""/>
          <p:cNvGraphicFramePr/>
          <p:nvPr/>
        </p:nvGraphicFramePr>
        <p:xfrm>
          <a:off x="4983480" y="1554480"/>
          <a:ext cx="6656832" cy="3931920"/>
        </p:xfrm>
        <a:graphic xmlns:a="http://schemas.openxmlformats.org/drawingml/2006/main">
          <a:graphicData uri="http://schemas.openxmlformats.org/drawingml/2006/chart">
            <c:chart xmlns:c="http://schemas.openxmlformats.org/drawingml/2006/chart" r:id="rId1"/>
          </a:graphicData>
        </a:graphic>
      </p:graphicFrame>
      <p:sp>
        <p:nvSpPr>
          <p:cNvPr id="12" name="text-358"/>
          <p:cNvSpPr txBox="1"/>
          <p:nvPr/>
        </p:nvSpPr>
        <p:spPr>
          <a:xfrm>
            <a:off x="4983480" y="5577840"/>
            <a:ext cx="6656832" cy="502920"/>
          </a:xfrm>
          <a:prstGeom prst="rect">
            <a:avLst/>
          </a:prstGeom>
          <a:noFill/>
          <a:ln/>
        </p:spPr>
        <p:txBody>
          <a:bodyPr wrap="square" lIns="0" tIns="0" rIns="0" bIns="0" rtlCol="0" anchor="t"/>
          <a:lstStyle/>
          <a:p>
            <a:pPr indent="0" marL="0">
              <a:buNone/>
            </a:pPr>
            <a:r>
              <a:rPr lang="en-US" sz="1100" dirty="0">
                <a:solidFill>
                  <a:schemeClr val="accent5"/>
                </a:solidFill>
              </a:rPr>
              <a:t>Sources: our graded submissions; mid-Aug 2026 values from the Kaggle discussion forum (≈0.92 and ≈0.951), now out of date.</a:t>
            </a:r>
            <a:endParaRPr lang="en-US" sz="11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RESULTS</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Reading the two scores honestly</a:t>
            </a:r>
            <a:endParaRPr lang="en-US" sz="3400" dirty="0"/>
          </a:p>
        </p:txBody>
      </p:sp>
      <p:sp>
        <p:nvSpPr>
          <p:cNvPr id="4" name="card-359"/>
          <p:cNvSpPr/>
          <p:nvPr/>
        </p:nvSpPr>
        <p:spPr>
          <a:xfrm>
            <a:off x="548640" y="1554480"/>
            <a:ext cx="5943600" cy="1417320"/>
          </a:xfrm>
          <a:prstGeom prst="roundRect">
            <a:avLst>
              <a:gd name="adj" fmla="val 7742"/>
            </a:avLst>
          </a:prstGeom>
          <a:solidFill>
            <a:schemeClr val="bg2"/>
          </a:solidFill>
          <a:ln/>
        </p:spPr>
      </p:sp>
      <p:sp>
        <p:nvSpPr>
          <p:cNvPr id="5" name="badge-360"/>
          <p:cNvSpPr/>
          <p:nvPr/>
        </p:nvSpPr>
        <p:spPr>
          <a:xfrm>
            <a:off x="822960" y="1920240"/>
            <a:ext cx="640080" cy="640080"/>
          </a:xfrm>
          <a:prstGeom prst="ellipse">
            <a:avLst/>
          </a:prstGeom>
          <a:solidFill>
            <a:schemeClr val="accent3"/>
          </a:solidFill>
          <a:ln/>
        </p:spPr>
      </p:sp>
      <p:pic>
        <p:nvPicPr>
          <p:cNvPr id="6" name="icon-361" descr="preencoded.png">    </p:cNvPr>
          <p:cNvPicPr>
            <a:picLocks noChangeAspect="1"/>
          </p:cNvPicPr>
          <p:nvPr/>
        </p:nvPicPr>
        <p:blipFill>
          <a:blip r:embed="rId1"/>
          <a:stretch>
            <a:fillRect/>
          </a:stretch>
        </p:blipFill>
        <p:spPr>
          <a:xfrm>
            <a:off x="989381" y="2086661"/>
            <a:ext cx="307238" cy="307238"/>
          </a:xfrm>
          <a:prstGeom prst="rect">
            <a:avLst/>
          </a:prstGeom>
        </p:spPr>
      </p:pic>
      <p:sp>
        <p:nvSpPr>
          <p:cNvPr id="7" name="text-362"/>
          <p:cNvSpPr txBox="1"/>
          <p:nvPr/>
        </p:nvSpPr>
        <p:spPr>
          <a:xfrm>
            <a:off x="1691640" y="1737360"/>
            <a:ext cx="4572000" cy="320040"/>
          </a:xfrm>
          <a:prstGeom prst="rect">
            <a:avLst/>
          </a:prstGeom>
          <a:noFill/>
          <a:ln/>
        </p:spPr>
        <p:txBody>
          <a:bodyPr wrap="square" lIns="0" tIns="0" rIns="0" bIns="0" rtlCol="0" anchor="t"/>
          <a:lstStyle/>
          <a:p>
            <a:pPr indent="0" marL="0">
              <a:buNone/>
            </a:pPr>
            <a:r>
              <a:rPr lang="en-US" sz="1700" b="1" dirty="0">
                <a:solidFill>
                  <a:schemeClr val="tx1"/>
                </a:solidFill>
              </a:rPr>
              <a:t>Below the parent</a:t>
            </a:r>
            <a:endParaRPr lang="en-US" sz="1700" dirty="0"/>
          </a:p>
        </p:txBody>
      </p:sp>
      <p:sp>
        <p:nvSpPr>
          <p:cNvPr id="8" name="text-363"/>
          <p:cNvSpPr txBox="1"/>
          <p:nvPr/>
        </p:nvSpPr>
        <p:spPr>
          <a:xfrm>
            <a:off x="1691640" y="2103120"/>
            <a:ext cx="4572000" cy="822960"/>
          </a:xfrm>
          <a:prstGeom prst="rect">
            <a:avLst/>
          </a:prstGeom>
          <a:noFill/>
          <a:ln/>
        </p:spPr>
        <p:txBody>
          <a:bodyPr wrap="square" lIns="0" tIns="0" rIns="0" bIns="0" rtlCol="0" anchor="t"/>
          <a:lstStyle/>
          <a:p>
            <a:pPr indent="0" marL="0">
              <a:buNone/>
            </a:pPr>
            <a:r>
              <a:rPr lang="en-US" sz="1300" dirty="0">
                <a:solidFill>
                  <a:schemeClr val="tx2"/>
                </a:solidFill>
              </a:rPr>
              <a:t>ABG scored 0.922, 0.018 under our parent submission at 0.940, so the three additions did not help on the public leaderboard.</a:t>
            </a:r>
            <a:endParaRPr lang="en-US" sz="1300" dirty="0"/>
          </a:p>
        </p:txBody>
      </p:sp>
      <p:sp>
        <p:nvSpPr>
          <p:cNvPr id="9" name="card-364"/>
          <p:cNvSpPr/>
          <p:nvPr/>
        </p:nvSpPr>
        <p:spPr>
          <a:xfrm>
            <a:off x="548640" y="3108960"/>
            <a:ext cx="5943600" cy="1417320"/>
          </a:xfrm>
          <a:prstGeom prst="roundRect">
            <a:avLst>
              <a:gd name="adj" fmla="val 7742"/>
            </a:avLst>
          </a:prstGeom>
          <a:solidFill>
            <a:schemeClr val="bg2"/>
          </a:solidFill>
          <a:ln/>
        </p:spPr>
      </p:sp>
      <p:sp>
        <p:nvSpPr>
          <p:cNvPr id="10" name="badge-365"/>
          <p:cNvSpPr/>
          <p:nvPr/>
        </p:nvSpPr>
        <p:spPr>
          <a:xfrm>
            <a:off x="822960" y="3474720"/>
            <a:ext cx="640080" cy="640080"/>
          </a:xfrm>
          <a:prstGeom prst="ellipse">
            <a:avLst/>
          </a:prstGeom>
          <a:solidFill>
            <a:schemeClr val="accent4"/>
          </a:solidFill>
          <a:ln/>
        </p:spPr>
      </p:sp>
      <p:pic>
        <p:nvPicPr>
          <p:cNvPr id="11" name="icon-366" descr="preencoded.png">    </p:cNvPr>
          <p:cNvPicPr>
            <a:picLocks noChangeAspect="1"/>
          </p:cNvPicPr>
          <p:nvPr/>
        </p:nvPicPr>
        <p:blipFill>
          <a:blip r:embed="rId2"/>
          <a:stretch>
            <a:fillRect/>
          </a:stretch>
        </p:blipFill>
        <p:spPr>
          <a:xfrm>
            <a:off x="989381" y="3641141"/>
            <a:ext cx="307238" cy="307238"/>
          </a:xfrm>
          <a:prstGeom prst="rect">
            <a:avLst/>
          </a:prstGeom>
        </p:spPr>
      </p:pic>
      <p:sp>
        <p:nvSpPr>
          <p:cNvPr id="12" name="text-367"/>
          <p:cNvSpPr txBox="1"/>
          <p:nvPr/>
        </p:nvSpPr>
        <p:spPr>
          <a:xfrm>
            <a:off x="1691640" y="3291840"/>
            <a:ext cx="4572000" cy="320040"/>
          </a:xfrm>
          <a:prstGeom prst="rect">
            <a:avLst/>
          </a:prstGeom>
          <a:noFill/>
          <a:ln/>
        </p:spPr>
        <p:txBody>
          <a:bodyPr wrap="square" lIns="0" tIns="0" rIns="0" bIns="0" rtlCol="0" anchor="t"/>
          <a:lstStyle/>
          <a:p>
            <a:pPr indent="0" marL="0">
              <a:buNone/>
            </a:pPr>
            <a:r>
              <a:rPr lang="en-US" sz="1700" b="1" dirty="0">
                <a:solidFill>
                  <a:schemeClr val="tx1"/>
                </a:solidFill>
              </a:rPr>
              <a:t>Cause not isolated</a:t>
            </a:r>
            <a:endParaRPr lang="en-US" sz="1700" dirty="0"/>
          </a:p>
        </p:txBody>
      </p:sp>
      <p:sp>
        <p:nvSpPr>
          <p:cNvPr id="13" name="text-368"/>
          <p:cNvSpPr txBox="1"/>
          <p:nvPr/>
        </p:nvSpPr>
        <p:spPr>
          <a:xfrm>
            <a:off x="1691640" y="3657600"/>
            <a:ext cx="4572000" cy="822960"/>
          </a:xfrm>
          <a:prstGeom prst="rect">
            <a:avLst/>
          </a:prstGeom>
          <a:noFill/>
          <a:ln/>
        </p:spPr>
        <p:txBody>
          <a:bodyPr wrap="square" lIns="0" tIns="0" rIns="0" bIns="0" rtlCol="0" anchor="t"/>
          <a:lstStyle/>
          <a:p>
            <a:pPr indent="0" marL="0">
              <a:buNone/>
            </a:pPr>
            <a:r>
              <a:rPr lang="en-US" sz="1300" dirty="0">
                <a:solidFill>
                  <a:schemeClr val="tx2"/>
                </a:solidFill>
              </a:rPr>
              <a:t>A, B and G were graded only together. In simulation a clearly worse residual costs ≈0.006 at the inherited scale, so a 0.018 gap needs the single-addition runs to explain.</a:t>
            </a:r>
            <a:endParaRPr lang="en-US" sz="1300" dirty="0"/>
          </a:p>
        </p:txBody>
      </p:sp>
      <p:sp>
        <p:nvSpPr>
          <p:cNvPr id="14" name="card-369"/>
          <p:cNvSpPr/>
          <p:nvPr/>
        </p:nvSpPr>
        <p:spPr>
          <a:xfrm>
            <a:off x="548640" y="4663440"/>
            <a:ext cx="5943600" cy="1417320"/>
          </a:xfrm>
          <a:prstGeom prst="roundRect">
            <a:avLst>
              <a:gd name="adj" fmla="val 7742"/>
            </a:avLst>
          </a:prstGeom>
          <a:solidFill>
            <a:schemeClr val="bg2"/>
          </a:solidFill>
          <a:ln/>
        </p:spPr>
      </p:sp>
      <p:sp>
        <p:nvSpPr>
          <p:cNvPr id="15" name="badge-370"/>
          <p:cNvSpPr/>
          <p:nvPr/>
        </p:nvSpPr>
        <p:spPr>
          <a:xfrm>
            <a:off x="822960" y="5029200"/>
            <a:ext cx="640080" cy="640080"/>
          </a:xfrm>
          <a:prstGeom prst="ellipse">
            <a:avLst/>
          </a:prstGeom>
          <a:solidFill>
            <a:schemeClr val="accent1"/>
          </a:solidFill>
          <a:ln/>
        </p:spPr>
      </p:sp>
      <p:pic>
        <p:nvPicPr>
          <p:cNvPr id="16" name="icon-371" descr="preencoded.png">    </p:cNvPr>
          <p:cNvPicPr>
            <a:picLocks noChangeAspect="1"/>
          </p:cNvPicPr>
          <p:nvPr/>
        </p:nvPicPr>
        <p:blipFill>
          <a:blip r:embed="rId3"/>
          <a:stretch>
            <a:fillRect/>
          </a:stretch>
        </p:blipFill>
        <p:spPr>
          <a:xfrm>
            <a:off x="989381" y="5195621"/>
            <a:ext cx="307238" cy="307238"/>
          </a:xfrm>
          <a:prstGeom prst="rect">
            <a:avLst/>
          </a:prstGeom>
        </p:spPr>
      </p:pic>
      <p:sp>
        <p:nvSpPr>
          <p:cNvPr id="17" name="text-372"/>
          <p:cNvSpPr txBox="1"/>
          <p:nvPr/>
        </p:nvSpPr>
        <p:spPr>
          <a:xfrm>
            <a:off x="1691640" y="4846320"/>
            <a:ext cx="4572000" cy="320040"/>
          </a:xfrm>
          <a:prstGeom prst="rect">
            <a:avLst/>
          </a:prstGeom>
          <a:noFill/>
          <a:ln/>
        </p:spPr>
        <p:txBody>
          <a:bodyPr wrap="square" lIns="0" tIns="0" rIns="0" bIns="0" rtlCol="0" anchor="t"/>
          <a:lstStyle/>
          <a:p>
            <a:pPr indent="0" marL="0">
              <a:buNone/>
            </a:pPr>
            <a:r>
              <a:rPr lang="en-US" sz="1700" b="1" dirty="0">
                <a:solidFill>
                  <a:schemeClr val="tx1"/>
                </a:solidFill>
              </a:rPr>
              <a:t>No tuning to the result</a:t>
            </a:r>
            <a:endParaRPr lang="en-US" sz="1700" dirty="0"/>
          </a:p>
        </p:txBody>
      </p:sp>
      <p:sp>
        <p:nvSpPr>
          <p:cNvPr id="18" name="text-373"/>
          <p:cNvSpPr txBox="1"/>
          <p:nvPr/>
        </p:nvSpPr>
        <p:spPr>
          <a:xfrm>
            <a:off x="1691640" y="5212080"/>
            <a:ext cx="4572000" cy="822960"/>
          </a:xfrm>
          <a:prstGeom prst="rect">
            <a:avLst/>
          </a:prstGeom>
          <a:noFill/>
          <a:ln/>
        </p:spPr>
        <p:txBody>
          <a:bodyPr wrap="square" lIns="0" tIns="0" rIns="0" bIns="0" rtlCol="0" anchor="t"/>
          <a:lstStyle/>
          <a:p>
            <a:pPr indent="0" marL="0">
              <a:buNone/>
            </a:pPr>
            <a:r>
              <a:rPr lang="en-US" sz="1300" dirty="0">
                <a:solidFill>
                  <a:schemeClr val="tx2"/>
                </a:solidFill>
              </a:rPr>
              <a:t>Residual scales are inherited, not fitted, and the batch was fixed in advance, so we report the outcome as it came.</a:t>
            </a:r>
            <a:endParaRPr lang="en-US" sz="1300" dirty="0"/>
          </a:p>
        </p:txBody>
      </p:sp>
      <p:graphicFrame>
        <p:nvGraphicFramePr>
          <p:cNvPr id="19" name="sensitivity-chart" descr=""/>
          <p:cNvGraphicFramePr/>
          <p:nvPr/>
        </p:nvGraphicFramePr>
        <p:xfrm>
          <a:off x="6675120" y="1554480"/>
          <a:ext cx="4965192" cy="3840480"/>
        </p:xfrm>
        <a:graphic xmlns:a="http://schemas.openxmlformats.org/drawingml/2006/main">
          <a:graphicData uri="http://schemas.openxmlformats.org/drawingml/2006/chart">
            <c:chart xmlns:c="http://schemas.openxmlformats.org/drawingml/2006/chart" r:id="rId4"/>
          </a:graphicData>
        </a:graphic>
      </p:graphicFrame>
      <p:sp>
        <p:nvSpPr>
          <p:cNvPr id="20" name="text-374"/>
          <p:cNvSpPr txBox="1"/>
          <p:nvPr/>
        </p:nvSpPr>
        <p:spPr>
          <a:xfrm>
            <a:off x="6675120" y="5486400"/>
            <a:ext cx="4965192" cy="548640"/>
          </a:xfrm>
          <a:prstGeom prst="rect">
            <a:avLst/>
          </a:prstGeom>
          <a:noFill/>
          <a:ln/>
        </p:spPr>
        <p:txBody>
          <a:bodyPr wrap="square" lIns="0" tIns="0" rIns="0" bIns="0" rtlCol="0" anchor="t"/>
          <a:lstStyle/>
          <a:p>
            <a:pPr indent="0" marL="0">
              <a:buNone/>
            </a:pPr>
            <a:r>
              <a:rPr lang="en-US" sz="1200" dirty="0">
                <a:solidFill>
                  <a:schemeClr val="accent5"/>
                </a:solidFill>
              </a:rPr>
              <a:t>Macro AUC is a mean of 12, so each target counts 1/12: +0.001 overall needs +0.012 summed over targets.</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CONCLUSION</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Limitations and responsible use</a:t>
            </a:r>
            <a:endParaRPr lang="en-US" sz="3400" dirty="0"/>
          </a:p>
        </p:txBody>
      </p:sp>
      <p:sp>
        <p:nvSpPr>
          <p:cNvPr id="4" name="card-375"/>
          <p:cNvSpPr/>
          <p:nvPr/>
        </p:nvSpPr>
        <p:spPr>
          <a:xfrm>
            <a:off x="548640" y="1554480"/>
            <a:ext cx="5458968" cy="2103120"/>
          </a:xfrm>
          <a:prstGeom prst="roundRect">
            <a:avLst>
              <a:gd name="adj" fmla="val 5217"/>
            </a:avLst>
          </a:prstGeom>
          <a:solidFill>
            <a:schemeClr val="bg2"/>
          </a:solidFill>
          <a:ln/>
        </p:spPr>
      </p:sp>
      <p:sp>
        <p:nvSpPr>
          <p:cNvPr id="5" name="badge-376"/>
          <p:cNvSpPr/>
          <p:nvPr/>
        </p:nvSpPr>
        <p:spPr>
          <a:xfrm>
            <a:off x="822960" y="1828800"/>
            <a:ext cx="640080" cy="640080"/>
          </a:xfrm>
          <a:prstGeom prst="ellipse">
            <a:avLst/>
          </a:prstGeom>
          <a:solidFill>
            <a:schemeClr val="accent5"/>
          </a:solidFill>
          <a:ln/>
        </p:spPr>
      </p:sp>
      <p:pic>
        <p:nvPicPr>
          <p:cNvPr id="6" name="icon-377" descr="preencoded.png">    </p:cNvPr>
          <p:cNvPicPr>
            <a:picLocks noChangeAspect="1"/>
          </p:cNvPicPr>
          <p:nvPr/>
        </p:nvPicPr>
        <p:blipFill>
          <a:blip r:embed="rId1"/>
          <a:stretch>
            <a:fillRect/>
          </a:stretch>
        </p:blipFill>
        <p:spPr>
          <a:xfrm>
            <a:off x="989381" y="1995221"/>
            <a:ext cx="307238" cy="307238"/>
          </a:xfrm>
          <a:prstGeom prst="rect">
            <a:avLst/>
          </a:prstGeom>
        </p:spPr>
      </p:pic>
      <p:sp>
        <p:nvSpPr>
          <p:cNvPr id="7" name="text-378"/>
          <p:cNvSpPr txBox="1"/>
          <p:nvPr/>
        </p:nvSpPr>
        <p:spPr>
          <a:xfrm>
            <a:off x="1691640" y="1874520"/>
            <a:ext cx="4114800" cy="365760"/>
          </a:xfrm>
          <a:prstGeom prst="rect">
            <a:avLst/>
          </a:prstGeom>
          <a:noFill/>
          <a:ln/>
        </p:spPr>
        <p:txBody>
          <a:bodyPr wrap="square" lIns="0" tIns="0" rIns="0" bIns="0" rtlCol="0" anchor="t"/>
          <a:lstStyle/>
          <a:p>
            <a:pPr indent="0" marL="0">
              <a:buNone/>
            </a:pPr>
            <a:r>
              <a:rPr lang="en-US" sz="1800" b="1" dirty="0">
                <a:solidFill>
                  <a:schemeClr val="tx1"/>
                </a:solidFill>
              </a:rPr>
              <a:t>No new training or validation</a:t>
            </a:r>
            <a:endParaRPr lang="en-US" sz="1800" dirty="0"/>
          </a:p>
        </p:txBody>
      </p:sp>
      <p:sp>
        <p:nvSpPr>
          <p:cNvPr id="8" name="text-379"/>
          <p:cNvSpPr txBox="1"/>
          <p:nvPr/>
        </p:nvSpPr>
        <p:spPr>
          <a:xfrm>
            <a:off x="822960" y="2651760"/>
            <a:ext cx="4937760" cy="914400"/>
          </a:xfrm>
          <a:prstGeom prst="rect">
            <a:avLst/>
          </a:prstGeom>
          <a:noFill/>
          <a:ln/>
        </p:spPr>
        <p:txBody>
          <a:bodyPr wrap="square" lIns="0" tIns="0" rIns="0" bIns="0" rtlCol="0" anchor="t"/>
          <a:lstStyle/>
          <a:p>
            <a:pPr indent="0" marL="0">
              <a:buNone/>
            </a:pPr>
            <a:r>
              <a:rPr lang="en-US" sz="1500" dirty="0">
                <a:solidFill>
                  <a:schemeClr val="tx2"/>
                </a:solidFill>
              </a:rPr>
              <a:t>Base models are public releases and no held-out validation was run. The mechanism study uses synthetic data with assumed parameters.</a:t>
            </a:r>
            <a:endParaRPr lang="en-US" sz="1500" dirty="0"/>
          </a:p>
        </p:txBody>
      </p:sp>
      <p:sp>
        <p:nvSpPr>
          <p:cNvPr id="9" name="card-380"/>
          <p:cNvSpPr/>
          <p:nvPr/>
        </p:nvSpPr>
        <p:spPr>
          <a:xfrm>
            <a:off x="6190488" y="1554480"/>
            <a:ext cx="5458968" cy="2103120"/>
          </a:xfrm>
          <a:prstGeom prst="roundRect">
            <a:avLst>
              <a:gd name="adj" fmla="val 5217"/>
            </a:avLst>
          </a:prstGeom>
          <a:solidFill>
            <a:schemeClr val="bg2"/>
          </a:solidFill>
          <a:ln/>
        </p:spPr>
      </p:sp>
      <p:sp>
        <p:nvSpPr>
          <p:cNvPr id="10" name="badge-381"/>
          <p:cNvSpPr/>
          <p:nvPr/>
        </p:nvSpPr>
        <p:spPr>
          <a:xfrm>
            <a:off x="6464808" y="1828800"/>
            <a:ext cx="640080" cy="640080"/>
          </a:xfrm>
          <a:prstGeom prst="ellipse">
            <a:avLst/>
          </a:prstGeom>
          <a:solidFill>
            <a:schemeClr val="accent5"/>
          </a:solidFill>
          <a:ln/>
        </p:spPr>
      </p:sp>
      <p:pic>
        <p:nvPicPr>
          <p:cNvPr id="11" name="icon-382" descr="preencoded.png">    </p:cNvPr>
          <p:cNvPicPr>
            <a:picLocks noChangeAspect="1"/>
          </p:cNvPicPr>
          <p:nvPr/>
        </p:nvPicPr>
        <p:blipFill>
          <a:blip r:embed="rId2"/>
          <a:stretch>
            <a:fillRect/>
          </a:stretch>
        </p:blipFill>
        <p:spPr>
          <a:xfrm>
            <a:off x="6631229" y="1995221"/>
            <a:ext cx="307238" cy="307238"/>
          </a:xfrm>
          <a:prstGeom prst="rect">
            <a:avLst/>
          </a:prstGeom>
        </p:spPr>
      </p:pic>
      <p:sp>
        <p:nvSpPr>
          <p:cNvPr id="12" name="text-383"/>
          <p:cNvSpPr txBox="1"/>
          <p:nvPr/>
        </p:nvSpPr>
        <p:spPr>
          <a:xfrm>
            <a:off x="7333488" y="1874520"/>
            <a:ext cx="4114800" cy="365760"/>
          </a:xfrm>
          <a:prstGeom prst="rect">
            <a:avLst/>
          </a:prstGeom>
          <a:noFill/>
          <a:ln/>
        </p:spPr>
        <p:txBody>
          <a:bodyPr wrap="square" lIns="0" tIns="0" rIns="0" bIns="0" rtlCol="0" anchor="t"/>
          <a:lstStyle/>
          <a:p>
            <a:pPr indent="0" marL="0">
              <a:buNone/>
            </a:pPr>
            <a:r>
              <a:rPr lang="en-US" sz="1800" b="1" dirty="0">
                <a:solidFill>
                  <a:schemeClr val="tx1"/>
                </a:solidFill>
              </a:rPr>
              <a:t>Not clinical evidence</a:t>
            </a:r>
            <a:endParaRPr lang="en-US" sz="1800" dirty="0"/>
          </a:p>
        </p:txBody>
      </p:sp>
      <p:sp>
        <p:nvSpPr>
          <p:cNvPr id="13" name="text-384"/>
          <p:cNvSpPr txBox="1"/>
          <p:nvPr/>
        </p:nvSpPr>
        <p:spPr>
          <a:xfrm>
            <a:off x="6464808" y="2651760"/>
            <a:ext cx="4937760" cy="914400"/>
          </a:xfrm>
          <a:prstGeom prst="rect">
            <a:avLst/>
          </a:prstGeom>
          <a:noFill/>
          <a:ln/>
        </p:spPr>
        <p:txBody>
          <a:bodyPr wrap="square" lIns="0" tIns="0" rIns="0" bIns="0" rtlCol="0" anchor="t"/>
          <a:lstStyle/>
          <a:p>
            <a:pPr indent="0" marL="0">
              <a:buNone/>
            </a:pPr>
            <a:r>
              <a:rPr lang="en-US" sz="1500" dirty="0">
                <a:solidFill>
                  <a:schemeClr val="tx2"/>
                </a:solidFill>
              </a:rPr>
              <a:t>A leaderboard score does not establish performance on other scanners, sites or patients.</a:t>
            </a:r>
            <a:endParaRPr lang="en-US" sz="1500" dirty="0"/>
          </a:p>
        </p:txBody>
      </p:sp>
      <p:sp>
        <p:nvSpPr>
          <p:cNvPr id="14" name="card-385"/>
          <p:cNvSpPr/>
          <p:nvPr/>
        </p:nvSpPr>
        <p:spPr>
          <a:xfrm>
            <a:off x="548640" y="3840480"/>
            <a:ext cx="5458968" cy="2103120"/>
          </a:xfrm>
          <a:prstGeom prst="roundRect">
            <a:avLst>
              <a:gd name="adj" fmla="val 5217"/>
            </a:avLst>
          </a:prstGeom>
          <a:solidFill>
            <a:schemeClr val="bg2"/>
          </a:solidFill>
          <a:ln/>
        </p:spPr>
      </p:sp>
      <p:sp>
        <p:nvSpPr>
          <p:cNvPr id="15" name="badge-386"/>
          <p:cNvSpPr/>
          <p:nvPr/>
        </p:nvSpPr>
        <p:spPr>
          <a:xfrm>
            <a:off x="822960" y="4114800"/>
            <a:ext cx="640080" cy="640080"/>
          </a:xfrm>
          <a:prstGeom prst="ellipse">
            <a:avLst/>
          </a:prstGeom>
          <a:solidFill>
            <a:schemeClr val="accent5"/>
          </a:solidFill>
          <a:ln/>
        </p:spPr>
      </p:sp>
      <p:pic>
        <p:nvPicPr>
          <p:cNvPr id="16" name="icon-387" descr="preencoded.png">    </p:cNvPr>
          <p:cNvPicPr>
            <a:picLocks noChangeAspect="1"/>
          </p:cNvPicPr>
          <p:nvPr/>
        </p:nvPicPr>
        <p:blipFill>
          <a:blip r:embed="rId3"/>
          <a:stretch>
            <a:fillRect/>
          </a:stretch>
        </p:blipFill>
        <p:spPr>
          <a:xfrm>
            <a:off x="989381" y="4281221"/>
            <a:ext cx="307238" cy="307238"/>
          </a:xfrm>
          <a:prstGeom prst="rect">
            <a:avLst/>
          </a:prstGeom>
        </p:spPr>
      </p:pic>
      <p:sp>
        <p:nvSpPr>
          <p:cNvPr id="17" name="text-388"/>
          <p:cNvSpPr txBox="1"/>
          <p:nvPr/>
        </p:nvSpPr>
        <p:spPr>
          <a:xfrm>
            <a:off x="1691640" y="4160520"/>
            <a:ext cx="4114800" cy="365760"/>
          </a:xfrm>
          <a:prstGeom prst="rect">
            <a:avLst/>
          </a:prstGeom>
          <a:noFill/>
          <a:ln/>
        </p:spPr>
        <p:txBody>
          <a:bodyPr wrap="square" lIns="0" tIns="0" rIns="0" bIns="0" rtlCol="0" anchor="t"/>
          <a:lstStyle/>
          <a:p>
            <a:pPr indent="0" marL="0">
              <a:buNone/>
            </a:pPr>
            <a:r>
              <a:rPr lang="en-US" sz="1800" b="1" dirty="0">
                <a:solidFill>
                  <a:schemeClr val="tx1"/>
                </a:solidFill>
              </a:rPr>
              <a:t>Licences differ per component</a:t>
            </a:r>
            <a:endParaRPr lang="en-US" sz="1800" dirty="0"/>
          </a:p>
        </p:txBody>
      </p:sp>
      <p:sp>
        <p:nvSpPr>
          <p:cNvPr id="18" name="text-389"/>
          <p:cNvSpPr txBox="1"/>
          <p:nvPr/>
        </p:nvSpPr>
        <p:spPr>
          <a:xfrm>
            <a:off x="822960" y="4937760"/>
            <a:ext cx="4937760" cy="914400"/>
          </a:xfrm>
          <a:prstGeom prst="rect">
            <a:avLst/>
          </a:prstGeom>
          <a:noFill/>
          <a:ln/>
        </p:spPr>
        <p:txBody>
          <a:bodyPr wrap="square" lIns="0" tIns="0" rIns="0" bIns="0" rtlCol="0" anchor="t"/>
          <a:lstStyle/>
          <a:p>
            <a:pPr indent="0" marL="0">
              <a:buNone/>
            </a:pPr>
            <a:r>
              <a:rPr lang="en-US" sz="1500" dirty="0">
                <a:solidFill>
                  <a:schemeClr val="tx2"/>
                </a:solidFill>
              </a:rPr>
              <a:t>RadImageNet-based heads are CC-BY-NC-SA 4.0, DINOv3 has its own licence, and several datasets are CC0.</a:t>
            </a:r>
            <a:endParaRPr lang="en-US" sz="1500" dirty="0"/>
          </a:p>
        </p:txBody>
      </p:sp>
      <p:sp>
        <p:nvSpPr>
          <p:cNvPr id="19" name="card-390"/>
          <p:cNvSpPr/>
          <p:nvPr/>
        </p:nvSpPr>
        <p:spPr>
          <a:xfrm>
            <a:off x="6190488" y="3840480"/>
            <a:ext cx="5458968" cy="2103120"/>
          </a:xfrm>
          <a:prstGeom prst="roundRect">
            <a:avLst>
              <a:gd name="adj" fmla="val 5217"/>
            </a:avLst>
          </a:prstGeom>
          <a:solidFill>
            <a:schemeClr val="bg2"/>
          </a:solidFill>
          <a:ln/>
        </p:spPr>
      </p:sp>
      <p:sp>
        <p:nvSpPr>
          <p:cNvPr id="20" name="badge-391"/>
          <p:cNvSpPr/>
          <p:nvPr/>
        </p:nvSpPr>
        <p:spPr>
          <a:xfrm>
            <a:off x="6464808" y="4114800"/>
            <a:ext cx="640080" cy="640080"/>
          </a:xfrm>
          <a:prstGeom prst="ellipse">
            <a:avLst/>
          </a:prstGeom>
          <a:solidFill>
            <a:schemeClr val="accent5"/>
          </a:solidFill>
          <a:ln/>
        </p:spPr>
      </p:sp>
      <p:pic>
        <p:nvPicPr>
          <p:cNvPr id="21" name="icon-392" descr="preencoded.png">    </p:cNvPr>
          <p:cNvPicPr>
            <a:picLocks noChangeAspect="1"/>
          </p:cNvPicPr>
          <p:nvPr/>
        </p:nvPicPr>
        <p:blipFill>
          <a:blip r:embed="rId4"/>
          <a:stretch>
            <a:fillRect/>
          </a:stretch>
        </p:blipFill>
        <p:spPr>
          <a:xfrm>
            <a:off x="6631229" y="4281221"/>
            <a:ext cx="307238" cy="307238"/>
          </a:xfrm>
          <a:prstGeom prst="rect">
            <a:avLst/>
          </a:prstGeom>
        </p:spPr>
      </p:pic>
      <p:sp>
        <p:nvSpPr>
          <p:cNvPr id="22" name="text-393"/>
          <p:cNvSpPr txBox="1"/>
          <p:nvPr/>
        </p:nvSpPr>
        <p:spPr>
          <a:xfrm>
            <a:off x="7333488" y="4160520"/>
            <a:ext cx="4114800" cy="365760"/>
          </a:xfrm>
          <a:prstGeom prst="rect">
            <a:avLst/>
          </a:prstGeom>
          <a:noFill/>
          <a:ln/>
        </p:spPr>
        <p:txBody>
          <a:bodyPr wrap="square" lIns="0" tIns="0" rIns="0" bIns="0" rtlCol="0" anchor="t"/>
          <a:lstStyle/>
          <a:p>
            <a:pPr indent="0" marL="0">
              <a:buNone/>
            </a:pPr>
            <a:r>
              <a:rPr lang="en-US" sz="1800" b="1" dirty="0">
                <a:solidFill>
                  <a:schemeClr val="tx1"/>
                </a:solidFill>
              </a:rPr>
              <a:t>A ranking score, not a probability</a:t>
            </a:r>
            <a:endParaRPr lang="en-US" sz="1800" dirty="0"/>
          </a:p>
        </p:txBody>
      </p:sp>
      <p:sp>
        <p:nvSpPr>
          <p:cNvPr id="23" name="text-394"/>
          <p:cNvSpPr txBox="1"/>
          <p:nvPr/>
        </p:nvSpPr>
        <p:spPr>
          <a:xfrm>
            <a:off x="6464808" y="4937760"/>
            <a:ext cx="4937760" cy="914400"/>
          </a:xfrm>
          <a:prstGeom prst="rect">
            <a:avLst/>
          </a:prstGeom>
          <a:noFill/>
          <a:ln/>
        </p:spPr>
        <p:txBody>
          <a:bodyPr wrap="square" lIns="0" tIns="0" rIns="0" bIns="0" rtlCol="0" anchor="t"/>
          <a:lstStyle/>
          <a:p>
            <a:pPr indent="0" marL="0">
              <a:buNone/>
            </a:pPr>
            <a:r>
              <a:rPr lang="en-US" sz="1500" dirty="0">
                <a:solidFill>
                  <a:schemeClr val="tx2"/>
                </a:solidFill>
              </a:rPr>
              <a:t>Outputs are percentile ranks for AUC, not calibrated probabilities for clinical decisions.</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6"/>
                </a:solidFill>
              </a:rPr>
              <a:t>CONCLUSION</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bg1"/>
                </a:solidFill>
              </a:rPr>
              <a:t>Conclusion and next steps</a:t>
            </a:r>
            <a:endParaRPr lang="en-US" sz="3400" dirty="0"/>
          </a:p>
        </p:txBody>
      </p:sp>
      <p:sp>
        <p:nvSpPr>
          <p:cNvPr id="4" name="card-395"/>
          <p:cNvSpPr/>
          <p:nvPr/>
        </p:nvSpPr>
        <p:spPr>
          <a:xfrm>
            <a:off x="548640" y="1554480"/>
            <a:ext cx="5440680" cy="4526280"/>
          </a:xfrm>
          <a:prstGeom prst="roundRect">
            <a:avLst>
              <a:gd name="adj" fmla="val 2424"/>
            </a:avLst>
          </a:prstGeom>
          <a:solidFill>
            <a:schemeClr val="bg1">
              <a:alpha val="8000"/>
            </a:schemeClr>
          </a:solidFill>
          <a:ln/>
        </p:spPr>
      </p:sp>
      <p:sp>
        <p:nvSpPr>
          <p:cNvPr id="5" name="text-396"/>
          <p:cNvSpPr txBox="1"/>
          <p:nvPr/>
        </p:nvSpPr>
        <p:spPr>
          <a:xfrm>
            <a:off x="868680" y="1783080"/>
            <a:ext cx="475488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WHAT WE SHOWED</a:t>
            </a:r>
            <a:endParaRPr lang="en-US" sz="1100" dirty="0"/>
          </a:p>
        </p:txBody>
      </p:sp>
      <p:sp>
        <p:nvSpPr>
          <p:cNvPr id="6" name="Text 4"/>
          <p:cNvSpPr txBox="1"/>
          <p:nvPr/>
        </p:nvSpPr>
        <p:spPr>
          <a:xfrm>
            <a:off x="868680" y="2194560"/>
            <a:ext cx="4846320" cy="374904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bg1"/>
                </a:solidFill>
              </a:rPr>
              <a:t>A five-stage, three-family ensemble runs reproducibly inside Kaggle's offline two-T4 budget and writes a receipt-bound submission.</a:t>
            </a:r>
            <a:endParaRPr lang="en-US" sz="1600" dirty="0"/>
          </a:p>
          <a:p>
            <a:pPr marL="203200" indent="-203200">
              <a:spcAft>
                <a:spcPts val="1200"/>
              </a:spcAft>
              <a:buSzPct val="100000"/>
              <a:buChar char="•"/>
            </a:pPr>
            <a:r>
              <a:rPr lang="en-US" sz="1600" dirty="0">
                <a:solidFill>
                  <a:schemeClr val="bg1"/>
                </a:solidFill>
              </a:rPr>
              <a:t>Our parent submission scored 0.940 and ABG 0.922; ABG did not beat its parent, a clear negative result we can now investigate.</a:t>
            </a:r>
            <a:endParaRPr lang="en-US" sz="1600" dirty="0"/>
          </a:p>
          <a:p>
            <a:pPr marL="203200" indent="-203200">
              <a:spcAft>
                <a:spcPts val="1200"/>
              </a:spcAft>
              <a:buSzPct val="100000"/>
              <a:buChar char="•"/>
            </a:pPr>
            <a:r>
              <a:rPr lang="en-US" sz="1600" dirty="0">
                <a:solidFill>
                  <a:schemeClr val="bg1"/>
                </a:solidFill>
              </a:rPr>
              <a:t>A synthetic study suggests such additions move the score by thousandths, so the 0.018 gap needs a closer look.</a:t>
            </a:r>
            <a:endParaRPr lang="en-US" sz="1600" dirty="0"/>
          </a:p>
          <a:p>
            <a:pPr marL="203200" indent="-203200">
              <a:spcAft>
                <a:spcPts val="1200"/>
              </a:spcAft>
              <a:buSzPct val="100000"/>
              <a:buChar char="•"/>
            </a:pPr>
            <a:r>
              <a:rPr lang="en-US" sz="1600" dirty="0">
                <a:solidFill>
                  <a:schemeClr val="bg1"/>
                </a:solidFill>
              </a:rPr>
              <a:t>A pre-specified protocol and hard gates kept three weak ideas out of the submission.</a:t>
            </a:r>
            <a:endParaRPr lang="en-US" sz="1600" dirty="0"/>
          </a:p>
        </p:txBody>
      </p:sp>
      <p:sp>
        <p:nvSpPr>
          <p:cNvPr id="7" name="card-397"/>
          <p:cNvSpPr/>
          <p:nvPr/>
        </p:nvSpPr>
        <p:spPr>
          <a:xfrm>
            <a:off x="6199632" y="1554480"/>
            <a:ext cx="5440680" cy="4526280"/>
          </a:xfrm>
          <a:prstGeom prst="roundRect">
            <a:avLst>
              <a:gd name="adj" fmla="val 2424"/>
            </a:avLst>
          </a:prstGeom>
          <a:solidFill>
            <a:schemeClr val="bg1">
              <a:alpha val="8000"/>
            </a:schemeClr>
          </a:solidFill>
          <a:ln/>
        </p:spPr>
      </p:sp>
      <p:sp>
        <p:nvSpPr>
          <p:cNvPr id="8" name="text-398"/>
          <p:cNvSpPr txBox="1"/>
          <p:nvPr/>
        </p:nvSpPr>
        <p:spPr>
          <a:xfrm>
            <a:off x="6519672" y="1783080"/>
            <a:ext cx="4754880"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NEXT STEPS</a:t>
            </a:r>
            <a:endParaRPr lang="en-US" sz="1100" dirty="0"/>
          </a:p>
        </p:txBody>
      </p:sp>
      <p:sp>
        <p:nvSpPr>
          <p:cNvPr id="9" name="letter-399"/>
          <p:cNvSpPr/>
          <p:nvPr/>
        </p:nvSpPr>
        <p:spPr>
          <a:xfrm>
            <a:off x="6519672" y="2194560"/>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400"/>
          <p:cNvSpPr txBox="1"/>
          <p:nvPr/>
        </p:nvSpPr>
        <p:spPr>
          <a:xfrm>
            <a:off x="7040880" y="2176272"/>
            <a:ext cx="4389120" cy="914400"/>
          </a:xfrm>
          <a:prstGeom prst="rect">
            <a:avLst/>
          </a:prstGeom>
          <a:noFill/>
          <a:ln/>
        </p:spPr>
        <p:txBody>
          <a:bodyPr wrap="square" lIns="0" tIns="0" rIns="0" bIns="0" rtlCol="0" anchor="t"/>
          <a:lstStyle/>
          <a:p>
            <a:pPr indent="0" marL="0">
              <a:buNone/>
            </a:pPr>
            <a:r>
              <a:rPr lang="en-US" sz="1500" dirty="0">
                <a:solidFill>
                  <a:schemeClr val="bg1"/>
                </a:solidFill>
              </a:rPr>
              <a:t>Run A, B, G and AB separately on the real test set to attribute the gap to the parent</a:t>
            </a:r>
            <a:endParaRPr lang="en-US" sz="1500" dirty="0"/>
          </a:p>
        </p:txBody>
      </p:sp>
      <p:sp>
        <p:nvSpPr>
          <p:cNvPr id="11" name="letter-401"/>
          <p:cNvSpPr/>
          <p:nvPr/>
        </p:nvSpPr>
        <p:spPr>
          <a:xfrm>
            <a:off x="6519672" y="3172968"/>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402"/>
          <p:cNvSpPr txBox="1"/>
          <p:nvPr/>
        </p:nvSpPr>
        <p:spPr>
          <a:xfrm>
            <a:off x="7040880" y="3154680"/>
            <a:ext cx="4389120" cy="914400"/>
          </a:xfrm>
          <a:prstGeom prst="rect">
            <a:avLst/>
          </a:prstGeom>
          <a:noFill/>
          <a:ln/>
        </p:spPr>
        <p:txBody>
          <a:bodyPr wrap="square" lIns="0" tIns="0" rIns="0" bIns="0" rtlCol="0" anchor="t"/>
          <a:lstStyle/>
          <a:p>
            <a:pPr indent="0" marL="0">
              <a:buNone/>
            </a:pPr>
            <a:r>
              <a:rPr lang="en-US" sz="1500" dirty="0">
                <a:solidFill>
                  <a:schemeClr val="bg1"/>
                </a:solidFill>
              </a:rPr>
              <a:t>Record each graded score against earlier submissions</a:t>
            </a:r>
            <a:endParaRPr lang="en-US" sz="1500" dirty="0"/>
          </a:p>
        </p:txBody>
      </p:sp>
      <p:sp>
        <p:nvSpPr>
          <p:cNvPr id="13" name="letter-403"/>
          <p:cNvSpPr/>
          <p:nvPr/>
        </p:nvSpPr>
        <p:spPr>
          <a:xfrm>
            <a:off x="6519672" y="4151376"/>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404"/>
          <p:cNvSpPr txBox="1"/>
          <p:nvPr/>
        </p:nvSpPr>
        <p:spPr>
          <a:xfrm>
            <a:off x="7040880" y="4133088"/>
            <a:ext cx="4389120" cy="914400"/>
          </a:xfrm>
          <a:prstGeom prst="rect">
            <a:avLst/>
          </a:prstGeom>
          <a:noFill/>
          <a:ln/>
        </p:spPr>
        <p:txBody>
          <a:bodyPr wrap="square" lIns="0" tIns="0" rIns="0" bIns="0" rtlCol="0" anchor="t"/>
          <a:lstStyle/>
          <a:p>
            <a:pPr indent="0" marL="0">
              <a:buNone/>
            </a:pPr>
            <a:r>
              <a:rPr lang="en-US" sz="1500" dirty="0">
                <a:solidFill>
                  <a:schemeClr val="bg1"/>
                </a:solidFill>
              </a:rPr>
              <a:t>Evaluate prospectively: patient-level splits, acceptance criteria set before opening held-out results</a:t>
            </a:r>
            <a:endParaRPr lang="en-US" sz="1500" dirty="0"/>
          </a:p>
        </p:txBody>
      </p:sp>
      <p:sp>
        <p:nvSpPr>
          <p:cNvPr id="15" name="letter-405"/>
          <p:cNvSpPr/>
          <p:nvPr/>
        </p:nvSpPr>
        <p:spPr>
          <a:xfrm>
            <a:off x="6519672" y="5129784"/>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406"/>
          <p:cNvSpPr txBox="1"/>
          <p:nvPr/>
        </p:nvSpPr>
        <p:spPr>
          <a:xfrm>
            <a:off x="7040880" y="5111496"/>
            <a:ext cx="4389120" cy="914400"/>
          </a:xfrm>
          <a:prstGeom prst="rect">
            <a:avLst/>
          </a:prstGeom>
          <a:noFill/>
          <a:ln/>
        </p:spPr>
        <p:txBody>
          <a:bodyPr wrap="square" lIns="0" tIns="0" rIns="0" bIns="0" rtlCol="0" anchor="t"/>
          <a:lstStyle/>
          <a:p>
            <a:pPr indent="0" marL="0">
              <a:buNone/>
            </a:pPr>
            <a:r>
              <a:rPr lang="en-US" sz="1500" dirty="0">
                <a:solidFill>
                  <a:schemeClr val="bg1"/>
                </a:solidFill>
              </a:rPr>
              <a:t>Finalise report and presentation before the competition closes on 22 Oct</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B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CONCLUSION</a:t>
            </a:r>
            <a:endParaRPr lang="en-US" sz="1200" dirty="0"/>
          </a:p>
        </p:txBody>
      </p:sp>
      <p:sp>
        <p:nvSpPr>
          <p:cNvPr id="3" name="Text 0"/>
          <p:cNvSpPr/>
          <p:nvPr>
            <p:ph idx="101" type="title" hasCustomPrompt="1"/>
          </p:nvPr>
        </p:nvSpPr>
        <p:spPr>
          <a:xfrm>
            <a:off x="548640" y="566928"/>
            <a:ext cx="11094415" cy="713232"/>
          </a:xfrm>
          <a:prstGeom prst="rect">
            <a:avLst/>
          </a:prstGeom>
          <a:noFill/>
          <a:ln/>
        </p:spPr>
        <p:txBody>
          <a:bodyPr wrap="square" lIns="0" tIns="0" rIns="0" bIns="0" rtlCol="0" anchor="t"/>
          <a:lstStyle/>
          <a:p>
            <a:pPr algn="l" indent="0" marL="0">
              <a:buNone/>
            </a:pPr>
            <a:r>
              <a:rPr lang="en-US" sz="3400" b="1" dirty="0">
                <a:solidFill>
                  <a:schemeClr val="tx1"/>
                </a:solidFill>
              </a:rPr>
              <a:t>References and acknowledgements</a:t>
            </a:r>
            <a:endParaRPr lang="en-US" sz="3400" dirty="0"/>
          </a:p>
        </p:txBody>
      </p:sp>
      <p:sp>
        <p:nvSpPr>
          <p:cNvPr id="4" name="Text 2"/>
          <p:cNvSpPr txBox="1"/>
          <p:nvPr/>
        </p:nvSpPr>
        <p:spPr>
          <a:xfrm>
            <a:off x="548640" y="1508760"/>
            <a:ext cx="5486400" cy="4754880"/>
          </a:xfrm>
          <a:prstGeom prst="rect">
            <a:avLst/>
          </a:prstGeom>
          <a:noFill/>
          <a:ln/>
        </p:spPr>
        <p:txBody>
          <a:bodyPr wrap="square" lIns="0" tIns="0" rIns="0" bIns="0" rtlCol="0" anchor="t"/>
          <a:lstStyle/>
          <a:p>
            <a:pPr indent="0" marL="0">
              <a:spcBef>
                <a:spcPts val="600"/>
              </a:spcBef>
              <a:spcAft>
                <a:spcPts val="300"/>
              </a:spcAft>
              <a:buNone/>
            </a:pPr>
            <a:r>
              <a:rPr lang="en-US" sz="1400" b="1" dirty="0">
                <a:solidFill>
                  <a:schemeClr val="tx2"/>
                </a:solidFill>
              </a:rPr>
              <a:t>Challenge and data</a:t>
            </a:r>
            <a:endParaRPr lang="en-US" sz="1400" dirty="0"/>
          </a:p>
          <a:p>
            <a:pPr indent="0" marL="0">
              <a:spcAft>
                <a:spcPts val="500"/>
              </a:spcAft>
              <a:buNone/>
            </a:pPr>
            <a:r>
              <a:rPr lang="en-US" sz="1400" dirty="0">
                <a:solidFill>
                  <a:schemeClr val="tx2"/>
                </a:solidFill>
              </a:rPr>
              <a:t>RSNA Knee Abnormality Detection AI Challenge (2026). rsna.org/artificial-intelligence/ai-image-challenge/knee-mri-ai-challenge</a:t>
            </a:r>
            <a:endParaRPr lang="en-US" sz="1400" dirty="0"/>
          </a:p>
          <a:p>
            <a:pPr indent="0" marL="0">
              <a:spcAft>
                <a:spcPts val="500"/>
              </a:spcAft>
              <a:buNone/>
            </a:pPr>
            <a:r>
              <a:rPr lang="en-US" sz="1400" dirty="0">
                <a:solidFill>
                  <a:schemeClr val="tx2"/>
                </a:solidFill>
              </a:rPr>
              <a:t>Kaggle competition: kaggle.com/competitions/rsna-knee-abnormality-detection</a:t>
            </a:r>
            <a:endParaRPr lang="en-US" sz="1400" dirty="0"/>
          </a:p>
          <a:p>
            <a:pPr indent="0" marL="0">
              <a:spcAft>
                <a:spcPts val="500"/>
              </a:spcAft>
              <a:buNone/>
            </a:pPr>
            <a:r>
              <a:rPr lang="en-US" sz="1400" dirty="0">
                <a:solidFill>
                  <a:schemeClr val="tx2"/>
                </a:solidFill>
              </a:rPr>
              <a:t>RSNA News, “RSNA Launches Knee Abnormality Detection AI Challenge”, 5 Aug 2026</a:t>
            </a:r>
            <a:pPr indent="0" marL="0">
              <a:buNone/>
            </a:pPr>
            <a:endParaRPr lang="en-US" sz="1400" dirty="0"/>
          </a:p>
          <a:p>
            <a:pPr indent="0" marL="0">
              <a:spcBef>
                <a:spcPts val="600"/>
              </a:spcBef>
              <a:spcAft>
                <a:spcPts val="300"/>
              </a:spcAft>
              <a:buNone/>
            </a:pPr>
            <a:r>
              <a:rPr lang="en-US" sz="1400" b="1" dirty="0">
                <a:solidFill>
                  <a:schemeClr val="tx2"/>
                </a:solidFill>
              </a:rPr>
              <a:t>Models and methods</a:t>
            </a:r>
            <a:endParaRPr lang="en-US" sz="1400" dirty="0"/>
          </a:p>
          <a:p>
            <a:pPr indent="0" marL="0">
              <a:spcAft>
                <a:spcPts val="500"/>
              </a:spcAft>
              <a:buNone/>
            </a:pPr>
            <a:r>
              <a:rPr lang="en-US" sz="1400" dirty="0">
                <a:solidFill>
                  <a:schemeClr val="tx2"/>
                </a:solidFill>
              </a:rPr>
              <a:t>Siméoni et al., DINOv3, Meta AI, 2025 (arXiv:2508.10104)</a:t>
            </a:r>
            <a:endParaRPr lang="en-US" sz="1400" dirty="0"/>
          </a:p>
          <a:p>
            <a:pPr indent="0" marL="0">
              <a:spcAft>
                <a:spcPts val="500"/>
              </a:spcAft>
              <a:buNone/>
            </a:pPr>
            <a:r>
              <a:rPr lang="en-US" sz="1400" dirty="0">
                <a:solidFill>
                  <a:schemeClr val="tx2"/>
                </a:solidFill>
              </a:rPr>
              <a:t>Oquab et al., DINOv2, 2023 (arXiv:2304.07193)</a:t>
            </a:r>
            <a:endParaRPr lang="en-US" sz="1400" dirty="0"/>
          </a:p>
          <a:p>
            <a:pPr indent="0" marL="0">
              <a:spcAft>
                <a:spcPts val="500"/>
              </a:spcAft>
              <a:buNone/>
            </a:pPr>
            <a:r>
              <a:rPr lang="en-US" sz="1400" dirty="0">
                <a:solidFill>
                  <a:schemeClr val="tx2"/>
                </a:solidFill>
              </a:rPr>
              <a:t>Dosovitskiy et al., An Image is Worth 16×16 Words (ViT), ICLR 2021</a:t>
            </a:r>
            <a:endParaRPr lang="en-US" sz="1400" dirty="0"/>
          </a:p>
          <a:p>
            <a:pPr indent="0" marL="0">
              <a:spcAft>
                <a:spcPts val="500"/>
              </a:spcAft>
              <a:buNone/>
            </a:pPr>
            <a:r>
              <a:rPr lang="en-US" sz="1400" dirty="0">
                <a:solidFill>
                  <a:schemeClr val="tx2"/>
                </a:solidFill>
              </a:rPr>
              <a:t>Dai et al., CoAtNet, NeurIPS 2021</a:t>
            </a:r>
            <a:endParaRPr lang="en-US" sz="1400" dirty="0"/>
          </a:p>
          <a:p>
            <a:pPr indent="0" marL="0">
              <a:spcAft>
                <a:spcPts val="500"/>
              </a:spcAft>
              <a:buNone/>
            </a:pPr>
            <a:r>
              <a:rPr lang="en-US" sz="1400" dirty="0">
                <a:solidFill>
                  <a:schemeClr val="tx2"/>
                </a:solidFill>
              </a:rPr>
              <a:t>Mei et al., RadImageNet, Radiology: Artificial Intelligence, 2022</a:t>
            </a:r>
            <a:endParaRPr lang="en-US" sz="1400" dirty="0"/>
          </a:p>
          <a:p>
            <a:pPr indent="0" marL="0">
              <a:spcAft>
                <a:spcPts val="500"/>
              </a:spcAft>
              <a:buNone/>
            </a:pPr>
            <a:r>
              <a:rPr lang="en-US" sz="1400" dirty="0">
                <a:solidFill>
                  <a:schemeClr val="tx2"/>
                </a:solidFill>
              </a:rPr>
              <a:t>He et al., Deep Residual Learning for Image Recognition, CVPR 2016</a:t>
            </a:r>
            <a:endParaRPr lang="en-US" sz="1400" dirty="0"/>
          </a:p>
        </p:txBody>
      </p:sp>
      <p:sp>
        <p:nvSpPr>
          <p:cNvPr id="5" name="Text 3"/>
          <p:cNvSpPr txBox="1"/>
          <p:nvPr/>
        </p:nvSpPr>
        <p:spPr>
          <a:xfrm>
            <a:off x="6309360" y="1508760"/>
            <a:ext cx="5330952" cy="4754880"/>
          </a:xfrm>
          <a:prstGeom prst="rect">
            <a:avLst/>
          </a:prstGeom>
          <a:noFill/>
          <a:ln/>
        </p:spPr>
        <p:txBody>
          <a:bodyPr wrap="square" lIns="0" tIns="0" rIns="0" bIns="0" rtlCol="0" anchor="t"/>
          <a:lstStyle/>
          <a:p>
            <a:pPr indent="0" marL="0">
              <a:spcBef>
                <a:spcPts val="600"/>
              </a:spcBef>
              <a:spcAft>
                <a:spcPts val="300"/>
              </a:spcAft>
              <a:buNone/>
            </a:pPr>
            <a:r>
              <a:rPr lang="en-US" sz="1400" b="1" dirty="0">
                <a:solidFill>
                  <a:schemeClr val="tx2"/>
                </a:solidFill>
              </a:rPr>
              <a:t>Released components used (Kaggle)</a:t>
            </a:r>
            <a:endParaRPr lang="en-US" sz="1400" dirty="0"/>
          </a:p>
          <a:p>
            <a:pPr indent="0" marL="0">
              <a:spcAft>
                <a:spcPts val="500"/>
              </a:spcAft>
              <a:buNone/>
            </a:pPr>
            <a:r>
              <a:rPr lang="en-US" sz="1400" dirty="0">
                <a:solidFill>
                  <a:schemeClr val="tx2"/>
                </a:solidFill>
              </a:rPr>
              <a:t>Mattia Angeli: V27 notebook, A5 fold weights, residual CoAtNet</a:t>
            </a:r>
            <a:endParaRPr lang="en-US" sz="1400" dirty="0"/>
          </a:p>
          <a:p>
            <a:pPr indent="0" marL="0">
              <a:spcAft>
                <a:spcPts val="500"/>
              </a:spcAft>
              <a:buNone/>
            </a:pPr>
            <a:r>
              <a:rPr lang="en-US" sz="1400" dirty="0">
                <a:solidFill>
                  <a:schemeClr val="tx2"/>
                </a:solidFill>
              </a:rPr>
              <a:t>pilkwang: DINO MRI ensemble weights</a:t>
            </a:r>
            <a:endParaRPr lang="en-US" sz="1400" dirty="0"/>
          </a:p>
          <a:p>
            <a:pPr indent="0" marL="0">
              <a:spcAft>
                <a:spcPts val="500"/>
              </a:spcAft>
              <a:buNone/>
            </a:pPr>
            <a:r>
              <a:rPr lang="en-US" sz="1400" dirty="0">
                <a:solidFill>
                  <a:schemeClr val="tx2"/>
                </a:solidFill>
              </a:rPr>
              <a:t>Johnathan Wagner / DreadDevelopment: Raptor CoAtNet</a:t>
            </a:r>
            <a:endParaRPr lang="en-US" sz="1400" dirty="0"/>
          </a:p>
          <a:p>
            <a:pPr indent="0" marL="0">
              <a:spcAft>
                <a:spcPts val="500"/>
              </a:spcAft>
              <a:buNone/>
            </a:pPr>
            <a:r>
              <a:rPr lang="en-US" sz="1400" dirty="0">
                <a:solidFill>
                  <a:schemeClr val="tx2"/>
                </a:solidFill>
              </a:rPr>
              <a:t>Antoine (antoinegg1): reference Rad heads, E11 v20 heads</a:t>
            </a:r>
            <a:endParaRPr lang="en-US" sz="1400" dirty="0"/>
          </a:p>
          <a:p>
            <a:pPr indent="0" marL="0">
              <a:spcAft>
                <a:spcPts val="500"/>
              </a:spcAft>
              <a:buNone/>
            </a:pPr>
            <a:r>
              <a:rPr lang="en-US" sz="1400" dirty="0">
                <a:solidFill>
                  <a:schemeClr val="tx2"/>
                </a:solidFill>
              </a:rPr>
              <a:t>Sofia Anjenje: E11 / E13 implementations</a:t>
            </a:r>
            <a:endParaRPr lang="en-US" sz="1400" dirty="0"/>
          </a:p>
          <a:p>
            <a:pPr indent="0" marL="0">
              <a:spcAft>
                <a:spcPts val="500"/>
              </a:spcAft>
              <a:buNone/>
            </a:pPr>
            <a:r>
              <a:rPr lang="en-US" sz="1400" dirty="0">
                <a:solidFill>
                  <a:schemeClr val="tx2"/>
                </a:solidFill>
              </a:rPr>
              <a:t>Marwan: RadImageNet ResNet-50 mirror</a:t>
            </a:r>
            <a:endParaRPr lang="en-US" sz="1400" dirty="0"/>
          </a:p>
          <a:p>
            <a:pPr indent="0" marL="0">
              <a:spcAft>
                <a:spcPts val="500"/>
              </a:spcAft>
              <a:buNone/>
            </a:pPr>
            <a:r>
              <a:rPr lang="en-US" sz="1400" dirty="0">
                <a:solidFill>
                  <a:schemeClr val="tx2"/>
                </a:solidFill>
              </a:rPr>
              <a:t>Bee V17 notebook lineage: parent submission, public score 0.940</a:t>
            </a:r>
            <a:endParaRPr lang="en-US" sz="1400" dirty="0"/>
          </a:p>
          <a:p>
            <a:pPr indent="0" marL="0">
              <a:spcAft>
                <a:spcPts val="500"/>
              </a:spcAft>
              <a:buNone/>
            </a:pPr>
            <a:r>
              <a:rPr lang="en-US" sz="1400" dirty="0">
                <a:solidFill>
                  <a:schemeClr val="tx2"/>
                </a:solidFill>
              </a:rPr>
              <a:t>Mechanism study: simulation/fusion_simulation.py in the project repository</a:t>
            </a:r>
            <a:pPr indent="0" marL="0">
              <a:buNone/>
            </a:pPr>
            <a:endParaRPr lang="en-US" sz="1400" dirty="0"/>
          </a:p>
          <a:p>
            <a:pPr indent="0" marL="0">
              <a:spcBef>
                <a:spcPts val="600"/>
              </a:spcBef>
              <a:spcAft>
                <a:spcPts val="300"/>
              </a:spcAft>
              <a:buNone/>
            </a:pPr>
            <a:r>
              <a:rPr lang="en-US" sz="1400" b="1" dirty="0">
                <a:solidFill>
                  <a:schemeClr val="tx2"/>
                </a:solidFill>
              </a:rPr>
              <a:t>Licences</a:t>
            </a:r>
            <a:endParaRPr lang="en-US" sz="1400" dirty="0"/>
          </a:p>
          <a:p>
            <a:pPr indent="0" marL="0">
              <a:spcAft>
                <a:spcPts val="500"/>
              </a:spcAft>
              <a:buNone/>
            </a:pPr>
            <a:r>
              <a:rPr lang="en-US" sz="1400" dirty="0">
                <a:solidFill>
                  <a:schemeClr val="tx2"/>
                </a:solidFill>
              </a:rPr>
              <a:t>Apache 2.0 notebook code; CC0 datasets; RadImageNet-based heads CC-BY-NC-SA 4.0; DINOv3 License (Meta)</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858000" cy="320040"/>
          </a:xfrm>
          <a:prstGeom prst="rect">
            <a:avLst/>
          </a:prstGeom>
          <a:noFill/>
          <a:ln/>
        </p:spPr>
        <p:txBody>
          <a:bodyPr wrap="square" lIns="0" tIns="0" rIns="0" bIns="0" rtlCol="0" anchor="t"/>
          <a:lstStyle/>
          <a:p>
            <a:pPr algn="l" indent="0" marL="0">
              <a:buNone/>
            </a:pPr>
            <a:r>
              <a:rPr lang="en-US" sz="1300" b="1" spc="400" kern="0" dirty="0">
                <a:solidFill>
                  <a:schemeClr val="accent6"/>
                </a:solidFill>
              </a:rPr>
              <a:t>QUESTIONS</a:t>
            </a:r>
            <a:endParaRPr lang="en-US" sz="1300" dirty="0"/>
          </a:p>
        </p:txBody>
      </p:sp>
      <p:sp>
        <p:nvSpPr>
          <p:cNvPr id="3" name="Text 0"/>
          <p:cNvSpPr/>
          <p:nvPr>
            <p:ph idx="101" type="title" hasCustomPrompt="1"/>
          </p:nvPr>
        </p:nvSpPr>
        <p:spPr>
          <a:xfrm>
            <a:off x="731520" y="1828800"/>
            <a:ext cx="6766560" cy="2148840"/>
          </a:xfrm>
          <a:prstGeom prst="rect">
            <a:avLst/>
          </a:prstGeom>
          <a:noFill/>
          <a:ln/>
        </p:spPr>
        <p:txBody>
          <a:bodyPr wrap="square" lIns="0" tIns="0" rIns="0" bIns="0" rtlCol="0" anchor="t"/>
          <a:lstStyle/>
          <a:p>
            <a:pPr algn="l" indent="0" marL="0">
              <a:buNone/>
            </a:pPr>
            <a:r>
              <a:rPr lang="en-US" sz="3800" b="1" dirty="0">
                <a:solidFill>
                  <a:schemeClr val="bg1"/>
                </a:solidFill>
              </a:rPr>
              <a:t>Thank you</a:t>
            </a:r>
            <a:endParaRPr lang="en-US" sz="3800" dirty="0"/>
          </a:p>
        </p:txBody>
      </p:sp>
      <p:sp>
        <p:nvSpPr>
          <p:cNvPr id="4" name="Text 2"/>
          <p:cNvSpPr txBox="1"/>
          <p:nvPr/>
        </p:nvSpPr>
        <p:spPr>
          <a:xfrm>
            <a:off x="731520" y="2743200"/>
            <a:ext cx="6583680" cy="731520"/>
          </a:xfrm>
          <a:prstGeom prst="rect">
            <a:avLst/>
          </a:prstGeom>
          <a:noFill/>
          <a:ln/>
        </p:spPr>
        <p:txBody>
          <a:bodyPr wrap="square" lIns="0" tIns="0" rIns="0" bIns="0" rtlCol="0" anchor="t"/>
          <a:lstStyle/>
          <a:p>
            <a:pPr algn="l" indent="0" marL="0">
              <a:buNone/>
            </a:pPr>
            <a:r>
              <a:rPr lang="en-US" sz="1800" dirty="0">
                <a:solidFill>
                  <a:srgbClr val="C9D5DF"/>
                </a:solidFill>
              </a:rPr>
              <a:t>Auditable multi-model ensemble for knee MRI abnormality detection</a:t>
            </a:r>
            <a:endParaRPr lang="en-US" sz="1800" dirty="0"/>
          </a:p>
        </p:txBody>
      </p:sp>
      <p:pic>
        <p:nvPicPr>
          <p:cNvPr id="5" name="knee-mri-end" descr="/tmp/claude-0/-home-user-Sarth/bc9fc83b-5380-50be-aad5-da6697a90d9e/scratchpad/assets/knee_mri_round.png">    </p:cNvPr>
          <p:cNvPicPr>
            <a:picLocks noChangeAspect="1"/>
          </p:cNvPicPr>
          <p:nvPr/>
        </p:nvPicPr>
        <p:blipFill>
          <a:blip r:embed="rId1"/>
          <a:stretch>
            <a:fillRect/>
          </a:stretch>
        </p:blipFill>
        <p:spPr>
          <a:xfrm>
            <a:off x="8092440" y="1325880"/>
            <a:ext cx="3429000" cy="3520440"/>
          </a:xfrm>
          <a:prstGeom prst="rect">
            <a:avLst/>
          </a:prstGeom>
        </p:spPr>
      </p:pic>
      <p:sp>
        <p:nvSpPr>
          <p:cNvPr id="6" name="Text 0"/>
          <p:cNvSpPr/>
          <p:nvPr>
            <p:ph idx="102" type="body" hasCustomPrompt="1"/>
          </p:nvPr>
        </p:nvSpPr>
        <p:spPr>
          <a:xfrm>
            <a:off x="731520" y="4160520"/>
            <a:ext cx="6583680" cy="109728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Knee MRI Ink">
  <a:themeElements>
    <a:clrScheme name="Knee MRI Ink">
      <a:dk1>
        <a:srgbClr val="111A24"/>
      </a:dk1>
      <a:lt1>
        <a:srgbClr val="FFFFFF"/>
      </a:lt1>
      <a:dk2>
        <a:srgbClr val="24384A"/>
      </a:dk2>
      <a:lt2>
        <a:srgbClr val="EEF2F4"/>
      </a:lt2>
      <a:accent1>
        <a:srgbClr val="15857B"/>
      </a:accent1>
      <a:accent2>
        <a:srgbClr val="E8A33D"/>
      </a:accent2>
      <a:accent3>
        <a:srgbClr val="C8403F"/>
      </a:accent3>
      <a:accent4>
        <a:srgbClr val="6D5BD0"/>
      </a:accent4>
      <a:accent5>
        <a:srgbClr val="5B6B7A"/>
      </a:accent5>
      <a:accent6>
        <a:srgbClr val="9AD7CF"/>
      </a:accent6>
      <a:hlink>
        <a:srgbClr val="15857B"/>
      </a:hlink>
      <a:folHlink>
        <a:srgbClr val="5B6B7A"/>
      </a:folHlink>
    </a:clrScheme>
    <a:fontScheme name="Knee MRI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Auditable Multi-Model Ensemble for Knee MRI Abnormality Detection</dc:title>
  <dc:subject>RSNA 2026 Knee Abnormality Detection AI Challenge – major project mid-semester evaluation</dc:subject>
  <dc:creator>PptxGenJS</dc:creator>
  <cp:lastModifiedBy>PptxGenJS</cp:lastModifiedBy>
  <cp:revision>1</cp:revision>
  <dcterms:created xsi:type="dcterms:W3CDTF">2026-10-07T15:31:52Z</dcterms:created>
  <dcterms:modified xsi:type="dcterms:W3CDTF">2026-10-07T15:31:52Z</dcterms:modified>
</cp:coreProperties>
</file>